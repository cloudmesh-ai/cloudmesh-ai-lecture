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c6ff267962479e" /><Relationship Type="http://schemas.openxmlformats.org/officeDocument/2006/relationships/extended-properties" Target="/docProps/app.xml" Id="Rd3c406440a484cac" /><Relationship Type="http://schemas.openxmlformats.org/officeDocument/2006/relationships/officeDocument" Target="/ppt/presentation.xml" Id="R496b8273e9964e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821dc1865d4e94"/>
  </p:sldMasterIdLst>
  <p:notesMasterIdLst>
    <p:notesMasterId xmlns:r="http://schemas.openxmlformats.org/officeDocument/2006/relationships" r:id="Rd1495faacf304c84"/>
  </p:notesMasterIdLst>
  <p:sldIdLst>
    <p:sldId xmlns:r="http://schemas.openxmlformats.org/officeDocument/2006/relationships" id="256" r:id="R20566ab2bf85490a"/>
    <p:sldId xmlns:r="http://schemas.openxmlformats.org/officeDocument/2006/relationships" id="257" r:id="R0245d1c3f20c4875"/>
    <p:sldId xmlns:r="http://schemas.openxmlformats.org/officeDocument/2006/relationships" id="258" r:id="R9012db82e98f43e5"/>
    <p:sldId xmlns:r="http://schemas.openxmlformats.org/officeDocument/2006/relationships" id="259" r:id="Rb752cce4dae940d8"/>
    <p:sldId xmlns:r="http://schemas.openxmlformats.org/officeDocument/2006/relationships" id="260" r:id="R3ff1bc51ae604879"/>
    <p:sldId xmlns:r="http://schemas.openxmlformats.org/officeDocument/2006/relationships" id="261" r:id="R8b337a9debb645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e95b32103f42ae" /><Relationship Type="http://schemas.openxmlformats.org/officeDocument/2006/relationships/slideMaster" Target="/ppt/slideMasters/slideMaster1.xml" Id="Rf5821dc1865d4e94" /><Relationship Type="http://schemas.openxmlformats.org/officeDocument/2006/relationships/notesMaster" Target="/ppt/notesMasters/notesMaster1.xml" Id="Rd1495faacf304c84" /><Relationship Type="http://schemas.openxmlformats.org/officeDocument/2006/relationships/presProps" Target="/ppt/presProps.xml" Id="R70b8e22d52394ca6" /><Relationship Type="http://schemas.openxmlformats.org/officeDocument/2006/relationships/tableStyles" Target="/ppt/tableStyles.xml" Id="R332ae3c0a6d44064" /><Relationship Type="http://schemas.openxmlformats.org/officeDocument/2006/relationships/slide" Target="/ppt/slides/slide1.xml" Id="R20566ab2bf85490a" /><Relationship Type="http://schemas.openxmlformats.org/officeDocument/2006/relationships/slide" Target="/ppt/slides/slide2.xml" Id="R0245d1c3f20c4875" /><Relationship Type="http://schemas.openxmlformats.org/officeDocument/2006/relationships/slide" Target="/ppt/slides/slide3.xml" Id="R9012db82e98f43e5" /><Relationship Type="http://schemas.openxmlformats.org/officeDocument/2006/relationships/slide" Target="/ppt/slides/slide4.xml" Id="Rb752cce4dae940d8" /><Relationship Type="http://schemas.openxmlformats.org/officeDocument/2006/relationships/slide" Target="/ppt/slides/slide5.xml" Id="R3ff1bc51ae604879" /><Relationship Type="http://schemas.openxmlformats.org/officeDocument/2006/relationships/slide" Target="/ppt/slides/slide6.xml" Id="R8b337a9debb645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3cc013a8024a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5f417ecd8148b7" /><Relationship Type="http://schemas.openxmlformats.org/officeDocument/2006/relationships/notesMaster" Target="/ppt/notesMasters/notesMaster1.xml" Id="R5944cbd7d0f64d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3084ddb2f840ae" /><Relationship Type="http://schemas.openxmlformats.org/officeDocument/2006/relationships/notesMaster" Target="/ppt/notesMasters/notesMaster1.xml" Id="Rf1eea5a3b5b448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cadafefa2b4cc1" /><Relationship Type="http://schemas.openxmlformats.org/officeDocument/2006/relationships/notesMaster" Target="/ppt/notesMasters/notesMaster1.xml" Id="R607943063e1e4f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0a144f813744fe" /><Relationship Type="http://schemas.openxmlformats.org/officeDocument/2006/relationships/notesMaster" Target="/ppt/notesMasters/notesMaster1.xml" Id="Radbaf649d2614c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2261c55ada4192" /><Relationship Type="http://schemas.openxmlformats.org/officeDocument/2006/relationships/notesMaster" Target="/ppt/notesMasters/notesMaster1.xml" Id="R31b2b1162a7742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d72ce3bf434d16" /><Relationship Type="http://schemas.openxmlformats.org/officeDocument/2006/relationships/notesMaster" Target="/ppt/notesMasters/notesMaster1.xml" Id="R049f063816ca47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206b7b9e044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54f0d703aa44b5" /><Relationship Type="http://schemas.openxmlformats.org/officeDocument/2006/relationships/slideLayout" Target="/ppt/slideLayouts/slideLayout1.xml" Id="Rd1ce45230a1840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ce45230a1840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be2e4a8ac4ad9" /><Relationship Type="http://schemas.openxmlformats.org/officeDocument/2006/relationships/notesSlide" Target="/ppt/notesSlides/notesSlide1.xml" Id="Rb497ae555bc946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da54ebacb4ba8" /><Relationship Type="http://schemas.openxmlformats.org/officeDocument/2006/relationships/notesSlide" Target="/ppt/notesSlides/notesSlide2.xml" Id="R39a24fa334fa4d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63b99fc4a4677" /><Relationship Type="http://schemas.openxmlformats.org/officeDocument/2006/relationships/notesSlide" Target="/ppt/notesSlides/notesSlide3.xml" Id="Rf5c530cd397346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4581190f04f05" /><Relationship Type="http://schemas.openxmlformats.org/officeDocument/2006/relationships/notesSlide" Target="/ppt/notesSlides/notesSlide4.xml" Id="Reb6aeb6a516947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c980d4c684fed" /><Relationship Type="http://schemas.openxmlformats.org/officeDocument/2006/relationships/notesSlide" Target="/ppt/notesSlides/notesSlide5.xml" Id="Ra30caadf0dc44f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66876c2344eee" /><Relationship Type="http://schemas.openxmlformats.org/officeDocument/2006/relationships/notesSlide" Target="/ppt/notesSlides/notesSlide6.xml" Id="Raa575d5ca87b47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9D4EA-9BC8-46B8-9410-C91AAA5F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143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69D06-6755-4AED-95EF-648E0A99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7429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3B6D"/>
                </a:solidFill>
              </a:defRPr>
            </a:pPr>
            <a:r>
              <a:rPr sz="4200" b="1">
                <a:solidFill>
                  <a:srgbClr val="123B6D"/>
                </a:solidFill>
              </a:rPr>
              <a:t>Cloud Computing,</a:t>
            </a:r>
          </a:p>
          <a:p xmlns:a="http://schemas.openxmlformats.org/drawingml/2006/main">
            <a:pPr>
              <a:defRPr sz="4200" b="1">
                <a:solidFill>
                  <a:srgbClr val="123B6D"/>
                </a:solidFill>
              </a:defRPr>
            </a:pPr>
            <a:r>
              <a:rPr sz="4200" b="1">
                <a:solidFill>
                  <a:srgbClr val="123B6D"/>
                </a:solidFill>
              </a:rPr>
              <a:t>DevOps &amp;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37971-EED5-4515-BA95-C8F58882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06D"/>
                </a:solidFill>
              </a:defRPr>
            </a:pPr>
            <a:r>
              <a:rPr sz="2100">
                <a:solidFill>
                  <a:srgbClr val="52606D"/>
                </a:solidFill>
              </a:rPr>
              <a:t>Course syllabus and learning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01B7E-1F5A-42A9-BDC6-F93A14F5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699C"/>
                </a:solidFill>
              </a:defRPr>
            </a:pPr>
            <a:r>
              <a:rPr sz="1350" b="1">
                <a:solidFill>
                  <a:srgbClr val="38699C"/>
                </a:solidFill>
              </a:rPr>
              <a:t>Lecture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0E5D9-468D-4197-9EC3-8017C228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00100"/>
            <a:ext cx="1885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210E2-F0B1-454F-8C85-6AACD795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200150"/>
            <a:ext cx="1162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23B6D"/>
                </a:solidFill>
              </a:defRPr>
            </a:pPr>
            <a:r>
              <a:rPr sz="4800" b="1">
                <a:solidFill>
                  <a:srgbClr val="123B6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E4C7E-B8F0-4B3D-BAFC-45A77136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8699C"/>
                </a:solidFill>
              </a:defRPr>
            </a:pPr>
            <a:r>
              <a:rPr sz="1050" b="1">
                <a:solidFill>
                  <a:srgbClr val="38699C"/>
                </a:solidFill>
              </a:rPr>
              <a:t>START HERE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D54DA-0E42-4C75-AE1F-1C5B270D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B"/>
                </a:solidFill>
              </a:defRPr>
            </a:pPr>
            <a:r>
              <a:rPr sz="1575">
                <a:solidFill>
                  <a:srgbClr val="17212B"/>
                </a:solidFill>
              </a:rPr>
              <a:t>A practical foundation for building, shipping, and operating intelligent cloud systems.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D5A68-C43D-4F4A-8A79-C4D71E6E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</p:spTree>
    <p:extLst>
      <p:ext uri="{BB962C8B-B14F-4D97-AF65-F5344CB8AC3E}">
        <p14:creationId xmlns:p14="http://schemas.microsoft.com/office/powerpoint/2010/main" val="10263943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2448C-63D3-442F-9C91-37C534B2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Why these three disciplines belong together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752D0-07F7-4C75-BA7C-18B41EBA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C15E2-5907-4076-A74D-F3667391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Computing, DevOps &amp;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8F285-78EA-4E9F-9CB2-096A84FD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AF7CA-44F2-4156-92CE-ABD978A9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5565A-35F8-4687-9C4D-D6B5E024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06D"/>
                </a:solidFill>
              </a:defRPr>
            </a:pPr>
            <a:r>
              <a:rPr sz="2100">
                <a:solidFill>
                  <a:srgbClr val="52606D"/>
                </a:solidFill>
              </a:rPr>
              <a:t>Modern digital products need scalable platforms, reliable delivery, and intelligent capabilities.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61E89-A2CF-4561-A74D-E1B36C73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23EB3-2297-455F-A007-8E748E46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8699C"/>
                </a:solidFill>
              </a:defRPr>
            </a:pPr>
            <a:r>
              <a:rPr sz="1200" b="1">
                <a:solidFill>
                  <a:srgbClr val="38699C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8E54A-E0D5-4AB9-9D36-636A3DCD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B6D"/>
                </a:solidFill>
              </a:defRPr>
            </a:pPr>
            <a:r>
              <a:rPr sz="2250" b="1">
                <a:solidFill>
                  <a:srgbClr val="123B6D"/>
                </a:solidFill>
              </a:rPr>
              <a:t>Cloud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5DF4B-0FA5-48BB-B995-4A0E7F9A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251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Compute, storage, networking, and managed services.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29F3A-64AD-455C-9899-72AC3548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EC413-9093-44F8-AEF6-6044FC58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8699C"/>
                </a:solidFill>
              </a:defRPr>
            </a:pPr>
            <a:r>
              <a:rPr sz="1200" b="1">
                <a:solidFill>
                  <a:srgbClr val="38699C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E7666-F211-4BA1-9194-72AA9028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B6D"/>
                </a:solidFill>
              </a:defRPr>
            </a:pPr>
            <a:r>
              <a:rPr sz="2250" b="1">
                <a:solidFill>
                  <a:srgbClr val="123B6D"/>
                </a:solidFill>
              </a:rPr>
              <a:t>DevOps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59FB3-916C-485D-8D63-86AFAF0E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62375"/>
            <a:ext cx="251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Automation, collaboration, deployment, and observability.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6394C-C811-45C1-89C2-D3A09EDF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E38B6-1415-40F5-8BF4-A6EBC60B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8699C"/>
                </a:solidFill>
              </a:defRPr>
            </a:pPr>
            <a:r>
              <a:rPr sz="1200" b="1">
                <a:solidFill>
                  <a:srgbClr val="38699C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1CCE7-8F07-40AF-82BA-889BDB23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B6D"/>
                </a:solidFill>
              </a:defRPr>
            </a:pPr>
            <a:r>
              <a:rPr sz="2250" b="1">
                <a:solidFill>
                  <a:srgbClr val="123B6D"/>
                </a:solidFill>
              </a:rPr>
              <a:t>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BA3CF-B56B-48B2-B5CD-4EA6E13E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62375"/>
            <a:ext cx="251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Data-driven models and responsible intelligent features.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0EAAD-DE98-4C76-867D-3DE67F4E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B6D"/>
                </a:solidFill>
              </a:defRPr>
            </a:pPr>
            <a:r>
              <a:rPr sz="1725" b="1">
                <a:solidFill>
                  <a:srgbClr val="123B6D"/>
                </a:solidFill>
              </a:rPr>
              <a:t>The course connects these skills through a shared, hands-on project mindset.</a:t>
            </a:r>
          </a:p>
        </p:txBody>
      </p:sp>
    </p:spTree>
    <p:extLst>
      <p:ext uri="{BB962C8B-B14F-4D97-AF65-F5344CB8AC3E}">
        <p14:creationId xmlns:p14="http://schemas.microsoft.com/office/powerpoint/2010/main" val="411156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A8CBE-177C-4D08-B390-EAE7879C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By the end of the course, you will be able to…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AD93E-F4D3-4BB1-B6FF-72CF1EE5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691A3-4182-4234-B597-09EFC7C6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Computing, DevOps &amp;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C6AA9-1821-49D3-9825-04477E34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E9995-4592-4654-AFC2-7D5754A7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3757D-20FB-42C0-8D1B-7915D6C7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C614E-C03B-4564-8096-79F412D2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Explain core cloud concepts and choose suitable service models.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6A2F2-DE40-4D9F-B323-5DB297F5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FA9CC-BBB7-4F86-AC42-94DC41CA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Use DevOps practices to build, test, release, and monitor software.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532C3-425C-448B-85BD-8216B9B6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FA652-1764-4103-898D-838676B0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Recognize where AI adds value—and the responsibilities that come with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544FA-83EC-406E-A09C-2183C33D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1C873-7707-4BE8-B226-C157C7B7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Connect technical choices to reliability, security, cost, and user impact.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D0BA4-8DA3-4768-B0CA-2DC02876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83BB7-E01B-4D94-85ED-ABDFCA82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910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B6D"/>
                </a:solidFill>
              </a:defRPr>
            </a:pPr>
            <a:r>
              <a:rPr sz="1950" b="1">
                <a:solidFill>
                  <a:srgbClr val="123B6D"/>
                </a:solidFill>
              </a:rPr>
              <a:t>Our goal is practical fluency: enough depth to make sound decisions and build with confidence.</a:t>
            </a:r>
          </a:p>
        </p:txBody>
      </p:sp>
    </p:spTree>
    <p:extLst>
      <p:ext uri="{BB962C8B-B14F-4D97-AF65-F5344CB8AC3E}">
        <p14:creationId xmlns:p14="http://schemas.microsoft.com/office/powerpoint/2010/main" val="187919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997B6-99A2-4BB1-8F62-A5D83A5F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The syllabus moves from foundations to applied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C435C-BCF8-4B65-9403-374E0AAB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23A00-F00D-47BC-B186-A9FBFBB5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Computing, DevOps &amp;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687CC-D0CF-4730-A54A-56289D0F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9FCFD-F023-478E-83D9-B7D5F3EF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F57C4-D1A5-4DDC-9C81-3C110554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0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6ED3C-148E-473C-A4C9-D7E0CDF6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B6100-F842-4FBC-85B5-7D8639E7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47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Cloud foundations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BFE9F-F8FB-4879-895F-9E557724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7165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Service models, deployment models, and core infrastructure.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135AD-E893-4994-BF6B-900FD70C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0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A1221-D3B7-49C1-A59F-F91B61F7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527F8-6D4D-4D3C-B89B-E090D741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241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DevOps delivery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DC519-AAA4-4293-9BA7-D66294AA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4795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Version control, CI/CD, containers, and collaboration.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152DB-9265-4CCD-B3B0-4C957D5E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0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67D92-256B-4CE0-8172-FC74ABCF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1523F-6D17-469F-A38C-9CAB70A9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04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Operating systems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4927B-9EF1-40F6-99EF-0EB23886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2425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Monitoring, reliability, security, and cost awareness.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E1B53-FBFD-425A-9939-BD1BB2DB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60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A8623-D338-4BF4-9875-FF0560BE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D01CD-FFCD-415E-98A1-89D76E97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AI in the cloud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6E7B1-AC4D-4EA2-83C6-56ECB9E8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0055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AI services, data, integration patterns, and ethics.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9F9976-2033-4250-91E3-27AE1C22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60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0C426-5347-43C8-BBE6-E82A6ED1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A9B24-A296-45D0-8613-F87929E4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530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Applied project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397B70-13FF-4AEF-A511-66AF6B82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7685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Design, build, and present a small cloud-enabled solution.</a:t>
            </a:r>
          </a:p>
        </p:txBody>
      </p:sp>
    </p:spTree>
    <p:extLst>
      <p:ext uri="{BB962C8B-B14F-4D97-AF65-F5344CB8AC3E}">
        <p14:creationId xmlns:p14="http://schemas.microsoft.com/office/powerpoint/2010/main" val="1739995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065EEC-8DF2-41DA-BC9F-35C06B17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How we will learn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E7777-E2AB-4BE2-BF70-0C314C90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AC1C8-18D1-430E-A03C-A7CE1BB6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Computing, DevOps &amp;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D09C1-BF2C-4985-BD01-26D6554D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3E605-8AB1-4964-93EE-1A8E5437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937DC-3C7D-4AE3-8200-967F8CD8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171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9C912-B8BE-4213-B497-E3272D3C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699C"/>
                </a:solidFill>
              </a:defRPr>
            </a:pPr>
            <a:r>
              <a:rPr sz="1350" b="1">
                <a:solidFill>
                  <a:srgbClr val="38699C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CF392-2A39-4A87-BCA9-C7F12DFB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6D"/>
                </a:solidFill>
              </a:defRPr>
            </a:pPr>
            <a:r>
              <a:rPr sz="2100" b="1">
                <a:solidFill>
                  <a:srgbClr val="123B6D"/>
                </a:solidFill>
              </a:rPr>
              <a:t>Explore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AB02E-A8C9-4E17-9F9F-EFFDF5B7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Short lectures and guided discussion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DD80B-50FC-4EBF-AF50-94790F7D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47900"/>
            <a:ext cx="2171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E953F-F69F-4781-9062-D278E356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699C"/>
                </a:solidFill>
              </a:defRPr>
            </a:pPr>
            <a:r>
              <a:rPr sz="1350" b="1">
                <a:solidFill>
                  <a:srgbClr val="38699C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DDA67-3A88-4500-B87E-8A07B984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6D"/>
                </a:solidFill>
              </a:defRPr>
            </a:pPr>
            <a:r>
              <a:rPr sz="2100" b="1">
                <a:solidFill>
                  <a:srgbClr val="123B6D"/>
                </a:solidFill>
              </a:rPr>
              <a:t>Practice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2C110-C30D-43DC-91D3-3F703A27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Labs, demos, and low-stakes exercises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C46AA-97C4-4DA3-90B8-DB2EAFC8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171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8BB95-4B45-40CB-9AF0-BBDB9926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699C"/>
                </a:solidFill>
              </a:defRPr>
            </a:pPr>
            <a:r>
              <a:rPr sz="1350" b="1">
                <a:solidFill>
                  <a:srgbClr val="38699C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FD35C-C993-4EC1-8A40-F29659C6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6D"/>
                </a:solidFill>
              </a:defRPr>
            </a:pPr>
            <a:r>
              <a:rPr sz="2100" b="1">
                <a:solidFill>
                  <a:srgbClr val="123B6D"/>
                </a:solidFill>
              </a:rPr>
              <a:t>Apply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F0A03-EB61-4088-8E53-9649E9F7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A project that combines the course concepts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29FFF-BC45-46AF-95FB-CB833D4B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47900"/>
            <a:ext cx="2171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CDF55-259F-4AFB-9780-508A682C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699C"/>
                </a:solidFill>
              </a:defRPr>
            </a:pPr>
            <a:r>
              <a:rPr sz="1350" b="1">
                <a:solidFill>
                  <a:srgbClr val="38699C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92375-2275-417C-AACD-9B6724B7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6D"/>
                </a:solidFill>
              </a:defRPr>
            </a:pPr>
            <a:r>
              <a:rPr sz="2100" b="1">
                <a:solidFill>
                  <a:srgbClr val="123B6D"/>
                </a:solidFill>
              </a:rPr>
              <a:t>Reflect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14712-2EC3-459D-B470-851C6444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0520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Feedback, troubleshooting, and responsible design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48D32-45E2-47E0-BC7A-38874940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Participation matters: bring questions, try ideas, and learn from what does not work the first time.</a:t>
            </a:r>
          </a:p>
        </p:txBody>
      </p:sp>
    </p:spTree>
    <p:extLst>
      <p:ext uri="{BB962C8B-B14F-4D97-AF65-F5344CB8AC3E}">
        <p14:creationId xmlns:p14="http://schemas.microsoft.com/office/powerpoint/2010/main" val="14846006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64F69-AF11-4702-A6C1-22A2514C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Your first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38682-F7FF-4678-BF56-E68CAF6E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7DEEF-8D56-4BA7-99E0-5A1EA7F0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Computing, DevOps &amp;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4E44D-4F48-4667-9B97-8D215DBD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F8B62-DC78-4F2B-90A7-40724576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438E9-14E5-42B5-9410-05C13036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2606D"/>
                </a:solidFill>
              </a:defRPr>
            </a:pPr>
            <a:r>
              <a:rPr sz="2175">
                <a:solidFill>
                  <a:srgbClr val="52606D"/>
                </a:solidFill>
              </a:rPr>
              <a:t>Before our next session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5D785-3717-4675-A5F7-1E4A1727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14D5D-4425-4B25-8952-ADA97150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Review the course space and syllabus.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AC91E-3E6F-4F21-A0D8-54AD8984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5BDED-086C-47A0-A488-0C57E2CA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Set up the tools named by your instructor.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DA751-2817-426B-BE0F-A0C47CCD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6B195-48EF-4840-A77A-56A96A14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Write down one cloud, DevOps, or AI question you want answered.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B9EC6-0073-4E17-B0C2-CC86D68D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4D4D1-29BD-4B73-8EC0-A1F4793E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Come ready to connect the concepts to a problem you care about.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52F9D-396F-4763-94A9-5CD39BC0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E59C4-F516-41F9-9B18-2677803F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Next: understanding the cloud landscape</a:t>
            </a:r>
          </a:p>
        </p:txBody>
      </p:sp>
    </p:spTree>
    <p:extLst>
      <p:ext uri="{BB962C8B-B14F-4D97-AF65-F5344CB8AC3E}">
        <p14:creationId xmlns:p14="http://schemas.microsoft.com/office/powerpoint/2010/main" val="307606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2026-07-30T17:45:09.8750000Z</dcterms:created>
  <dcterms:modified xsi:type="dcterms:W3CDTF">2026-07-30T17:45:09.8750000Z</dcterms:modified>
</coreProperties>
</file>