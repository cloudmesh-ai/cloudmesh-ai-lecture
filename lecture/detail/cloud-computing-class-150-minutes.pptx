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409e1ef14b4a40" /><Relationship Type="http://schemas.openxmlformats.org/officeDocument/2006/relationships/extended-properties" Target="/docProps/app.xml" Id="R15a932d331f24ae1" /><Relationship Type="http://schemas.openxmlformats.org/officeDocument/2006/relationships/officeDocument" Target="/ppt/presentation.xml" Id="Rac7433c8b89144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3e24f8c47f4683"/>
  </p:sldMasterIdLst>
  <p:notesMasterIdLst>
    <p:notesMasterId xmlns:r="http://schemas.openxmlformats.org/officeDocument/2006/relationships" r:id="R8d5495f176b54036"/>
  </p:notesMasterIdLst>
  <p:sldIdLst>
    <p:sldId xmlns:r="http://schemas.openxmlformats.org/officeDocument/2006/relationships" id="256" r:id="R0fbdc4959a184265"/>
    <p:sldId xmlns:r="http://schemas.openxmlformats.org/officeDocument/2006/relationships" id="257" r:id="R7faf8444c89a4221"/>
    <p:sldId xmlns:r="http://schemas.openxmlformats.org/officeDocument/2006/relationships" id="258" r:id="Re7803a3917744198"/>
    <p:sldId xmlns:r="http://schemas.openxmlformats.org/officeDocument/2006/relationships" id="259" r:id="R412450411fff4cd3"/>
    <p:sldId xmlns:r="http://schemas.openxmlformats.org/officeDocument/2006/relationships" id="260" r:id="Ra566d655f472456d"/>
    <p:sldId xmlns:r="http://schemas.openxmlformats.org/officeDocument/2006/relationships" id="261" r:id="R066fc6d7b4964c98"/>
    <p:sldId xmlns:r="http://schemas.openxmlformats.org/officeDocument/2006/relationships" id="262" r:id="R6685e868b74446ef"/>
    <p:sldId xmlns:r="http://schemas.openxmlformats.org/officeDocument/2006/relationships" id="263" r:id="R1232c707ea204df0"/>
    <p:sldId xmlns:r="http://schemas.openxmlformats.org/officeDocument/2006/relationships" id="264" r:id="R296b7e0502774905"/>
    <p:sldId xmlns:r="http://schemas.openxmlformats.org/officeDocument/2006/relationships" id="265" r:id="R370259ba893640ce"/>
    <p:sldId xmlns:r="http://schemas.openxmlformats.org/officeDocument/2006/relationships" id="266" r:id="R7375d3abc8b34ae4"/>
    <p:sldId xmlns:r="http://schemas.openxmlformats.org/officeDocument/2006/relationships" id="267" r:id="Rab12f4e1d83a4bf3"/>
    <p:sldId xmlns:r="http://schemas.openxmlformats.org/officeDocument/2006/relationships" id="268" r:id="Rf85ad3e846e8477b"/>
    <p:sldId xmlns:r="http://schemas.openxmlformats.org/officeDocument/2006/relationships" id="269" r:id="Rc122ef274c114a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74ed5220ed43cc" /><Relationship Type="http://schemas.openxmlformats.org/officeDocument/2006/relationships/slideMaster" Target="/ppt/slideMasters/slideMaster1.xml" Id="Rb03e24f8c47f4683" /><Relationship Type="http://schemas.openxmlformats.org/officeDocument/2006/relationships/notesMaster" Target="/ppt/notesMasters/notesMaster1.xml" Id="R8d5495f176b54036" /><Relationship Type="http://schemas.openxmlformats.org/officeDocument/2006/relationships/presProps" Target="/ppt/presProps.xml" Id="R8eae221a9c7d4dbc" /><Relationship Type="http://schemas.openxmlformats.org/officeDocument/2006/relationships/tableStyles" Target="/ppt/tableStyles.xml" Id="R1a57640e8a394ca2" /><Relationship Type="http://schemas.openxmlformats.org/officeDocument/2006/relationships/slide" Target="/ppt/slides/slide1.xml" Id="R0fbdc4959a184265" /><Relationship Type="http://schemas.openxmlformats.org/officeDocument/2006/relationships/slide" Target="/ppt/slides/slide2.xml" Id="R7faf8444c89a4221" /><Relationship Type="http://schemas.openxmlformats.org/officeDocument/2006/relationships/slide" Target="/ppt/slides/slide3.xml" Id="Re7803a3917744198" /><Relationship Type="http://schemas.openxmlformats.org/officeDocument/2006/relationships/slide" Target="/ppt/slides/slide4.xml" Id="R412450411fff4cd3" /><Relationship Type="http://schemas.openxmlformats.org/officeDocument/2006/relationships/slide" Target="/ppt/slides/slide5.xml" Id="Ra566d655f472456d" /><Relationship Type="http://schemas.openxmlformats.org/officeDocument/2006/relationships/slide" Target="/ppt/slides/slide6.xml" Id="R066fc6d7b4964c98" /><Relationship Type="http://schemas.openxmlformats.org/officeDocument/2006/relationships/slide" Target="/ppt/slides/slide7.xml" Id="R6685e868b74446ef" /><Relationship Type="http://schemas.openxmlformats.org/officeDocument/2006/relationships/slide" Target="/ppt/slides/slide8.xml" Id="R1232c707ea204df0" /><Relationship Type="http://schemas.openxmlformats.org/officeDocument/2006/relationships/slide" Target="/ppt/slides/slide9.xml" Id="R296b7e0502774905" /><Relationship Type="http://schemas.openxmlformats.org/officeDocument/2006/relationships/slide" Target="/ppt/slides/slide10.xml" Id="R370259ba893640ce" /><Relationship Type="http://schemas.openxmlformats.org/officeDocument/2006/relationships/slide" Target="/ppt/slides/slide11.xml" Id="R7375d3abc8b34ae4" /><Relationship Type="http://schemas.openxmlformats.org/officeDocument/2006/relationships/slide" Target="/ppt/slides/slide12.xml" Id="Rab12f4e1d83a4bf3" /><Relationship Type="http://schemas.openxmlformats.org/officeDocument/2006/relationships/slide" Target="/ppt/slides/slide13.xml" Id="Rf85ad3e846e8477b" /><Relationship Type="http://schemas.openxmlformats.org/officeDocument/2006/relationships/slide" Target="/ppt/slides/slide14.xml" Id="Rc122ef274c114a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72b73ec92f47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975dfcdf3e405b" /><Relationship Type="http://schemas.openxmlformats.org/officeDocument/2006/relationships/notesMaster" Target="/ppt/notesMasters/notesMaster1.xml" Id="R5e6bc200a3f744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032188f0c240d2" /><Relationship Type="http://schemas.openxmlformats.org/officeDocument/2006/relationships/notesMaster" Target="/ppt/notesMasters/notesMaster1.xml" Id="Rab14934943c440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a5d6c6700a4ac4" /><Relationship Type="http://schemas.openxmlformats.org/officeDocument/2006/relationships/notesMaster" Target="/ppt/notesMasters/notesMaster1.xml" Id="R583ebc1da2364c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cee2957e14444b" /><Relationship Type="http://schemas.openxmlformats.org/officeDocument/2006/relationships/notesMaster" Target="/ppt/notesMasters/notesMaster1.xml" Id="Rfa1fc741e20c4a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fdd7dd951f4761" /><Relationship Type="http://schemas.openxmlformats.org/officeDocument/2006/relationships/notesMaster" Target="/ppt/notesMasters/notesMaster1.xml" Id="R0fb5f731190d4f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9a7f7e88df4575" /><Relationship Type="http://schemas.openxmlformats.org/officeDocument/2006/relationships/notesMaster" Target="/ppt/notesMasters/notesMaster1.xml" Id="R5e302d0ac72a47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fdee4570264507" /><Relationship Type="http://schemas.openxmlformats.org/officeDocument/2006/relationships/notesMaster" Target="/ppt/notesMasters/notesMaster1.xml" Id="Rd4a2e78c8c2144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b5a8f48acd475b" /><Relationship Type="http://schemas.openxmlformats.org/officeDocument/2006/relationships/notesMaster" Target="/ppt/notesMasters/notesMaster1.xml" Id="R79a826e781544d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b68c7403f94c13" /><Relationship Type="http://schemas.openxmlformats.org/officeDocument/2006/relationships/notesMaster" Target="/ppt/notesMasters/notesMaster1.xml" Id="R92d16ad912f44f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7dc40400ea4626" /><Relationship Type="http://schemas.openxmlformats.org/officeDocument/2006/relationships/notesMaster" Target="/ppt/notesMasters/notesMaster1.xml" Id="R9ca765e5baf249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c14a3759d648f3" /><Relationship Type="http://schemas.openxmlformats.org/officeDocument/2006/relationships/notesMaster" Target="/ppt/notesMasters/notesMaster1.xml" Id="Rcf367251569c48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3cf1282ef14883" /><Relationship Type="http://schemas.openxmlformats.org/officeDocument/2006/relationships/notesMaster" Target="/ppt/notesMasters/notesMaster1.xml" Id="Rd4bd09c5ce7040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edc134f2a54b10" /><Relationship Type="http://schemas.openxmlformats.org/officeDocument/2006/relationships/notesMaster" Target="/ppt/notesMasters/notesMaster1.xml" Id="Rd1139d658ee041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c30693cb1b4626" /><Relationship Type="http://schemas.openxmlformats.org/officeDocument/2006/relationships/notesMaster" Target="/ppt/notesMasters/notesMaster1.xml" Id="Rd1a3396baeb244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0–10 min. Welcome the class, set expectations, and ask: “What cloud service did you use today?”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10–15 min. Give learners the agenda and explain that they will apply the concepts in a short design activity.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15–25 min. Introduce the NIST definition in plain language. Emphasize that cloud changes how teams obtain and operate technology.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25–38 min. Walk through each characteristic, asking for a familiar example. Contrast elasticity with simply buying a larger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38–50 min. Pairs classify the three examples, then debrief. Invite learners to name ambiguity instead of forcing a yes/no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50–65 min. Use the phrase: “more control usually means more operating work.” Ask students to place a learning-management system and a custom mobile backend on the spectrum.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65–75 min. Avoid presenting one model as universally superior. Have learners identify constraints that could influence a choice: regulation, latency, legacy systems, or skills.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NIST SP 800-145, The NIST Definition of Cloud Computing. https://doi.org/10.6028/NIST.SP.800-145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75–85 min. Break.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85–100 min. Explain that provider terminology varies. Keep focus on the general design concepts: proximity, isolation, and redundancy.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100–115 min. Build a simple example verbally: a photo-sharing app needs compute, object storage, a network path, and a data service for users and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115–125 min. Avoid promising lower cost by default. Cloud makes usage visible and adjustable, but architecture and operating choices still determine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125–135 min. Explain that the exact boundary changes by service model. Ask learners what could happen if a storage service is configured for public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135–145 min. Walk around and ask teams what they would scale, what they would secure, and what they would measure. Capture two contrasting approaches for the debrief.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145–150 min. Debrief the design challenge, restate the four questions, and preview the DevOps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ba1b06aed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cf2369f38c4907" /><Relationship Type="http://schemas.openxmlformats.org/officeDocument/2006/relationships/slideLayout" Target="/ppt/slideLayouts/slideLayout1.xml" Id="R1c322f2e6ecc44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322f2e6ecc44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08a65876f4a7c" /><Relationship Type="http://schemas.openxmlformats.org/officeDocument/2006/relationships/notesSlide" Target="/ppt/notesSlides/notesSlide1.xml" Id="R89feaa08022343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143d1e8a94429" /><Relationship Type="http://schemas.openxmlformats.org/officeDocument/2006/relationships/notesSlide" Target="/ppt/notesSlides/notesSlide2.xml" Id="R8a3eb068a31a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ddd2bc8db47df" /><Relationship Type="http://schemas.openxmlformats.org/officeDocument/2006/relationships/notesSlide" Target="/ppt/notesSlides/notesSlide3.xml" Id="Rfafce7f1df0a45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93bda08ab4226" /><Relationship Type="http://schemas.openxmlformats.org/officeDocument/2006/relationships/notesSlide" Target="/ppt/notesSlides/notesSlide4.xml" Id="Rc13de1503ba942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1417d1e25449e" /><Relationship Type="http://schemas.openxmlformats.org/officeDocument/2006/relationships/notesSlide" Target="/ppt/notesSlides/notesSlide5.xml" Id="R28e5319dbd7a4e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2815e16964410" /><Relationship Type="http://schemas.openxmlformats.org/officeDocument/2006/relationships/notesSlide" Target="/ppt/notesSlides/notesSlide6.xml" Id="R2fa5569fa03a47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4bdf958ac4719" /><Relationship Type="http://schemas.openxmlformats.org/officeDocument/2006/relationships/notesSlide" Target="/ppt/notesSlides/notesSlide7.xml" Id="Rce0c8785197640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1f527184c40e3" /><Relationship Type="http://schemas.openxmlformats.org/officeDocument/2006/relationships/notesSlide" Target="/ppt/notesSlides/notesSlide8.xml" Id="R436f5467e0cb49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f1bcfd36242a3" /><Relationship Type="http://schemas.openxmlformats.org/officeDocument/2006/relationships/notesSlide" Target="/ppt/notesSlides/notesSlide9.xml" Id="Raf5bf98bb97d43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42a8217554aec" /><Relationship Type="http://schemas.openxmlformats.org/officeDocument/2006/relationships/notesSlide" Target="/ppt/notesSlides/notesSlide10.xml" Id="R7195bb6c660747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34f2cbe474e14" /><Relationship Type="http://schemas.openxmlformats.org/officeDocument/2006/relationships/notesSlide" Target="/ppt/notesSlides/notesSlide11.xml" Id="R577138dfba8941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2695e116748b1" /><Relationship Type="http://schemas.openxmlformats.org/officeDocument/2006/relationships/notesSlide" Target="/ppt/notesSlides/notesSlide12.xml" Id="R13afeb43d30341f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4de5caff94ca1" /><Relationship Type="http://schemas.openxmlformats.org/officeDocument/2006/relationships/notesSlide" Target="/ppt/notesSlides/notesSlide13.xml" Id="Rb4aa1f4d8a5444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0316fce184034" /><Relationship Type="http://schemas.openxmlformats.org/officeDocument/2006/relationships/notesSlide" Target="/ppt/notesSlides/notesSlide14.xml" Id="Rcc8671702b7241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E8C3D-249F-4240-A863-44260665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143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AA4C9-9BC1-47BE-8208-D9CD59FF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716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23B6D"/>
                </a:solidFill>
              </a:defRPr>
            </a:pPr>
            <a:r>
              <a:rPr sz="4500" b="1">
                <a:solidFill>
                  <a:srgbClr val="123B6D"/>
                </a:solidFill>
              </a:rPr>
              <a:t>Cloud Computing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3823E-5AB5-4398-9032-4BE9274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2606D"/>
                </a:solidFill>
              </a:defRPr>
            </a:pPr>
            <a:r>
              <a:rPr sz="2250">
                <a:solidFill>
                  <a:srgbClr val="52606D"/>
                </a:solidFill>
              </a:rPr>
              <a:t>A 2½-hour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B3F1C-B732-4423-99BF-AC1ADBDB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8699C"/>
                </a:solidFill>
              </a:defRPr>
            </a:pPr>
            <a:r>
              <a:rPr sz="1500" b="1">
                <a:solidFill>
                  <a:srgbClr val="38699C"/>
                </a:solidFill>
              </a:rPr>
              <a:t>Presented by Gregor von Laszewski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92B4D-5C1A-4E71-B6F5-68D4D2F0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laszewski@gmail.com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9B504-BB55-4913-B6DE-D3D03169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00100"/>
            <a:ext cx="1885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ED00A-B627-4065-A6C5-099861E6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00150"/>
            <a:ext cx="131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123B6D"/>
                </a:solidFill>
              </a:defRPr>
            </a:pPr>
            <a:r>
              <a:rPr sz="4500" b="1">
                <a:solidFill>
                  <a:srgbClr val="123B6D"/>
                </a:solidFill>
              </a:rPr>
              <a:t>150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D6A52-4D89-4600-B8AB-E7BFE531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8699C"/>
                </a:solidFill>
              </a:defRPr>
            </a:pPr>
            <a:r>
              <a:rPr sz="1050" b="1">
                <a:solidFill>
                  <a:srgbClr val="38699C"/>
                </a:solidFill>
              </a:rPr>
              <a:t>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EEA6E-2999-467A-AC1F-86781628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Understand the cloud model, make better service choices, and sketch a first cloud design.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F6ACB-2386-43E6-88D4-233D7BEF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</p:spTree>
    <p:extLst>
      <p:ext uri="{BB962C8B-B14F-4D97-AF65-F5344CB8AC3E}">
        <p14:creationId xmlns:p14="http://schemas.microsoft.com/office/powerpoint/2010/main" val="1123842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C7656-3BF6-4378-A3EE-031CCDA1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Today’s journey: concept → choice →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540BF-5304-4522-8006-FB1CF5A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B1DBA-8036-4949-9F8C-D68E696E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7A029-2B1F-447C-A649-008E316E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8B05F-ED98-4CAF-8C8C-93B8E1FF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EFA25-EC66-4FDC-9CB9-8525532E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724F2-A337-4AF8-9085-709D699C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10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17B2B-7BFC-4D29-939C-DA207E2D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002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Opening question and learning goals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54004-3700-4D08-8D5B-E1F1C269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0B77A-9B8A-4246-AF0A-FB83A665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65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D9B2A-AD81-4443-87DF-7B71F710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03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Cloud model, characteristics, service models, and deployment choices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988C6-9E77-49B5-9DE3-E21F2F1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EDA56-359B-4F72-8BAB-1B0B4203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10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891E5-8433-48A5-99AE-07E999B1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CCF9F-DE16-4A69-A577-084FF63F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060B7-0167-43EF-BD6B-C3E255F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50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DAD7F-5123-4F20-A631-EBBB64EC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005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Regions, core building blocks, economics, and responsibility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23A30-B400-4CC8-A857-AE97EC39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45C49-0868-49D0-807A-06A5CC59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15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EA477-697D-4F94-BAB9-B3F2BCCA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00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Small-group design challenge and close</a:t>
            </a:r>
          </a:p>
        </p:txBody>
      </p:sp>
    </p:spTree>
    <p:extLst>
      <p:ext uri="{BB962C8B-B14F-4D97-AF65-F5344CB8AC3E}">
        <p14:creationId xmlns:p14="http://schemas.microsoft.com/office/powerpoint/2010/main" val="375023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6BB3B-AF13-4476-95F3-9123171A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Cloud computing is an operating model—not a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C18D8-84A5-4AF0-9D18-AF65FB9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386F7-6FD3-437F-92C0-F957D2CE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782FC-ACF9-4328-9B57-2A22A9E5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CEC25-89B5-4FFD-A793-9BE44AC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41991-E44A-4CBE-AE98-20E0E50B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8699C"/>
                </a:solidFill>
              </a:defRPr>
            </a:pPr>
            <a:r>
              <a:rPr sz="1950" b="1">
                <a:solidFill>
                  <a:srgbClr val="38699C"/>
                </a:solidFill>
              </a:rPr>
              <a:t>A useful 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4BE38-3F33-4D9E-A8EE-4A779267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3B6D"/>
                </a:solidFill>
              </a:defRPr>
            </a:pPr>
            <a:r>
              <a:rPr sz="2325" b="1">
                <a:solidFill>
                  <a:srgbClr val="123B6D"/>
                </a:solidFill>
              </a:rPr>
              <a:t>On-demand access to a shared pool of configurable computing resources that can be rapidly provisioned and released.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6F9D1-ACFD-4071-B732-4DC0E0C3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DAB8B-3409-42EB-8E62-4BFA4D1D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Think in capabilities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F7E01-C993-4368-978F-461A7249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99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Compute, storage, networking, platforms, and applications.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FBD87-3408-4644-A76E-3F2EB4A5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1D7CC-AC92-451A-9D1B-9F16D2C5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Think in outcomes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F933A-8693-4F3A-8DFB-DD1E7D9C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100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Speed, scalability, reliability, and manageable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CE8AB-E57B-4BF8-A544-695DDF10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3DD86-9F63-4A25-BC41-FC605B54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Avoid the myth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6E0EE-E34D-4877-BEF3-B84C6289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“In the cloud” does not remove design, security, or operating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077728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4DFB55-57DA-459E-928F-668CABFE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Five characteristics distinguish the cloud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3F6CF-71C5-4D5F-8707-E9B7CF7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49C5E-175A-4717-91DC-3DE90C1B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DE512-CADC-440B-A6C7-18E6CF3C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4EED1-187D-49A2-B69B-FF88E103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E3329-2117-40CA-A328-74B75FA9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B1BCD-03BC-4AA6-B1DE-1575782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699C"/>
                </a:solidFill>
              </a:defRPr>
            </a:pPr>
            <a:r>
              <a:rPr sz="1125" b="1">
                <a:solidFill>
                  <a:srgbClr val="38699C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9886F-4303-4E25-95DD-78156325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6D"/>
                </a:solidFill>
              </a:defRPr>
            </a:pPr>
            <a:r>
              <a:rPr sz="1725" b="1">
                <a:solidFill>
                  <a:srgbClr val="123B6D"/>
                </a:solidFill>
              </a:rPr>
              <a:t>On-demand self-service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391BC-35E3-4E2B-B091-D1CC41F7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Provision resources when needed.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4D54F-6C5C-446C-8B0B-ED5FB656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73853-C761-4E85-8229-712552AC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699C"/>
                </a:solidFill>
              </a:defRPr>
            </a:pPr>
            <a:r>
              <a:rPr sz="1125" b="1">
                <a:solidFill>
                  <a:srgbClr val="38699C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A8ADE-281B-4016-8BF4-3F92FBDB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43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6D"/>
                </a:solidFill>
              </a:defRPr>
            </a:pPr>
            <a:r>
              <a:rPr sz="1725" b="1">
                <a:solidFill>
                  <a:srgbClr val="123B6D"/>
                </a:solidFill>
              </a:rPr>
              <a:t>Broad network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A1F43-1A8D-498C-B436-FA46E92E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Reach services through standard networks.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8E46F-09F9-4442-A53A-53EE1C10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383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E0A56-459E-4F39-A8FE-FF89BEA2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28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699C"/>
                </a:solidFill>
              </a:defRPr>
            </a:pPr>
            <a:r>
              <a:rPr sz="1125" b="1">
                <a:solidFill>
                  <a:srgbClr val="38699C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C2767-9AFE-4868-8357-0AE59865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6D"/>
                </a:solidFill>
              </a:defRPr>
            </a:pPr>
            <a:r>
              <a:rPr sz="1725" b="1">
                <a:solidFill>
                  <a:srgbClr val="123B6D"/>
                </a:solidFill>
              </a:rPr>
              <a:t>Resource pooling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09CFC-808D-4EC2-93E7-53909892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Share provider resources securely.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06E5A-94E2-44EE-90FC-DE33D6A2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7147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D330D-EF9F-4D30-8755-425993F4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05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699C"/>
                </a:solidFill>
              </a:defRPr>
            </a:pPr>
            <a:r>
              <a:rPr sz="1125" b="1">
                <a:solidFill>
                  <a:srgbClr val="38699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7E0C0-D00D-4777-828C-0DE0FA4B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195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6D"/>
                </a:solidFill>
              </a:defRPr>
            </a:pPr>
            <a:r>
              <a:rPr sz="1725" b="1">
                <a:solidFill>
                  <a:srgbClr val="123B6D"/>
                </a:solidFill>
              </a:rPr>
              <a:t>Rapid elasticity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917E3-0135-4A84-B0F8-356D7E2A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05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Scale capacity up or down.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B9046-F8D4-4181-9CBD-EFDD034B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147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567DC-CAA3-4161-BD7C-F1437FCA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05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699C"/>
                </a:solidFill>
              </a:defRPr>
            </a:pPr>
            <a:r>
              <a:rPr sz="1125" b="1">
                <a:solidFill>
                  <a:srgbClr val="38699C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94AF3-D37E-47EE-B224-F8EC579D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195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6D"/>
                </a:solidFill>
              </a:defRPr>
            </a:pPr>
            <a:r>
              <a:rPr sz="1725" b="1">
                <a:solidFill>
                  <a:srgbClr val="123B6D"/>
                </a:solidFill>
              </a:rPr>
              <a:t>Measured 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638577-CC43-46A9-B1E1-AFCED4FD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05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</a:defRPr>
            </a:pPr>
            <a:r>
              <a:rPr sz="1275">
                <a:solidFill>
                  <a:srgbClr val="52606D"/>
                </a:solidFill>
              </a:rPr>
              <a:t>Track and manage usage.</a:t>
            </a:r>
          </a:p>
        </p:txBody>
      </p:sp>
    </p:spTree>
    <p:extLst>
      <p:ext uri="{BB962C8B-B14F-4D97-AF65-F5344CB8AC3E}">
        <p14:creationId xmlns:p14="http://schemas.microsoft.com/office/powerpoint/2010/main" val="1520120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4983E-4E66-4CF1-8C06-C72FE12E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Activity: is it really cloud?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A7925-CB50-49F7-BB1A-AB40998C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97249-6B7B-462B-B81F-87A041B2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F50E7-603D-49D7-BD16-42B8B093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25CAB-2694-4CDC-9EE3-9EC62425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5A247-4756-49CC-8820-A0682F19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8699C"/>
                </a:solidFill>
              </a:defRPr>
            </a:pPr>
            <a:r>
              <a:rPr sz="2175" b="1">
                <a:solidFill>
                  <a:srgbClr val="38699C"/>
                </a:solidFill>
              </a:rPr>
              <a:t>Work in pairs for 8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E2518-9811-4305-9998-2085A9E1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0025D-E2ED-403D-BC82-E9A18386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company buys servers every three years and hosts them in its own data center.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D9A48-BB4C-4DF8-878C-E5EB71EC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CA513-BDF9-49C1-AD62-0EA8BCA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team uses a managed database, creates it in minutes, and pays for usage.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F1BBA-3AEB-469A-B722-E72EDB65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5A9D5-B351-4621-8807-51FA1634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A university runs a shared virtual-machine cluster with a manual request form.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D155B-617C-4571-8CF6-C26F31B2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8C4C0-ABE7-4A45-86AD-C3A47122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3B6D"/>
                </a:solidFill>
              </a:defRPr>
            </a:pPr>
            <a:r>
              <a:rPr sz="1725" b="1">
                <a:solidFill>
                  <a:srgbClr val="123B6D"/>
                </a:solidFill>
              </a:rPr>
              <a:t>For each: Which cloud characteristics are present? What evidence would you need?</a:t>
            </a:r>
          </a:p>
        </p:txBody>
      </p:sp>
    </p:spTree>
    <p:extLst>
      <p:ext uri="{BB962C8B-B14F-4D97-AF65-F5344CB8AC3E}">
        <p14:creationId xmlns:p14="http://schemas.microsoft.com/office/powerpoint/2010/main" val="642005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1EEA0-F989-42B8-BBF9-6598729C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Choose the service model by the control you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F213C-4566-457A-AB95-11F7F838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50126-B51C-4992-9D33-0F573F00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2167A-82C8-484C-B402-D242D210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0F6C8-9A21-4FDF-B0D4-BBACEFC2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02F73-238C-4E9E-BC19-DA0C47A8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F16E7-457C-4D89-A3CD-16389277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6D"/>
                </a:solidFill>
              </a:defRPr>
            </a:pPr>
            <a:r>
              <a:rPr sz="2550" b="1">
                <a:solidFill>
                  <a:srgbClr val="123B6D"/>
                </a:solidFill>
              </a:rPr>
              <a:t>IaaS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CFA8D-B866-46A3-8E28-F4C4501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699C"/>
                </a:solidFill>
              </a:defRPr>
            </a:pPr>
            <a:r>
              <a:rPr sz="1200" b="1">
                <a:solidFill>
                  <a:srgbClr val="38699C"/>
                </a:solidFill>
              </a:rPr>
              <a:t>You manage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C0E99-5F9E-4CA1-8607-19EBF10B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Operating system, runtime, and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84AF1-2BF7-4617-9954-474E3C71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699C"/>
                </a:solidFill>
              </a:defRPr>
            </a:pPr>
            <a:r>
              <a:rPr sz="1200" b="1">
                <a:solidFill>
                  <a:srgbClr val="38699C"/>
                </a:solidFill>
              </a:rPr>
              <a:t>Provider manages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25004-D732-4C95-80CB-078B6B5D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Physical infrastructure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1182C-E8D5-42D4-8B0B-2ABCC84F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BB716-3223-415B-8703-0E51CEE6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6D"/>
                </a:solidFill>
              </a:defRPr>
            </a:pPr>
            <a:r>
              <a:rPr sz="2550" b="1">
                <a:solidFill>
                  <a:srgbClr val="123B6D"/>
                </a:solidFill>
              </a:rPr>
              <a:t>PaaS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75D94-FAC0-4F41-960A-82E55CA2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699C"/>
                </a:solidFill>
              </a:defRPr>
            </a:pPr>
            <a:r>
              <a:rPr sz="1200" b="1">
                <a:solidFill>
                  <a:srgbClr val="38699C"/>
                </a:solidFill>
              </a:rPr>
              <a:t>You manage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EBB18-9923-450B-8A4E-1F41EE52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Application and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67751-5E80-4C28-97A3-9D3EC3D2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699C"/>
                </a:solidFill>
              </a:defRPr>
            </a:pPr>
            <a:r>
              <a:rPr sz="1200" b="1">
                <a:solidFill>
                  <a:srgbClr val="38699C"/>
                </a:solidFill>
              </a:rPr>
              <a:t>Provider manages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EB4A5-4140-449B-A829-A7348D2F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Platform and infrastructure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51640-4C10-4880-AEF9-138857CD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573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F2D3E6-624A-4D1D-83FA-0B98C10C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6D"/>
                </a:solidFill>
              </a:defRPr>
            </a:pPr>
            <a:r>
              <a:rPr sz="2550" b="1">
                <a:solidFill>
                  <a:srgbClr val="123B6D"/>
                </a:solidFill>
              </a:rPr>
              <a:t>SaaS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859A1-FCC6-46E6-A90B-40423DC8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699C"/>
                </a:solidFill>
              </a:defRPr>
            </a:pPr>
            <a:r>
              <a:rPr sz="1200" b="1">
                <a:solidFill>
                  <a:srgbClr val="38699C"/>
                </a:solidFill>
              </a:rPr>
              <a:t>You manage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C80AB-1233-4870-850B-F5505331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Configuration and 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5836C-2468-45D9-A3A5-1E9CB1C3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699C"/>
                </a:solidFill>
              </a:defRPr>
            </a:pPr>
            <a:r>
              <a:rPr sz="1200" b="1">
                <a:solidFill>
                  <a:srgbClr val="38699C"/>
                </a:solidFill>
              </a:rPr>
              <a:t>Provider manages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A9604-357E-4984-AEF7-FA3B0F21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B"/>
                </a:solidFill>
              </a:defRPr>
            </a:pPr>
            <a:r>
              <a:rPr sz="1575">
                <a:solidFill>
                  <a:srgbClr val="17212B"/>
                </a:solidFill>
              </a:rPr>
              <a:t>Application through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137721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4CFE9-5677-4B88-8941-081BA172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Deployment choices reflect governance and integration needs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3D75B-AA76-4D6A-973E-C13256B9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0DA8A-F1AC-415D-BB8D-677E4A77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88C71-521A-4D15-98D9-75CEE912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D083F-8BC1-40D8-91CF-EC240D4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ED698-987F-403A-AFDE-D73198D4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A30F4-E75C-48D9-A52B-9CFE5577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Public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D5267-BB8A-46CA-AB6F-4AAC775D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002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Provider-operated infrastructure available to many customers.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BAF38-2509-434E-B7BA-78AB4C68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1F79-2F5C-472D-B6E2-F1F48AFB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Private cloud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DA1D8-7AF4-46C2-A26D-AF3D207E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03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Infrastructure dedicated to one organization’s 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2C469-C74F-4A0B-9C2F-B7466E76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77D34-9BBE-461E-9A8A-0FCEF9EE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Hybrid 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14451-F2A9-42F1-8E54-024BBA5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An environment that intentionally connects more than one cloud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E084D-BDEE-4E0D-ACEC-6D820B0E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4164F-6EF6-4C37-8D90-1B61EC5E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The practical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1F393-9A6B-47F5-B029-D8F8DFC8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005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Where should data, workloads, and operational responsibility live?</a:t>
            </a:r>
          </a:p>
        </p:txBody>
      </p:sp>
    </p:spTree>
    <p:extLst>
      <p:ext uri="{BB962C8B-B14F-4D97-AF65-F5344CB8AC3E}">
        <p14:creationId xmlns:p14="http://schemas.microsoft.com/office/powerpoint/2010/main" val="9393975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EC866-FF99-437D-B99B-3E179B0C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23B6D"/>
                </a:solidFill>
              </a:defRPr>
            </a:pPr>
            <a:r>
              <a:rPr sz="4650" b="1">
                <a:solidFill>
                  <a:srgbClr val="123B6D"/>
                </a:solidFill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B6561-F9C8-45F7-A3E8-DE32F05B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52606D"/>
                </a:solidFill>
              </a:defRPr>
            </a:pPr>
            <a:r>
              <a:rPr sz="2175">
                <a:solidFill>
                  <a:srgbClr val="52606D"/>
                </a:solidFill>
              </a:rPr>
              <a:t>10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599AC-35C0-4D32-A184-E07D8384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94F01-6B7E-43F6-8C38-D55ABE7D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3B6D"/>
                </a:solidFill>
              </a:defRPr>
            </a:pPr>
            <a:r>
              <a:rPr sz="2025" b="1">
                <a:solidFill>
                  <a:srgbClr val="123B6D"/>
                </a:solidFill>
              </a:rPr>
              <a:t>When you return, we will turn the model into an architecture.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08871-EA4E-47C8-8994-CB99F5A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198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</p:spTree>
    <p:extLst>
      <p:ext uri="{BB962C8B-B14F-4D97-AF65-F5344CB8AC3E}">
        <p14:creationId xmlns:p14="http://schemas.microsoft.com/office/powerpoint/2010/main" val="247378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8AE83-D38B-4B7D-A457-0E1909D1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Regions and zones help you plan for latency and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F3620-827E-4908-B879-83BF943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33DAB-FB8B-4FE8-A126-B2A0B74E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6D415-8C4A-47C1-B324-F0326D43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B01B6-945E-4C60-BB1F-EBACA45F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06364-1470-419D-9840-2BF58B9E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699C"/>
                </a:solidFill>
              </a:defRPr>
            </a:pPr>
            <a:r>
              <a:rPr sz="2100" b="1">
                <a:solidFill>
                  <a:srgbClr val="38699C"/>
                </a:solidFill>
              </a:rPr>
              <a:t>Think in layers of 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8E24D-A7B9-4C05-9422-D251B56D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31F11-635F-4084-87D3-F3443A5A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4E8CC-300E-4E39-8FF9-32839F1E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A geographic area for cloud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4DA85-883C-46C2-92C1-CAF2B7D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B8072-823B-4282-8E95-A3496929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Availability zone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2E469-69BB-4326-BFCD-0A139D35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An isolated location within a region.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2D3DA-1447-446B-9B3C-D2773C52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966B0-FF35-4BC5-8934-D4F698C7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E3590-6482-4C0D-94EC-6F016DB2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06D"/>
                </a:solidFill>
              </a:defRPr>
            </a:pPr>
            <a:r>
              <a:rPr sz="1500">
                <a:solidFill>
                  <a:srgbClr val="52606D"/>
                </a:solidFill>
              </a:rPr>
              <a:t>A location closer to users or devices.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BB7EE-E031-4269-B0CE-ECCE35BD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3B6D"/>
                </a:solidFill>
              </a:defRPr>
            </a:pPr>
            <a:r>
              <a:rPr sz="1950" b="1">
                <a:solidFill>
                  <a:srgbClr val="123B6D"/>
                </a:solidFill>
              </a:rPr>
              <a:t>Design prompt: What happens if one location becomes unavailable?</a:t>
            </a:r>
          </a:p>
        </p:txBody>
      </p:sp>
    </p:spTree>
    <p:extLst>
      <p:ext uri="{BB962C8B-B14F-4D97-AF65-F5344CB8AC3E}">
        <p14:creationId xmlns:p14="http://schemas.microsoft.com/office/powerpoint/2010/main" val="163886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621AC-7423-4B39-BF49-7A02FE1B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Most cloud architectures begin with four building blocks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C647E-9F0C-4C86-97B6-A7D4925B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3A76A-F84A-4DA2-831F-25C61397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06E49-218E-46E8-A03B-B57A46B0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C5C5D-1ABF-4289-8785-99E028F6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98938-41A4-4010-B10D-428D8D15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89963-9AD9-420F-9B40-511F07E3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699C"/>
                </a:solidFill>
              </a:defRPr>
            </a:pPr>
            <a:r>
              <a:rPr sz="1125" b="1">
                <a:solidFill>
                  <a:srgbClr val="38699C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E9200-5500-4121-83B6-E422B634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Compute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57D17-C79C-44FD-AA8D-A3A19EED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Runs application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35DF8-37B6-40FA-A118-9DBDF6D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5048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79646-A823-4AB2-A6A6-7CEEB58B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699C"/>
                </a:solidFill>
              </a:defRPr>
            </a:pPr>
            <a:r>
              <a:rPr sz="1125" b="1">
                <a:solidFill>
                  <a:srgbClr val="38699C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ABDBF-F97D-4D4E-8BC3-4DA9A79A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01B83-DA85-4903-A1D7-EE780942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Keeps objects, files, and backups.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D6FDE-1270-4623-9ECE-03F9A4D9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048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6F9F1-D4A9-4ABB-A8ED-BCCB1EE0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699C"/>
                </a:solidFill>
              </a:defRPr>
            </a:pPr>
            <a:r>
              <a:rPr sz="1125" b="1">
                <a:solidFill>
                  <a:srgbClr val="38699C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B1139-5061-45C6-8DD9-0053D9E6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Networking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E1592-FE13-409E-A115-482961CA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Connects users, services, and controls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8FDFC-9396-482A-BF15-EDD8CB29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5048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72758-6B6A-4213-9D6C-0B7B964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699C"/>
                </a:solidFill>
              </a:defRPr>
            </a:pPr>
            <a:r>
              <a:rPr sz="1125" b="1">
                <a:solidFill>
                  <a:srgbClr val="38699C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A81A1-594C-4FA6-BF2B-00D84D6E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3B6D"/>
                </a:solidFill>
              </a:defRPr>
            </a:pPr>
            <a:r>
              <a:rPr sz="2100" b="1">
                <a:solidFill>
                  <a:srgbClr val="123B6D"/>
                </a:solidFill>
              </a:rPr>
              <a:t>Data 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54F59-0918-4F2C-8A0A-00E54FB9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Store, query, and move structured data.</a:t>
            </a:r>
          </a:p>
        </p:txBody>
      </p:sp>
    </p:spTree>
    <p:extLst>
      <p:ext uri="{BB962C8B-B14F-4D97-AF65-F5344CB8AC3E}">
        <p14:creationId xmlns:p14="http://schemas.microsoft.com/office/powerpoint/2010/main" val="12867526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0DA38-68D4-47FD-AF4A-664F1748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Cloud economics reward intentional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362CC-473C-44F3-A23E-86081536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E4F57-418D-42DF-AF6C-E794F81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C510B-A561-4E5F-B5C4-D4FCC719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18EBE-4953-4048-9F61-49810921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3A243-6233-41EC-A7E8-274A99A3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891A4-9686-41AE-9409-F50288C2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192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Treat cost as a design constraint, not a monthly surprise.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F3EF8-C66C-448C-8336-80A1ED75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6C291-576E-4211-8740-24528A08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Match capacity to demand; avoid paying for idle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8E314-AE78-4BBD-8F06-3624840A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7C826-5F38-42D4-84E0-CB96B5B3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Use tags, budgets, and usage data to make spending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39C6B-D8A9-4241-A6A1-E9483B30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F2CED-9357-4E44-82D0-8B79CBE3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B"/>
                </a:solidFill>
              </a:defRPr>
            </a:pPr>
            <a:r>
              <a:rPr sz="1800">
                <a:solidFill>
                  <a:srgbClr val="17212B"/>
                </a:solidFill>
              </a:rPr>
              <a:t>Balance cost against reliability, security, and delivery speed.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54A0B-61AF-48A8-A142-A29E098E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F09E2-E3B9-4B99-A79C-D61C7771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Ask before every design decision: What value does this resource create?</a:t>
            </a:r>
          </a:p>
        </p:txBody>
      </p:sp>
    </p:spTree>
    <p:extLst>
      <p:ext uri="{BB962C8B-B14F-4D97-AF65-F5344CB8AC3E}">
        <p14:creationId xmlns:p14="http://schemas.microsoft.com/office/powerpoint/2010/main" val="10710888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822FB-F8A6-4ABC-B2E7-7BC0CCF8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Security is shared—but accountability stays with the organization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28F2D-E5D1-4295-A001-13E8663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85BE7-7D87-4767-9A26-F062ECC8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2F12A-66A2-4240-B7F7-F6953A44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EB7B3-5E34-4A8C-ADEF-C1AC4A09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B8718-38D0-460A-9794-1D54A12B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FDCB1-DE88-43F3-AAF5-901ECDD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6D"/>
                </a:solidFill>
              </a:defRPr>
            </a:pPr>
            <a:r>
              <a:rPr sz="2250" b="1">
                <a:solidFill>
                  <a:srgbClr val="123B6D"/>
                </a:solidFill>
              </a:rPr>
              <a:t>Provider 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360F4-D63D-46C7-837F-02A12E58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D0A44-42B6-4E56-B6D0-70F59A18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Physical facilities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AEB9F-739F-4932-BF96-2BC03F5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51590-6BA4-4300-A0FE-489D0229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81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Core infrastructure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67FCD-B051-4896-A151-F51BA0BD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C8EBD-361B-4E63-A590-14512AFC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Managed-service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46861-2B05-4F33-98F5-7F8A7B9D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19250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00003-BC60-4520-8261-ECD422A5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6D"/>
                </a:solidFill>
              </a:defRPr>
            </a:pPr>
            <a:r>
              <a:rPr sz="2250" b="1">
                <a:solidFill>
                  <a:srgbClr val="123B6D"/>
                </a:solidFill>
              </a:rPr>
              <a:t>Customer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3DA9F-F004-4308-AEBA-B977EEBF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B54D5-D1B2-469E-8327-22BDB29E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28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Identity and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85692-2286-4A67-84EA-F5A09210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23206-46E9-49B4-8093-A6E8C7B7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Data protection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7B0E0-3325-43DC-9BAC-06E074F1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70098-237C-4BF9-A527-BFC70D56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33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B"/>
                </a:solidFill>
              </a:defRPr>
            </a:pPr>
            <a:r>
              <a:rPr sz="1650">
                <a:solidFill>
                  <a:srgbClr val="17212B"/>
                </a:solidFill>
              </a:rPr>
              <a:t>Configuration and workload security</a:t>
            </a:r>
          </a:p>
        </p:txBody>
      </p:sp>
    </p:spTree>
    <p:extLst>
      <p:ext uri="{BB962C8B-B14F-4D97-AF65-F5344CB8AC3E}">
        <p14:creationId xmlns:p14="http://schemas.microsoft.com/office/powerpoint/2010/main" val="5999668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F6917-08A7-4AD5-BAFF-28674178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Design challenge: sketch a resilient student-event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9E916-1B0A-4594-BF4F-138A8D7E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C734B-1B23-4E74-AE67-64790774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B16BB-C1F2-4A18-959A-BC50FFDE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3026B-4441-4691-8CFC-D7F55E12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093A4-2BAA-48CE-9AC8-43BF0AAC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8699C"/>
                </a:solidFill>
              </a:defRPr>
            </a:pPr>
            <a:r>
              <a:rPr sz="2175" b="1">
                <a:solidFill>
                  <a:srgbClr val="38699C"/>
                </a:solidFill>
              </a:rPr>
              <a:t>Teams of 3–4 · 10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4010E-EBD2-4B35-BF11-83102C02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53531-9787-43E1-8A94-07C9D38F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Scenario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7C963-5A4A-49CA-83A7-5B6BF346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002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Students discover events, register, and receive reminders.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6FF2B-7522-4B8E-B890-C98F1EB5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19A18-1EA3-4019-885B-F149A59D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Your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2C052-0D4E-4A0C-B832-4FE3AA06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03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Choose a service model, deployment approach, and four building blocks.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1B9F0-ED56-45C9-B01F-5FA78C69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20A55-171E-44F3-9906-F8AA0F37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4E62B-6313-4093-8488-9DB0D942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Must handle a busy registration window, protect student data, and control cost.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22DBD-31DF-4EC8-A530-07901771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8468C-4EF2-4DBD-9910-4E18707A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3B6D"/>
                </a:solidFill>
              </a:defRPr>
            </a:pPr>
            <a:r>
              <a:rPr sz="1875" b="1">
                <a:solidFill>
                  <a:srgbClr val="123B6D"/>
                </a:solidFill>
              </a:rPr>
              <a:t>Share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2A55A-8F1D-4FFF-985B-8B33FB2E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005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06D"/>
                </a:solidFill>
              </a:defRPr>
            </a:pPr>
            <a:r>
              <a:rPr sz="1425">
                <a:solidFill>
                  <a:srgbClr val="52606D"/>
                </a:solidFill>
              </a:rPr>
              <a:t>Prepare one design decision and one trade-off to explain.</a:t>
            </a:r>
          </a:p>
        </p:txBody>
      </p:sp>
    </p:spTree>
    <p:extLst>
      <p:ext uri="{BB962C8B-B14F-4D97-AF65-F5344CB8AC3E}">
        <p14:creationId xmlns:p14="http://schemas.microsoft.com/office/powerpoint/2010/main" val="15561386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544CD-A87B-42C1-A7CC-37BC8DA0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6D"/>
                </a:solidFill>
              </a:defRPr>
            </a:pPr>
            <a:r>
              <a:rPr sz="2700" b="1">
                <a:solidFill>
                  <a:srgbClr val="123B6D"/>
                </a:solidFill>
              </a:rPr>
              <a:t>Cloud fluency starts with better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AE248-E38A-4FA2-A0CD-9023C3C9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EFE13-9692-430C-8687-AF923D98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Cloud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4E036-C4E6-4CA6-BA0A-4C903EC3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985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Presented by Gregor von Laszewski (laszewski@gmail.com)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11B3B-D189-4129-88F6-C15B428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943B8-DEC2-4F38-B06A-0E3861C4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2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51247-5D66-42BE-BA60-A2ED6DB7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192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What outcome are we trying to create?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934C2-C8A1-43DC-BE28-2C17D31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B558E-C80E-4868-A335-7650B1A7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What degree of control is actually useful?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ACAC5-A094-4C8B-81F1-C56A7B6A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CE4DC-175F-450E-9FBD-F94D999C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How will this design scale, fail safely, and stay secure?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CB270-CBFC-4516-89D8-8494A984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9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18E0E-EF08-43E1-8012-7A639E27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212B"/>
                </a:solidFill>
              </a:defRPr>
            </a:pPr>
            <a:r>
              <a:rPr sz="1875">
                <a:solidFill>
                  <a:srgbClr val="17212B"/>
                </a:solidFill>
              </a:rPr>
              <a:t>What will we measure—including cost?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664A6-BC4C-4F10-A657-4A1A3C0C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6D"/>
          </a:solidFill>
          <a:ln xmlns:a="http://schemas.openxmlformats.org/drawingml/2006/main" w="9525">
            <a:solidFill>
              <a:srgbClr val="D6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9C707-3025-4917-9E8F-C01C7A89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Next: turning these choices into a repeatable delivery practice with DevOps.</a:t>
            </a:r>
          </a:p>
        </p:txBody>
      </p:sp>
    </p:spTree>
    <p:extLst>
      <p:ext uri="{BB962C8B-B14F-4D97-AF65-F5344CB8AC3E}">
        <p14:creationId xmlns:p14="http://schemas.microsoft.com/office/powerpoint/2010/main" val="25137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2026-07-30T17:52:16.9770000Z</dcterms:created>
  <dcterms:modified xsi:type="dcterms:W3CDTF">2026-07-30T17:52:16.9770000Z</dcterms:modified>
</coreProperties>
</file>