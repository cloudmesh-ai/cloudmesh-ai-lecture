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62.xml" ContentType="application/vnd.openxmlformats-officedocument.presentationml.notesSlide+xml"/>
  <Override PartName="/ppt/notesSlides/notesSlide63.xml" ContentType="application/vnd.openxmlformats-officedocument.presentationml.notesSlide+xml"/>
  <Override PartName="/ppt/notesSlides/notesSlide64.xml" ContentType="application/vnd.openxmlformats-officedocument.presentationml.notesSlide+xml"/>
  <Override PartName="/ppt/notesSlides/notesSlide65.xml" ContentType="application/vnd.openxmlformats-officedocument.presentationml.notesSlide+xml"/>
  <Override PartName="/ppt/notesSlides/notesSlide66.xml" ContentType="application/vnd.openxmlformats-officedocument.presentationml.notesSlide+xml"/>
  <Override PartName="/ppt/notesSlides/notesSlide67.xml" ContentType="application/vnd.openxmlformats-officedocument.presentationml.notesSlide+xml"/>
  <Override PartName="/ppt/notesSlides/notesSlide68.xml" ContentType="application/vnd.openxmlformats-officedocument.presentationml.notesSlide+xml"/>
  <Override PartName="/ppt/notesSlides/notesSlide69.xml" ContentType="application/vnd.openxmlformats-officedocument.presentationml.notesSlide+xml"/>
  <Override PartName="/ppt/notesSlides/notesSlide70.xml" ContentType="application/vnd.openxmlformats-officedocument.presentationml.notesSlide+xml"/>
  <Override PartName="/ppt/notesSlides/notesSlide71.xml" ContentType="application/vnd.openxmlformats-officedocument.presentationml.notesSlide+xml"/>
  <Override PartName="/ppt/notesSlides/notesSlide72.xml" ContentType="application/vnd.openxmlformats-officedocument.presentationml.notesSlide+xml"/>
  <Override PartName="/ppt/notesSlides/notesSlide73.xml" ContentType="application/vnd.openxmlformats-officedocument.presentationml.notesSlide+xml"/>
  <Override PartName="/ppt/notesSlides/notesSlide74.xml" ContentType="application/vnd.openxmlformats-officedocument.presentationml.notesSlide+xml"/>
  <Override PartName="/ppt/notesSlides/notesSlide75.xml" ContentType="application/vnd.openxmlformats-officedocument.presentationml.notesSlide+xml"/>
  <Override PartName="/ppt/notesSlides/notesSlide76.xml" ContentType="application/vnd.openxmlformats-officedocument.presentationml.notesSlide+xml"/>
  <Override PartName="/ppt/notesSlides/notesSlide77.xml" ContentType="application/vnd.openxmlformats-officedocument.presentationml.notesSlide+xml"/>
  <Override PartName="/ppt/notesSlides/notesSlide7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8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  <p:sldId id="303" r:id="rId49"/>
    <p:sldId id="304" r:id="rId50"/>
    <p:sldId id="305" r:id="rId51"/>
    <p:sldId id="306" r:id="rId52"/>
    <p:sldId id="307" r:id="rId53"/>
    <p:sldId id="308" r:id="rId54"/>
    <p:sldId id="309" r:id="rId55"/>
    <p:sldId id="310" r:id="rId56"/>
    <p:sldId id="311" r:id="rId57"/>
    <p:sldId id="312" r:id="rId58"/>
    <p:sldId id="313" r:id="rId59"/>
    <p:sldId id="314" r:id="rId60"/>
    <p:sldId id="315" r:id="rId61"/>
    <p:sldId id="316" r:id="rId62"/>
    <p:sldId id="317" r:id="rId63"/>
    <p:sldId id="318" r:id="rId64"/>
    <p:sldId id="319" r:id="rId65"/>
    <p:sldId id="320" r:id="rId66"/>
    <p:sldId id="321" r:id="rId67"/>
    <p:sldId id="322" r:id="rId68"/>
    <p:sldId id="323" r:id="rId69"/>
    <p:sldId id="324" r:id="rId70"/>
    <p:sldId id="325" r:id="rId71"/>
    <p:sldId id="326" r:id="rId72"/>
    <p:sldId id="327" r:id="rId73"/>
    <p:sldId id="328" r:id="rId74"/>
    <p:sldId id="329" r:id="rId75"/>
    <p:sldId id="330" r:id="rId76"/>
    <p:sldId id="331" r:id="rId77"/>
    <p:sldId id="332" r:id="rId78"/>
    <p:sldId id="333" r:id="rId7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11"/>
    <p:restoredTop sz="94658"/>
  </p:normalViewPr>
  <p:slideViewPr>
    <p:cSldViewPr snapToGrid="0">
      <p:cViewPr varScale="1">
        <p:scale>
          <a:sx n="120" d="100"/>
          <a:sy n="120" d="100"/>
        </p:scale>
        <p:origin x="800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84" Type="http://schemas.openxmlformats.org/officeDocument/2006/relationships/tableStyles" Target="tableStyles.xml"/><Relationship Id="rId16" Type="http://schemas.openxmlformats.org/officeDocument/2006/relationships/slide" Target="slides/slide15.xml"/><Relationship Id="rId11" Type="http://schemas.openxmlformats.org/officeDocument/2006/relationships/slide" Target="slides/slide10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74" Type="http://schemas.openxmlformats.org/officeDocument/2006/relationships/slide" Target="slides/slide73.xml"/><Relationship Id="rId79" Type="http://schemas.openxmlformats.org/officeDocument/2006/relationships/slide" Target="slides/slide78.xml"/><Relationship Id="rId5" Type="http://schemas.openxmlformats.org/officeDocument/2006/relationships/slide" Target="slides/slide4.xml"/><Relationship Id="rId61" Type="http://schemas.openxmlformats.org/officeDocument/2006/relationships/slide" Target="slides/slide60.xml"/><Relationship Id="rId82" Type="http://schemas.openxmlformats.org/officeDocument/2006/relationships/viewProps" Target="viewProps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77" Type="http://schemas.openxmlformats.org/officeDocument/2006/relationships/slide" Target="slides/slide76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80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slide" Target="slides/slide69.xml"/><Relationship Id="rId75" Type="http://schemas.openxmlformats.org/officeDocument/2006/relationships/slide" Target="slides/slide74.xml"/><Relationship Id="rId83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slide" Target="slides/slide72.xml"/><Relationship Id="rId78" Type="http://schemas.openxmlformats.org/officeDocument/2006/relationships/slide" Target="slides/slide77.xml"/><Relationship Id="rId81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slide" Target="slides/slide75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2" Type="http://schemas.openxmlformats.org/officeDocument/2006/relationships/slide" Target="slides/slide1.xml"/><Relationship Id="rId29" Type="http://schemas.openxmlformats.org/officeDocument/2006/relationships/slide" Target="slides/slide28.xml"/><Relationship Id="rId24" Type="http://schemas.openxmlformats.org/officeDocument/2006/relationships/slide" Target="slides/slide23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66" Type="http://schemas.openxmlformats.org/officeDocument/2006/relationships/slide" Target="slides/slide65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2.xml"/><Relationship Id="rId1" Type="http://schemas.openxmlformats.org/officeDocument/2006/relationships/notesMaster" Target="../notesMasters/notesMaster1.xml"/></Relationships>
</file>

<file path=ppt/notesSlides/_rels/notesSlide5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3.xml"/><Relationship Id="rId1" Type="http://schemas.openxmlformats.org/officeDocument/2006/relationships/notesMaster" Target="../notesMasters/notesMaster1.xml"/></Relationships>
</file>

<file path=ppt/notesSlides/_rels/notesSlide5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4.xml"/><Relationship Id="rId1" Type="http://schemas.openxmlformats.org/officeDocument/2006/relationships/notesMaster" Target="../notesMasters/notesMaster1.xml"/></Relationships>
</file>

<file path=ppt/notesSlides/_rels/notesSlide5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5.xml"/><Relationship Id="rId1" Type="http://schemas.openxmlformats.org/officeDocument/2006/relationships/notesMaster" Target="../notesMasters/notesMaster1.xml"/></Relationships>
</file>

<file path=ppt/notesSlides/_rels/notesSlide5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6.xml"/><Relationship Id="rId1" Type="http://schemas.openxmlformats.org/officeDocument/2006/relationships/notesMaster" Target="../notesMasters/notesMaster1.xml"/></Relationships>
</file>

<file path=ppt/notesSlides/_rels/notesSlide5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7.xml"/><Relationship Id="rId1" Type="http://schemas.openxmlformats.org/officeDocument/2006/relationships/notesMaster" Target="../notesMasters/notesMaster1.xml"/></Relationships>
</file>

<file path=ppt/notesSlides/_rels/notesSlide5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8.xml"/><Relationship Id="rId1" Type="http://schemas.openxmlformats.org/officeDocument/2006/relationships/notesMaster" Target="../notesMasters/notesMaster1.xml"/></Relationships>
</file>

<file path=ppt/notesSlides/_rels/notesSlide5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9.xml"/><Relationship Id="rId1" Type="http://schemas.openxmlformats.org/officeDocument/2006/relationships/notesMaster" Target="../notesMasters/notesMaster1.xml"/></Relationships>
</file>

<file path=ppt/notesSlides/_rels/notesSlide6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0.xml"/><Relationship Id="rId1" Type="http://schemas.openxmlformats.org/officeDocument/2006/relationships/notesMaster" Target="../notesMasters/notesMaster1.xml"/></Relationships>
</file>

<file path=ppt/notesSlides/_rels/notesSlide6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1.xml"/><Relationship Id="rId1" Type="http://schemas.openxmlformats.org/officeDocument/2006/relationships/notesMaster" Target="../notesMasters/notesMaster1.xml"/></Relationships>
</file>

<file path=ppt/notesSlides/_rels/notesSlide6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2.xml"/><Relationship Id="rId1" Type="http://schemas.openxmlformats.org/officeDocument/2006/relationships/notesMaster" Target="../notesMasters/notesMaster1.xml"/></Relationships>
</file>

<file path=ppt/notesSlides/_rels/notesSlide6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3.xml"/><Relationship Id="rId1" Type="http://schemas.openxmlformats.org/officeDocument/2006/relationships/notesMaster" Target="../notesMasters/notesMaster1.xml"/></Relationships>
</file>

<file path=ppt/notesSlides/_rels/notesSlide6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4.xml"/><Relationship Id="rId1" Type="http://schemas.openxmlformats.org/officeDocument/2006/relationships/notesMaster" Target="../notesMasters/notesMaster1.xml"/></Relationships>
</file>

<file path=ppt/notesSlides/_rels/notesSlide6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5.xml"/><Relationship Id="rId1" Type="http://schemas.openxmlformats.org/officeDocument/2006/relationships/notesMaster" Target="../notesMasters/notesMaster1.xml"/></Relationships>
</file>

<file path=ppt/notesSlides/_rels/notesSlide6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6.xml"/><Relationship Id="rId1" Type="http://schemas.openxmlformats.org/officeDocument/2006/relationships/notesMaster" Target="../notesMasters/notesMaster1.xml"/></Relationships>
</file>

<file path=ppt/notesSlides/_rels/notesSlide6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7.xml"/><Relationship Id="rId1" Type="http://schemas.openxmlformats.org/officeDocument/2006/relationships/notesMaster" Target="../notesMasters/notesMaster1.xml"/></Relationships>
</file>

<file path=ppt/notesSlides/_rels/notesSlide6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8.xml"/><Relationship Id="rId1" Type="http://schemas.openxmlformats.org/officeDocument/2006/relationships/notesMaster" Target="../notesMasters/notesMaster1.xml"/></Relationships>
</file>

<file path=ppt/notesSlides/_rels/notesSlide6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9.xml"/><Relationship Id="rId1" Type="http://schemas.openxmlformats.org/officeDocument/2006/relationships/notesMaster" Target="../notesMasters/notesMaster1.xml"/></Relationships>
</file>

<file path=ppt/notesSlides/_rels/notesSlide7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0.xml"/><Relationship Id="rId1" Type="http://schemas.openxmlformats.org/officeDocument/2006/relationships/notesMaster" Target="../notesMasters/notesMaster1.xml"/></Relationships>
</file>

<file path=ppt/notesSlides/_rels/notesSlide7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1.xml"/><Relationship Id="rId1" Type="http://schemas.openxmlformats.org/officeDocument/2006/relationships/notesMaster" Target="../notesMasters/notesMaster1.xml"/></Relationships>
</file>

<file path=ppt/notesSlides/_rels/notesSlide7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2.xml"/><Relationship Id="rId1" Type="http://schemas.openxmlformats.org/officeDocument/2006/relationships/notesMaster" Target="../notesMasters/notesMaster1.xml"/></Relationships>
</file>

<file path=ppt/notesSlides/_rels/notesSlide7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3.xml"/><Relationship Id="rId1" Type="http://schemas.openxmlformats.org/officeDocument/2006/relationships/notesMaster" Target="../notesMasters/notesMaster1.xml"/></Relationships>
</file>

<file path=ppt/notesSlides/_rels/notesSlide7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4.xml"/><Relationship Id="rId1" Type="http://schemas.openxmlformats.org/officeDocument/2006/relationships/notesMaster" Target="../notesMasters/notesMaster1.xml"/></Relationships>
</file>

<file path=ppt/notesSlides/_rels/notesSlide7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5.xml"/><Relationship Id="rId1" Type="http://schemas.openxmlformats.org/officeDocument/2006/relationships/notesMaster" Target="../notesMasters/notesMaster1.xml"/></Relationships>
</file>

<file path=ppt/notesSlides/_rels/notesSlide7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6.xml"/><Relationship Id="rId1" Type="http://schemas.openxmlformats.org/officeDocument/2006/relationships/notesMaster" Target="../notesMasters/notesMaster1.xml"/></Relationships>
</file>

<file path=ppt/notesSlides/_rels/notesSlide7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7.xml"/><Relationship Id="rId1" Type="http://schemas.openxmlformats.org/officeDocument/2006/relationships/notesMaster" Target="../notesMasters/notesMaster1.xml"/></Relationships>
</file>

<file path=ppt/notesSlides/_rels/notesSlide7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Suggested pacing: about 2 minutes. Open the revised class and explain that the slide rhythm supports explanation, examples, and questions.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Suggested pacing: about 2 minutes. Explain the idea, add a brief example, and invite one question.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Suggested pacing: about 2 minutes. Explain the idea, add a brief example, and invite one question.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Suggested pacing: about 2 minutes. Explain the idea, add a brief example, and invite one question.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Suggested pacing: about 2 minutes. Explain the idea, add a brief example, and invite one question.</a:t>
            </a:r>
          </a:p>
          <a:p>
            <a:endParaRPr/>
          </a:p>
          <a:p>
            <a:r>
              <a:t>[Sources]</a:t>
            </a:r>
          </a:p>
          <a:p>
            <a:r>
              <a:t>NIST SP 800-145, The NIST Definition of Cloud Computing. https://doi.org/10.6028/NIST.SP.800-145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Suggested pacing: about 2 minutes. Explain the idea, add a brief example, and invite one question.</a:t>
            </a:r>
          </a:p>
          <a:p>
            <a:endParaRPr/>
          </a:p>
          <a:p>
            <a:r>
              <a:t>[Sources]</a:t>
            </a:r>
          </a:p>
          <a:p>
            <a:r>
              <a:t>NIST SP 800-145, The NIST Definition of Cloud Computing. https://doi.org/10.6028/NIST.SP.800-145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Suggested pacing: about 2 minutes. Explain the idea, add a brief example, and invite one question.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Suggested pacing: about 2 minutes. Explain the idea, add a brief example, and invite one question.</a:t>
            </a:r>
          </a:p>
          <a:p>
            <a:endParaRPr/>
          </a:p>
          <a:p>
            <a:r>
              <a:t>[Sources]</a:t>
            </a:r>
          </a:p>
          <a:p>
            <a:r>
              <a:t>NIST SP 800-145, The NIST Definition of Cloud Computing. https://doi.org/10.6028/NIST.SP.800-145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Suggested pacing: about 2 minutes. Explain the idea, add a brief example, and invite one question.</a:t>
            </a:r>
          </a:p>
          <a:p>
            <a:endParaRPr/>
          </a:p>
          <a:p>
            <a:r>
              <a:t>[Sources]</a:t>
            </a:r>
          </a:p>
          <a:p>
            <a:r>
              <a:t>NIST SP 800-145, The NIST Definition of Cloud Computing. https://doi.org/10.6028/NIST.SP.800-145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Suggested pacing: about 2 minutes. Explain the idea, add a brief example, and invite one question.</a:t>
            </a:r>
          </a:p>
          <a:p>
            <a:endParaRPr/>
          </a:p>
          <a:p>
            <a:r>
              <a:t>[Sources]</a:t>
            </a:r>
          </a:p>
          <a:p>
            <a:r>
              <a:t>NIST SP 800-145, The NIST Definition of Cloud Computing. https://doi.org/10.6028/NIST.SP.800-145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Suggested pacing: about 2 minutes. Explain the idea, add a brief example, and invite one question.</a:t>
            </a:r>
          </a:p>
          <a:p>
            <a:endParaRPr/>
          </a:p>
          <a:p>
            <a:r>
              <a:t>[Sources]</a:t>
            </a:r>
          </a:p>
          <a:p>
            <a:r>
              <a:t>NIST SP 800-145, The NIST Definition of Cloud Computing. https://doi.org/10.6028/NIST.SP.800-145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Suggested pacing: about 2 minutes. Explain the idea, add a brief example, and invite one question.</a:t>
            </a:r>
          </a:p>
          <a:p>
            <a:endParaRPr/>
          </a:p>
          <a:p>
            <a:r>
              <a:t>[Sources]</a:t>
            </a:r>
          </a:p>
          <a:p>
            <a:r>
              <a:t>NIST SP 800-145, The NIST Definition of Cloud Computing. https://doi.org/10.6028/NIST.SP.800-145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Suggested pacing: about 2 minutes. Explain the idea, add a brief example, and invite one question.</a:t>
            </a:r>
          </a:p>
          <a:p>
            <a:endParaRPr/>
          </a:p>
          <a:p>
            <a:r>
              <a:t>[Sources]</a:t>
            </a:r>
          </a:p>
          <a:p>
            <a:r>
              <a:t>NIST SP 800-145, The NIST Definition of Cloud Computing. https://doi.org/10.6028/NIST.SP.800-145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Suggested pacing: about 2 minutes. Explain the idea, add a brief example, and invite one question.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Suggested pacing: about 2 minutes. Explain the idea, add a brief example, and invite one question.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Suggested pacing: about 2 minutes. Explain the idea, add a brief example, and invite one question.</a:t>
            </a:r>
          </a:p>
          <a:p>
            <a:endParaRPr/>
          </a:p>
          <a:p>
            <a:r>
              <a:t>[Sources]</a:t>
            </a:r>
          </a:p>
          <a:p>
            <a:r>
              <a:t>NIST SP 800-145, The NIST Definition of Cloud Computing. https://doi.org/10.6028/NIST.SP.800-145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Suggested pacing: about 2 minutes. Explain the idea, add a brief example, and invite one question.</a:t>
            </a:r>
          </a:p>
          <a:p>
            <a:endParaRPr/>
          </a:p>
          <a:p>
            <a:r>
              <a:t>[Sources]</a:t>
            </a:r>
          </a:p>
          <a:p>
            <a:r>
              <a:t>NIST SP 800-145, The NIST Definition of Cloud Computing. https://doi.org/10.6028/NIST.SP.800-145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Suggested pacing: about 2 minutes. Explain the idea, add a brief example, and invite one question.</a:t>
            </a:r>
          </a:p>
          <a:p>
            <a:endParaRPr/>
          </a:p>
          <a:p>
            <a:r>
              <a:t>[Sources]</a:t>
            </a:r>
          </a:p>
          <a:p>
            <a:r>
              <a:t>NIST SP 800-145, The NIST Definition of Cloud Computing. https://doi.org/10.6028/NIST.SP.800-145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Suggested pacing: about 2 minutes. Explain the idea, add a brief example, and invite one question.</a:t>
            </a:r>
          </a:p>
          <a:p>
            <a:endParaRPr/>
          </a:p>
          <a:p>
            <a:r>
              <a:t>[Sources]</a:t>
            </a:r>
          </a:p>
          <a:p>
            <a:r>
              <a:t>NIST SP 800-145, The NIST Definition of Cloud Computing. https://doi.org/10.6028/NIST.SP.800-145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Suggested pacing: about 2 minutes. Explain the idea, add a brief example, and invite one question.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Suggested pacing: about 2 minutes. Explain the idea, add a brief example, and invite one question.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Suggested pacing: about 2 minutes. Explain the idea, add a brief example, and invite one question.</a:t>
            </a:r>
          </a:p>
          <a:p>
            <a:endParaRPr/>
          </a:p>
          <a:p>
            <a:r>
              <a:t>[Sources]</a:t>
            </a:r>
          </a:p>
          <a:p>
            <a:r>
              <a:t>NIST SP 800-145, The NIST Definition of Cloud Computing. https://doi.org/10.6028/NIST.SP.800-145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Suggested pacing: about 2 minutes. Explain the idea, add a brief example, and invite one question.</a:t>
            </a:r>
          </a:p>
          <a:p>
            <a:endParaRPr/>
          </a:p>
          <a:p>
            <a:r>
              <a:t>[Sources]</a:t>
            </a:r>
          </a:p>
          <a:p>
            <a:r>
              <a:t>NIST SP 800-145, The NIST Definition of Cloud Computing. https://doi.org/10.6028/NIST.SP.800-145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Suggested pacing: about 2 minutes. Explain the idea, add a brief example, and invite one question.</a:t>
            </a:r>
          </a:p>
          <a:p>
            <a:endParaRPr/>
          </a:p>
          <a:p>
            <a:r>
              <a:t>[Sources]</a:t>
            </a:r>
          </a:p>
          <a:p>
            <a:r>
              <a:t>NIST SP 800-145, The NIST Definition of Cloud Computing. https://doi.org/10.6028/NIST.SP.800-145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Suggested pacing: about 2 minutes. Explain the idea, add a brief example, and invite one question.</a:t>
            </a:r>
          </a:p>
          <a:p>
            <a:endParaRPr/>
          </a:p>
          <a:p>
            <a:r>
              <a:t>[Sources]</a:t>
            </a:r>
          </a:p>
          <a:p>
            <a:r>
              <a:t>NIST SP 800-145, The NIST Definition of Cloud Computing. https://doi.org/10.6028/NIST.SP.800-145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Suggested pacing: about 2 minutes. Explain the idea, add a brief example, and invite one question.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Suggested pacing: about 2 minutes. Explain the idea, add a brief example, and invite one question.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Suggested pacing: about 2 minutes. Use this transition to connect the previous section to the next set of design decisions.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Suggested pacing: about 2 minutes. Explain the idea, add a brief example, and invite one question.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Suggested pacing: about 2 minutes. Explain the idea, add a brief example, and invite one question.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Suggested pacing: about 2 minutes. Explain the idea, add a brief example, and invite one question.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Suggested pacing: about 2 minutes. Explain the idea, add a brief example, and invite one question.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Suggested pacing: about 2 minutes. Explain the idea, add a brief example, and invite one question.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Suggested pacing: about 2 minutes. Explain the idea, add a brief example, and invite one question.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Suggested pacing: about 2 minutes. Explain the idea, add a brief example, and invite one question.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Suggested pacing: about 2 minutes. Explain the idea, add a brief example, and invite one question.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Suggested pacing: about 2 minutes. Explain the idea, add a brief example, and invite one question.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Suggested pacing: about 2 minutes. Explain the idea, add a brief example, and invite one question.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Suggested pacing: about 2 minutes. Explain the idea, add a brief example, and invite one question.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Suggested pacing: about 2 minutes. Explain the idea, add a brief example, and invite one question.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Suggested pacing: about 2 minutes. Explain the idea, add a brief example, and invite one question.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Suggested pacing: about 2 minutes. Explain the idea, add a brief example, and invite one question.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Suggested pacing: about 2 minutes. Explain the idea, add a brief example, and invite one question.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Suggested pacing: about 2 minutes. Explain the idea, add a brief example, and invite one question.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Suggested pacing: about 2 minutes. Explain the idea, add a brief example, and invite one question.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Suggested pacing: about 2 minutes. Explain the idea, add a brief example, and invite one question.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Suggested pacing: about 2 minutes. Explain the idea, add a brief example, and invite one question.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Suggested pacing: about 2 minutes. Explain the idea, add a brief example, and invite one question.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Suggested pacing: about 2 minutes. Explain the idea, add a brief example, and invite one question.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Suggested pacing: about 2 minutes. Explain the idea, add a brief example, and invite one question.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Suggested pacing: about 2 minutes. Explain the idea, add a brief example, and invite one question.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Suggested pacing: about 2 minutes. Explain the idea, add a brief example, and invite one question.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Suggested pacing: about 2 minutes. Explain the idea, add a brief example, and invite one question.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Suggested pacing: about 2 minutes. Explain the idea, add a brief example, and invite one question.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Suggested pacing: about 2 minutes. Explain the idea, add a brief example, and invite one question.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Suggested pacing: about 2 minutes. Explain the idea, add a brief example, and invite one question.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Suggested pacing: about 2 minutes. Explain the idea, add a brief example, and invite one question.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Suggested pacing: about 2 minutes. Explain the idea, add a brief example, and invite one question.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Suggested pacing: about 2 minutes. Explain the idea, add a brief example, and invite one question.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Suggested pacing: about 2 minutes. Explain the idea, add a brief example, and invite one question.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Suggested pacing: about 2 minutes. Explain the idea, add a brief example, and invite one question.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Suggested pacing: about 2 minutes. Explain the idea, add a brief example, and invite one question.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Suggested pacing: about 2 minutes. Explain the idea, add a brief example, and invite one question.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6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Suggested pacing: about 2 minutes. Explain the idea, add a brief example, and invite one question.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6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Suggested pacing: about 2 minutes. Explain the idea, add a brief example, and invite one question.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6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Suggested pacing: about 2 minutes. Explain the idea, add a brief example, and invite one question.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6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Suggested pacing: about 2 minutes. Explain the idea, add a brief example, and invite one question.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6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Suggested pacing: about 2 minutes. Explain the idea, add a brief example, and invite one question.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6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Suggested pacing: about 2 minutes. Explain the idea, add a brief example, and invite one question.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7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Suggested pacing: about 2 minutes. Explain the idea, add a brief example, and invite one question.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7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Suggested pacing: about 2 minutes. Explain the idea, add a brief example, and invite one question.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7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Suggested pacing: about 2 minutes. Explain the idea, add a brief example, and invite one question.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7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Suggested pacing: about 2 minutes. Explain the idea, add a brief example, and invite one question.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7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Suggested pacing: about 2 minutes. Explain the idea, add a brief example, and invite one question.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7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Suggested pacing: about 2 minutes. Explain the idea, add a brief example, and invite one question.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7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Suggested pacing: about 2 minutes. Explain the idea, add a brief example, and invite one question.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7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Suggested pacing: about 2 minutes. Explain the idea, add a brief example, and invite one question.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7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Suggested pacing: about 2 minutes. Explain the idea, add a brief example, and invite one question.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1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1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1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1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1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1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1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1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1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1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1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1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1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1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1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6.xml"/><Relationship Id="rId1" Type="http://schemas.openxmlformats.org/officeDocument/2006/relationships/slideLayout" Target="../slideLayouts/slideLayout1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7.xml"/><Relationship Id="rId1" Type="http://schemas.openxmlformats.org/officeDocument/2006/relationships/slideLayout" Target="../slideLayouts/slideLayout1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8.xml"/><Relationship Id="rId1" Type="http://schemas.openxmlformats.org/officeDocument/2006/relationships/slideLayout" Target="../slideLayouts/slideLayout1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9.xml"/><Relationship Id="rId1" Type="http://schemas.openxmlformats.org/officeDocument/2006/relationships/slideLayout" Target="../slideLayouts/slideLayout1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0.xml"/><Relationship Id="rId1" Type="http://schemas.openxmlformats.org/officeDocument/2006/relationships/slideLayout" Target="../slideLayouts/slideLayout1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1.xml"/><Relationship Id="rId1" Type="http://schemas.openxmlformats.org/officeDocument/2006/relationships/slideLayout" Target="../slideLayouts/slideLayout1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2.xml"/><Relationship Id="rId1" Type="http://schemas.openxmlformats.org/officeDocument/2006/relationships/slideLayout" Target="../slideLayouts/slideLayout1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3.xml"/><Relationship Id="rId1" Type="http://schemas.openxmlformats.org/officeDocument/2006/relationships/slideLayout" Target="../slideLayouts/slideLayout1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4.xml"/><Relationship Id="rId1" Type="http://schemas.openxmlformats.org/officeDocument/2006/relationships/slideLayout" Target="../slideLayouts/slideLayout1.xml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5.xml"/><Relationship Id="rId1" Type="http://schemas.openxmlformats.org/officeDocument/2006/relationships/slideLayout" Target="../slideLayouts/slideLayout1.xml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6.xml"/><Relationship Id="rId1" Type="http://schemas.openxmlformats.org/officeDocument/2006/relationships/slideLayout" Target="../slideLayouts/slideLayout1.xml"/></Relationships>
</file>

<file path=ppt/slides/_rels/slide5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7.xml"/><Relationship Id="rId1" Type="http://schemas.openxmlformats.org/officeDocument/2006/relationships/slideLayout" Target="../slideLayouts/slideLayout1.xml"/></Relationships>
</file>

<file path=ppt/slides/_rels/slide5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8.xml"/><Relationship Id="rId1" Type="http://schemas.openxmlformats.org/officeDocument/2006/relationships/slideLayout" Target="../slideLayouts/slideLayout1.xml"/></Relationships>
</file>

<file path=ppt/slides/_rels/slide5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9.xml"/><Relationship Id="rId1" Type="http://schemas.openxmlformats.org/officeDocument/2006/relationships/slideLayout" Target="../slideLayouts/slideLayout1.xml"/></Relationships>
</file>

<file path=ppt/slides/_rels/slide6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0.xml"/><Relationship Id="rId1" Type="http://schemas.openxmlformats.org/officeDocument/2006/relationships/slideLayout" Target="../slideLayouts/slideLayout1.xml"/></Relationships>
</file>

<file path=ppt/slides/_rels/slide6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1.xml"/><Relationship Id="rId1" Type="http://schemas.openxmlformats.org/officeDocument/2006/relationships/slideLayout" Target="../slideLayouts/slideLayout1.xml"/></Relationships>
</file>

<file path=ppt/slides/_rels/slide6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2.xml"/><Relationship Id="rId1" Type="http://schemas.openxmlformats.org/officeDocument/2006/relationships/slideLayout" Target="../slideLayouts/slideLayout1.xml"/></Relationships>
</file>

<file path=ppt/slides/_rels/slide6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3.xml"/><Relationship Id="rId1" Type="http://schemas.openxmlformats.org/officeDocument/2006/relationships/slideLayout" Target="../slideLayouts/slideLayout1.xml"/></Relationships>
</file>

<file path=ppt/slides/_rels/slide6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4.xml"/><Relationship Id="rId1" Type="http://schemas.openxmlformats.org/officeDocument/2006/relationships/slideLayout" Target="../slideLayouts/slideLayout1.xml"/></Relationships>
</file>

<file path=ppt/slides/_rels/slide6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5.xml"/><Relationship Id="rId1" Type="http://schemas.openxmlformats.org/officeDocument/2006/relationships/slideLayout" Target="../slideLayouts/slideLayout1.xml"/></Relationships>
</file>

<file path=ppt/slides/_rels/slide6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6.xml"/><Relationship Id="rId1" Type="http://schemas.openxmlformats.org/officeDocument/2006/relationships/slideLayout" Target="../slideLayouts/slideLayout1.xml"/></Relationships>
</file>

<file path=ppt/slides/_rels/slide6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7.xml"/><Relationship Id="rId1" Type="http://schemas.openxmlformats.org/officeDocument/2006/relationships/slideLayout" Target="../slideLayouts/slideLayout1.xml"/></Relationships>
</file>

<file path=ppt/slides/_rels/slide6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8.xml"/><Relationship Id="rId1" Type="http://schemas.openxmlformats.org/officeDocument/2006/relationships/slideLayout" Target="../slideLayouts/slideLayout1.xml"/></Relationships>
</file>

<file path=ppt/slides/_rels/slide6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9.xml"/><Relationship Id="rId1" Type="http://schemas.openxmlformats.org/officeDocument/2006/relationships/slideLayout" Target="../slideLayouts/slideLayout1.xml"/></Relationships>
</file>

<file path=ppt/slides/_rels/slide7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0.xml"/><Relationship Id="rId1" Type="http://schemas.openxmlformats.org/officeDocument/2006/relationships/slideLayout" Target="../slideLayouts/slideLayout1.xml"/></Relationships>
</file>

<file path=ppt/slides/_rels/slide7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1.xml"/><Relationship Id="rId1" Type="http://schemas.openxmlformats.org/officeDocument/2006/relationships/slideLayout" Target="../slideLayouts/slideLayout1.xml"/></Relationships>
</file>

<file path=ppt/slides/_rels/slide7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2.xml"/><Relationship Id="rId1" Type="http://schemas.openxmlformats.org/officeDocument/2006/relationships/slideLayout" Target="../slideLayouts/slideLayout1.xml"/></Relationships>
</file>

<file path=ppt/slides/_rels/slide7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3.xml"/><Relationship Id="rId1" Type="http://schemas.openxmlformats.org/officeDocument/2006/relationships/slideLayout" Target="../slideLayouts/slideLayout1.xml"/></Relationships>
</file>

<file path=ppt/slides/_rels/slide7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4.xml"/><Relationship Id="rId1" Type="http://schemas.openxmlformats.org/officeDocument/2006/relationships/slideLayout" Target="../slideLayouts/slideLayout1.xml"/></Relationships>
</file>

<file path=ppt/slides/_rels/slide7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5.xml"/><Relationship Id="rId1" Type="http://schemas.openxmlformats.org/officeDocument/2006/relationships/slideLayout" Target="../slideLayouts/slideLayout1.xml"/></Relationships>
</file>

<file path=ppt/slides/_rels/slide7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6.xml"/><Relationship Id="rId1" Type="http://schemas.openxmlformats.org/officeDocument/2006/relationships/slideLayout" Target="../slideLayouts/slideLayout1.xml"/></Relationships>
</file>

<file path=ppt/slides/_rels/slide7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7.xml"/><Relationship Id="rId1" Type="http://schemas.openxmlformats.org/officeDocument/2006/relationships/slideLayout" Target="../slideLayouts/slideLayout1.xml"/></Relationships>
</file>

<file path=ppt/slides/_rels/slide7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8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12">
            <a:extLst>
              <a:ext uri="{FF2B5EF4-FFF2-40B4-BE49-F238E27FC236}">
                <a16:creationId xmlns:a16="http://schemas.microsoft.com/office/drawing/2014/main" id="{0DE36F4E-DBCE-42B6-A422-F0A1B0A5B430}"/>
              </a:ext>
            </a:extLst>
          </p:cNvPr>
          <p:cNvSpPr>
            <a:spLocks noGrp="1"/>
          </p:cNvSpPr>
          <p:nvPr/>
        </p:nvSpPr>
        <p:spPr>
          <a:xfrm>
            <a:off x="685800" y="742950"/>
            <a:ext cx="114300" cy="4476750"/>
          </a:xfrm>
          <a:prstGeom prst="rect">
            <a:avLst/>
          </a:prstGeom>
          <a:solidFill>
            <a:srgbClr val="123B6D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E295C895-B9AD-4F3E-A76D-F546A8D185D8}"/>
              </a:ext>
            </a:extLst>
          </p:cNvPr>
          <p:cNvSpPr>
            <a:spLocks noGrp="1"/>
          </p:cNvSpPr>
          <p:nvPr/>
        </p:nvSpPr>
        <p:spPr>
          <a:xfrm>
            <a:off x="1104900" y="1276350"/>
            <a:ext cx="7620000" cy="742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4500" b="1">
                <a:solidFill>
                  <a:srgbClr val="123B6D"/>
                </a:solidFill>
              </a:defRPr>
            </a:pPr>
            <a:r>
              <a:rPr sz="4500" b="1">
                <a:solidFill>
                  <a:srgbClr val="123B6D"/>
                </a:solidFill>
              </a:rPr>
              <a:t>Cloud Computing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2E511ED2-9E48-4F8A-B441-2ED9FD7A3B42}"/>
              </a:ext>
            </a:extLst>
          </p:cNvPr>
          <p:cNvSpPr>
            <a:spLocks noGrp="1"/>
          </p:cNvSpPr>
          <p:nvPr/>
        </p:nvSpPr>
        <p:spPr>
          <a:xfrm>
            <a:off x="1143000" y="2286000"/>
            <a:ext cx="61912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2250">
                <a:solidFill>
                  <a:srgbClr val="52606D"/>
                </a:solidFill>
              </a:defRPr>
            </a:pPr>
            <a:r>
              <a:rPr sz="2250">
                <a:solidFill>
                  <a:srgbClr val="52606D"/>
                </a:solidFill>
              </a:rPr>
              <a:t>Detailed 2½-hour class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3B1CDE88-ED6B-4807-8202-E0DCE5ACFEED}"/>
              </a:ext>
            </a:extLst>
          </p:cNvPr>
          <p:cNvSpPr>
            <a:spLocks noGrp="1"/>
          </p:cNvSpPr>
          <p:nvPr/>
        </p:nvSpPr>
        <p:spPr>
          <a:xfrm>
            <a:off x="1143000" y="2895600"/>
            <a:ext cx="59055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500" b="1">
                <a:solidFill>
                  <a:srgbClr val="38699C"/>
                </a:solidFill>
              </a:defRPr>
            </a:pPr>
            <a:r>
              <a:rPr sz="1500" b="1">
                <a:solidFill>
                  <a:srgbClr val="38699C"/>
                </a:solidFill>
              </a:rPr>
              <a:t>78 slides · about 2 minutes each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AB90A8A6-4C27-49EA-9DA3-63CE314B79AB}"/>
              </a:ext>
            </a:extLst>
          </p:cNvPr>
          <p:cNvSpPr>
            <a:spLocks noGrp="1"/>
          </p:cNvSpPr>
          <p:nvPr/>
        </p:nvSpPr>
        <p:spPr>
          <a:xfrm>
            <a:off x="1143000" y="3581400"/>
            <a:ext cx="609600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500">
                <a:solidFill>
                  <a:srgbClr val="17212B"/>
                </a:solidFill>
              </a:defRPr>
            </a:pPr>
            <a:r>
              <a:rPr sz="1500">
                <a:solidFill>
                  <a:srgbClr val="17212B"/>
                </a:solidFill>
              </a:rPr>
              <a:t>Gregor von Laszewski</a:t>
            </a:r>
          </a:p>
          <a:p>
            <a:pPr>
              <a:defRPr sz="1500">
                <a:solidFill>
                  <a:srgbClr val="17212B"/>
                </a:solidFill>
              </a:defRPr>
            </a:pPr>
            <a:r>
              <a:rPr sz="1500">
                <a:solidFill>
                  <a:srgbClr val="17212B"/>
                </a:solidFill>
              </a:rPr>
              <a:t>laszewski@gmail.com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DBD0A176-4F5C-47D7-A207-E786AB9CFE5E}"/>
              </a:ext>
            </a:extLst>
          </p:cNvPr>
          <p:cNvSpPr>
            <a:spLocks noGrp="1"/>
          </p:cNvSpPr>
          <p:nvPr/>
        </p:nvSpPr>
        <p:spPr>
          <a:xfrm>
            <a:off x="8953500" y="800100"/>
            <a:ext cx="1885950" cy="1885950"/>
          </a:xfrm>
          <a:prstGeom prst="rect">
            <a:avLst/>
          </a:prstGeom>
          <a:solidFill>
            <a:srgbClr val="EAF2FA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EC39AFD3-B036-4342-ACBC-BD00C6FDC497}"/>
              </a:ext>
            </a:extLst>
          </p:cNvPr>
          <p:cNvSpPr>
            <a:spLocks noGrp="1"/>
          </p:cNvSpPr>
          <p:nvPr/>
        </p:nvSpPr>
        <p:spPr>
          <a:xfrm>
            <a:off x="9239250" y="1200150"/>
            <a:ext cx="1314450" cy="704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4500" b="1">
                <a:solidFill>
                  <a:srgbClr val="123B6D"/>
                </a:solidFill>
              </a:defRPr>
            </a:pPr>
            <a:r>
              <a:rPr sz="4500" b="1">
                <a:solidFill>
                  <a:srgbClr val="123B6D"/>
                </a:solidFill>
              </a:rPr>
              <a:t>78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537FDDC6-99AF-4BBC-ADCB-F747336EBC16}"/>
              </a:ext>
            </a:extLst>
          </p:cNvPr>
          <p:cNvSpPr>
            <a:spLocks noGrp="1"/>
          </p:cNvSpPr>
          <p:nvPr/>
        </p:nvSpPr>
        <p:spPr>
          <a:xfrm>
            <a:off x="9239250" y="2057400"/>
            <a:ext cx="13144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050" b="1">
                <a:solidFill>
                  <a:srgbClr val="38699C"/>
                </a:solidFill>
              </a:defRPr>
            </a:pPr>
            <a:r>
              <a:rPr sz="1050" b="1">
                <a:solidFill>
                  <a:srgbClr val="38699C"/>
                </a:solidFill>
              </a:rPr>
              <a:t>SLIDES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6DCD48B7-B1E9-4632-88D2-50F4132B8EA5}"/>
              </a:ext>
            </a:extLst>
          </p:cNvPr>
          <p:cNvSpPr>
            <a:spLocks noGrp="1"/>
          </p:cNvSpPr>
          <p:nvPr/>
        </p:nvSpPr>
        <p:spPr>
          <a:xfrm>
            <a:off x="1143000" y="5410200"/>
            <a:ext cx="7905750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650">
                <a:solidFill>
                  <a:srgbClr val="17212B"/>
                </a:solidFill>
              </a:defRPr>
            </a:pPr>
            <a:r>
              <a:rPr sz="1650">
                <a:solidFill>
                  <a:srgbClr val="17212B"/>
                </a:solidFill>
              </a:rPr>
              <a:t>A detailed foundation for cloud concepts, architecture, operations, and design decisions.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109C7786-08A5-49B6-A778-F98960D291DD}"/>
              </a:ext>
            </a:extLst>
          </p:cNvPr>
          <p:cNvSpPr>
            <a:spLocks noGrp="1"/>
          </p:cNvSpPr>
          <p:nvPr/>
        </p:nvSpPr>
        <p:spPr>
          <a:xfrm>
            <a:off x="685800" y="6419850"/>
            <a:ext cx="2143125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975">
                <a:solidFill>
                  <a:srgbClr val="52606D"/>
                </a:solidFill>
              </a:defRPr>
            </a:pPr>
            <a:r>
              <a:rPr sz="975">
                <a:solidFill>
                  <a:srgbClr val="52606D"/>
                </a:solidFill>
              </a:rPr>
              <a:t>Cloud Computing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86030286-1A30-432D-A770-67B81FF58BC4}"/>
              </a:ext>
            </a:extLst>
          </p:cNvPr>
          <p:cNvSpPr>
            <a:spLocks noGrp="1"/>
          </p:cNvSpPr>
          <p:nvPr/>
        </p:nvSpPr>
        <p:spPr>
          <a:xfrm>
            <a:off x="3381375" y="6419850"/>
            <a:ext cx="65722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975">
                <a:solidFill>
                  <a:srgbClr val="52606D"/>
                </a:solidFill>
              </a:defRPr>
            </a:pPr>
            <a:r>
              <a:rPr sz="975">
                <a:solidFill>
                  <a:srgbClr val="52606D"/>
                </a:solidFill>
              </a:rPr>
              <a:t>Presented by Gregor von Laszewski (laszewski@gmail.com)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47951F30-F156-45DA-91B4-9B7E71489390}"/>
              </a:ext>
            </a:extLst>
          </p:cNvPr>
          <p:cNvSpPr>
            <a:spLocks noGrp="1"/>
          </p:cNvSpPr>
          <p:nvPr/>
        </p:nvSpPr>
        <p:spPr>
          <a:xfrm>
            <a:off x="10858500" y="6419850"/>
            <a:ext cx="6477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975">
                <a:solidFill>
                  <a:srgbClr val="52606D"/>
                </a:solidFill>
              </a:defRPr>
            </a:pPr>
            <a:r>
              <a:rPr sz="975">
                <a:solidFill>
                  <a:srgbClr val="52606D"/>
                </a:solidFill>
              </a:rPr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55578144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13">
            <a:extLst>
              <a:ext uri="{FF2B5EF4-FFF2-40B4-BE49-F238E27FC236}">
                <a16:creationId xmlns:a16="http://schemas.microsoft.com/office/drawing/2014/main" id="{1FFBCCD3-18EA-4E05-9BD8-1024538B7881}"/>
              </a:ext>
            </a:extLst>
          </p:cNvPr>
          <p:cNvSpPr>
            <a:spLocks noGrp="1"/>
          </p:cNvSpPr>
          <p:nvPr/>
        </p:nvSpPr>
        <p:spPr>
          <a:xfrm>
            <a:off x="685800" y="400050"/>
            <a:ext cx="10001250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2700" b="1">
                <a:solidFill>
                  <a:srgbClr val="123B6D"/>
                </a:solidFill>
              </a:defRPr>
            </a:pPr>
            <a:r>
              <a:rPr sz="2700" b="1">
                <a:solidFill>
                  <a:srgbClr val="123B6D"/>
                </a:solidFill>
              </a:rPr>
              <a:t>Why cloud matters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C228B752-F294-4090-A658-AEC90553FF99}"/>
              </a:ext>
            </a:extLst>
          </p:cNvPr>
          <p:cNvSpPr>
            <a:spLocks noGrp="1"/>
          </p:cNvSpPr>
          <p:nvPr/>
        </p:nvSpPr>
        <p:spPr>
          <a:xfrm>
            <a:off x="685800" y="1028700"/>
            <a:ext cx="10820400" cy="38100"/>
          </a:xfrm>
          <a:prstGeom prst="rect">
            <a:avLst/>
          </a:prstGeom>
          <a:solidFill>
            <a:srgbClr val="123B6D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384353BC-8FA2-4A8A-9671-B34AD2729098}"/>
              </a:ext>
            </a:extLst>
          </p:cNvPr>
          <p:cNvSpPr>
            <a:spLocks noGrp="1"/>
          </p:cNvSpPr>
          <p:nvPr/>
        </p:nvSpPr>
        <p:spPr>
          <a:xfrm>
            <a:off x="685800" y="6419850"/>
            <a:ext cx="2143125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975">
                <a:solidFill>
                  <a:srgbClr val="52606D"/>
                </a:solidFill>
              </a:defRPr>
            </a:pPr>
            <a:r>
              <a:rPr sz="975">
                <a:solidFill>
                  <a:srgbClr val="52606D"/>
                </a:solidFill>
              </a:rPr>
              <a:t>Cloud Computing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846E27BB-2D52-4415-8EBD-ADE8176AA294}"/>
              </a:ext>
            </a:extLst>
          </p:cNvPr>
          <p:cNvSpPr>
            <a:spLocks noGrp="1"/>
          </p:cNvSpPr>
          <p:nvPr/>
        </p:nvSpPr>
        <p:spPr>
          <a:xfrm>
            <a:off x="3381375" y="6419850"/>
            <a:ext cx="65722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975">
                <a:solidFill>
                  <a:srgbClr val="52606D"/>
                </a:solidFill>
              </a:defRPr>
            </a:pPr>
            <a:r>
              <a:rPr sz="975">
                <a:solidFill>
                  <a:srgbClr val="52606D"/>
                </a:solidFill>
              </a:rPr>
              <a:t>Presented by Gregor von Laszewski (laszewski@gmail.com)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DEE00125-807A-4C8E-AC5A-8C14BA884DF9}"/>
              </a:ext>
            </a:extLst>
          </p:cNvPr>
          <p:cNvSpPr>
            <a:spLocks noGrp="1"/>
          </p:cNvSpPr>
          <p:nvPr/>
        </p:nvSpPr>
        <p:spPr>
          <a:xfrm>
            <a:off x="10858500" y="6419850"/>
            <a:ext cx="6477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975">
                <a:solidFill>
                  <a:srgbClr val="52606D"/>
                </a:solidFill>
              </a:defRPr>
            </a:pPr>
            <a:r>
              <a:rPr sz="975">
                <a:solidFill>
                  <a:srgbClr val="52606D"/>
                </a:solidFill>
              </a:rPr>
              <a:t>02</a:t>
            </a:r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C57FE524-2182-4926-9E44-C537C2D7A8B5}"/>
              </a:ext>
            </a:extLst>
          </p:cNvPr>
          <p:cNvSpPr>
            <a:spLocks noGrp="1"/>
          </p:cNvSpPr>
          <p:nvPr/>
        </p:nvSpPr>
        <p:spPr>
          <a:xfrm>
            <a:off x="838200" y="1676400"/>
            <a:ext cx="95250" cy="95250"/>
          </a:xfrm>
          <a:prstGeom prst="ellipse">
            <a:avLst/>
          </a:prstGeom>
          <a:solidFill>
            <a:srgbClr val="38699C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4EBC2E04-E10C-4F19-8320-C3D724CF7A67}"/>
              </a:ext>
            </a:extLst>
          </p:cNvPr>
          <p:cNvSpPr>
            <a:spLocks noGrp="1"/>
          </p:cNvSpPr>
          <p:nvPr/>
        </p:nvSpPr>
        <p:spPr>
          <a:xfrm>
            <a:off x="1123950" y="1562100"/>
            <a:ext cx="9620250" cy="523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650">
                <a:solidFill>
                  <a:srgbClr val="17212B"/>
                </a:solidFill>
              </a:defRPr>
            </a:pPr>
            <a:r>
              <a:rPr sz="1650">
                <a:solidFill>
                  <a:srgbClr val="17212B"/>
                </a:solidFill>
              </a:rPr>
              <a:t>Digital services need to respond to changing demand.</a:t>
            </a:r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28F8F5D6-429B-4BD3-AFC0-CE837FC9EE9C}"/>
              </a:ext>
            </a:extLst>
          </p:cNvPr>
          <p:cNvSpPr>
            <a:spLocks noGrp="1"/>
          </p:cNvSpPr>
          <p:nvPr/>
        </p:nvSpPr>
        <p:spPr>
          <a:xfrm>
            <a:off x="838200" y="2419350"/>
            <a:ext cx="95250" cy="95250"/>
          </a:xfrm>
          <a:prstGeom prst="ellipse">
            <a:avLst/>
          </a:prstGeom>
          <a:solidFill>
            <a:srgbClr val="38699C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45B38D9E-5DD7-4909-A6F1-58E61293934B}"/>
              </a:ext>
            </a:extLst>
          </p:cNvPr>
          <p:cNvSpPr>
            <a:spLocks noGrp="1"/>
          </p:cNvSpPr>
          <p:nvPr/>
        </p:nvSpPr>
        <p:spPr>
          <a:xfrm>
            <a:off x="1123950" y="2305050"/>
            <a:ext cx="9620250" cy="523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650">
                <a:solidFill>
                  <a:srgbClr val="17212B"/>
                </a:solidFill>
              </a:defRPr>
            </a:pPr>
            <a:r>
              <a:rPr sz="1650">
                <a:solidFill>
                  <a:srgbClr val="17212B"/>
                </a:solidFill>
              </a:rPr>
              <a:t>Teams want infrastructure without waiting for hardware procurement.</a:t>
            </a:r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227CB697-13B9-4837-8D45-EFDFAB423DA3}"/>
              </a:ext>
            </a:extLst>
          </p:cNvPr>
          <p:cNvSpPr>
            <a:spLocks noGrp="1"/>
          </p:cNvSpPr>
          <p:nvPr/>
        </p:nvSpPr>
        <p:spPr>
          <a:xfrm>
            <a:off x="838200" y="3162300"/>
            <a:ext cx="95250" cy="95250"/>
          </a:xfrm>
          <a:prstGeom prst="ellipse">
            <a:avLst/>
          </a:prstGeom>
          <a:solidFill>
            <a:srgbClr val="38699C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844BA491-7A93-4BA9-B52B-2C906625C45C}"/>
              </a:ext>
            </a:extLst>
          </p:cNvPr>
          <p:cNvSpPr>
            <a:spLocks noGrp="1"/>
          </p:cNvSpPr>
          <p:nvPr/>
        </p:nvSpPr>
        <p:spPr>
          <a:xfrm>
            <a:off x="1123950" y="3048000"/>
            <a:ext cx="9620250" cy="523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650">
                <a:solidFill>
                  <a:srgbClr val="17212B"/>
                </a:solidFill>
              </a:defRPr>
            </a:pPr>
            <a:r>
              <a:rPr sz="1650">
                <a:solidFill>
                  <a:srgbClr val="17212B"/>
                </a:solidFill>
              </a:rPr>
              <a:t>Cloud shifts effort from owning equipment to designing and operating services.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C298B1E1-5EE4-480D-9CA6-5B20DAB65ECB}"/>
              </a:ext>
            </a:extLst>
          </p:cNvPr>
          <p:cNvSpPr>
            <a:spLocks noGrp="1"/>
          </p:cNvSpPr>
          <p:nvPr/>
        </p:nvSpPr>
        <p:spPr>
          <a:xfrm>
            <a:off x="685800" y="4953000"/>
            <a:ext cx="10820400" cy="590550"/>
          </a:xfrm>
          <a:prstGeom prst="rect">
            <a:avLst/>
          </a:prstGeom>
          <a:solidFill>
            <a:srgbClr val="EAF2FA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2F5CB511-8864-42CB-8513-515F2809ADC8}"/>
              </a:ext>
            </a:extLst>
          </p:cNvPr>
          <p:cNvSpPr>
            <a:spLocks noGrp="1"/>
          </p:cNvSpPr>
          <p:nvPr/>
        </p:nvSpPr>
        <p:spPr>
          <a:xfrm>
            <a:off x="952500" y="5114925"/>
            <a:ext cx="102870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650" b="1">
                <a:solidFill>
                  <a:srgbClr val="123B6D"/>
                </a:solidFill>
              </a:defRPr>
            </a:pPr>
            <a:r>
              <a:rPr sz="1650" b="1">
                <a:solidFill>
                  <a:srgbClr val="123B6D"/>
                </a:solidFill>
              </a:rPr>
              <a:t>Cloud is valuable when it improves the speed and quality of decisions.</a:t>
            </a:r>
          </a:p>
        </p:txBody>
      </p:sp>
    </p:spTree>
    <p:extLst>
      <p:ext uri="{BB962C8B-B14F-4D97-AF65-F5344CB8AC3E}">
        <p14:creationId xmlns:p14="http://schemas.microsoft.com/office/powerpoint/2010/main" val="161666327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15">
            <a:extLst>
              <a:ext uri="{FF2B5EF4-FFF2-40B4-BE49-F238E27FC236}">
                <a16:creationId xmlns:a16="http://schemas.microsoft.com/office/drawing/2014/main" id="{E7BF305A-D2F4-40BD-89C7-22D139D50DEB}"/>
              </a:ext>
            </a:extLst>
          </p:cNvPr>
          <p:cNvSpPr>
            <a:spLocks noGrp="1"/>
          </p:cNvSpPr>
          <p:nvPr/>
        </p:nvSpPr>
        <p:spPr>
          <a:xfrm>
            <a:off x="685800" y="400050"/>
            <a:ext cx="10001250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2700" b="1">
                <a:solidFill>
                  <a:srgbClr val="123B6D"/>
                </a:solidFill>
              </a:defRPr>
            </a:pPr>
            <a:r>
              <a:rPr sz="2700" b="1">
                <a:solidFill>
                  <a:srgbClr val="123B6D"/>
                </a:solidFill>
              </a:rPr>
              <a:t>Learning outcomes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7F23B0BC-A4E5-4642-8400-9F1EF45C4BD2}"/>
              </a:ext>
            </a:extLst>
          </p:cNvPr>
          <p:cNvSpPr>
            <a:spLocks noGrp="1"/>
          </p:cNvSpPr>
          <p:nvPr/>
        </p:nvSpPr>
        <p:spPr>
          <a:xfrm>
            <a:off x="685800" y="1028700"/>
            <a:ext cx="10820400" cy="38100"/>
          </a:xfrm>
          <a:prstGeom prst="rect">
            <a:avLst/>
          </a:prstGeom>
          <a:solidFill>
            <a:srgbClr val="123B6D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0252AB6F-3533-4BEE-A1C1-C79864A3137A}"/>
              </a:ext>
            </a:extLst>
          </p:cNvPr>
          <p:cNvSpPr>
            <a:spLocks noGrp="1"/>
          </p:cNvSpPr>
          <p:nvPr/>
        </p:nvSpPr>
        <p:spPr>
          <a:xfrm>
            <a:off x="685800" y="6419850"/>
            <a:ext cx="2143125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975">
                <a:solidFill>
                  <a:srgbClr val="52606D"/>
                </a:solidFill>
              </a:defRPr>
            </a:pPr>
            <a:r>
              <a:rPr sz="975">
                <a:solidFill>
                  <a:srgbClr val="52606D"/>
                </a:solidFill>
              </a:rPr>
              <a:t>Cloud Computing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F208A21B-3441-4590-89DE-A46F7A04B163}"/>
              </a:ext>
            </a:extLst>
          </p:cNvPr>
          <p:cNvSpPr>
            <a:spLocks noGrp="1"/>
          </p:cNvSpPr>
          <p:nvPr/>
        </p:nvSpPr>
        <p:spPr>
          <a:xfrm>
            <a:off x="3381375" y="6419850"/>
            <a:ext cx="65722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975">
                <a:solidFill>
                  <a:srgbClr val="52606D"/>
                </a:solidFill>
              </a:defRPr>
            </a:pPr>
            <a:r>
              <a:rPr sz="975">
                <a:solidFill>
                  <a:srgbClr val="52606D"/>
                </a:solidFill>
              </a:rPr>
              <a:t>Presented by Gregor von Laszewski (laszewski@gmail.com)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7B52779D-F149-4AFA-95B8-757A79C041B4}"/>
              </a:ext>
            </a:extLst>
          </p:cNvPr>
          <p:cNvSpPr>
            <a:spLocks noGrp="1"/>
          </p:cNvSpPr>
          <p:nvPr/>
        </p:nvSpPr>
        <p:spPr>
          <a:xfrm>
            <a:off x="10858500" y="6419850"/>
            <a:ext cx="6477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975">
                <a:solidFill>
                  <a:srgbClr val="52606D"/>
                </a:solidFill>
              </a:defRPr>
            </a:pPr>
            <a:r>
              <a:rPr sz="975">
                <a:solidFill>
                  <a:srgbClr val="52606D"/>
                </a:solidFill>
              </a:rPr>
              <a:t>03</a:t>
            </a:r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32A1BAA4-7E14-49D6-8336-2421049B3971}"/>
              </a:ext>
            </a:extLst>
          </p:cNvPr>
          <p:cNvSpPr>
            <a:spLocks noGrp="1"/>
          </p:cNvSpPr>
          <p:nvPr/>
        </p:nvSpPr>
        <p:spPr>
          <a:xfrm>
            <a:off x="838200" y="1676400"/>
            <a:ext cx="95250" cy="95250"/>
          </a:xfrm>
          <a:prstGeom prst="ellipse">
            <a:avLst/>
          </a:prstGeom>
          <a:solidFill>
            <a:srgbClr val="38699C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FB740AF7-458F-4E32-958B-02DA0B7F824E}"/>
              </a:ext>
            </a:extLst>
          </p:cNvPr>
          <p:cNvSpPr>
            <a:spLocks noGrp="1"/>
          </p:cNvSpPr>
          <p:nvPr/>
        </p:nvSpPr>
        <p:spPr>
          <a:xfrm>
            <a:off x="1123950" y="1562100"/>
            <a:ext cx="9620250" cy="523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650">
                <a:solidFill>
                  <a:srgbClr val="17212B"/>
                </a:solidFill>
              </a:defRPr>
            </a:pPr>
            <a:r>
              <a:rPr sz="1650">
                <a:solidFill>
                  <a:srgbClr val="17212B"/>
                </a:solidFill>
              </a:rPr>
              <a:t>Describe the cloud model and its essential characteristics.</a:t>
            </a:r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96D93938-0B08-46D4-B674-BC01C9C675D8}"/>
              </a:ext>
            </a:extLst>
          </p:cNvPr>
          <p:cNvSpPr>
            <a:spLocks noGrp="1"/>
          </p:cNvSpPr>
          <p:nvPr/>
        </p:nvSpPr>
        <p:spPr>
          <a:xfrm>
            <a:off x="838200" y="2419350"/>
            <a:ext cx="95250" cy="95250"/>
          </a:xfrm>
          <a:prstGeom prst="ellipse">
            <a:avLst/>
          </a:prstGeom>
          <a:solidFill>
            <a:srgbClr val="38699C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0D924641-1BE4-4232-983B-C5C09FC575F3}"/>
              </a:ext>
            </a:extLst>
          </p:cNvPr>
          <p:cNvSpPr>
            <a:spLocks noGrp="1"/>
          </p:cNvSpPr>
          <p:nvPr/>
        </p:nvSpPr>
        <p:spPr>
          <a:xfrm>
            <a:off x="1123950" y="2305050"/>
            <a:ext cx="9620250" cy="523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650">
                <a:solidFill>
                  <a:srgbClr val="17212B"/>
                </a:solidFill>
              </a:defRPr>
            </a:pPr>
            <a:r>
              <a:rPr sz="1650">
                <a:solidFill>
                  <a:srgbClr val="17212B"/>
                </a:solidFill>
              </a:rPr>
              <a:t>Compare service and deployment models using control and responsibility.</a:t>
            </a:r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3DCA1107-BB03-4FCE-B779-C1045CBAC607}"/>
              </a:ext>
            </a:extLst>
          </p:cNvPr>
          <p:cNvSpPr>
            <a:spLocks noGrp="1"/>
          </p:cNvSpPr>
          <p:nvPr/>
        </p:nvSpPr>
        <p:spPr>
          <a:xfrm>
            <a:off x="838200" y="3162300"/>
            <a:ext cx="95250" cy="95250"/>
          </a:xfrm>
          <a:prstGeom prst="ellipse">
            <a:avLst/>
          </a:prstGeom>
          <a:solidFill>
            <a:srgbClr val="38699C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728014DE-20C9-4477-98F0-D60D3E5E8D2B}"/>
              </a:ext>
            </a:extLst>
          </p:cNvPr>
          <p:cNvSpPr>
            <a:spLocks noGrp="1"/>
          </p:cNvSpPr>
          <p:nvPr/>
        </p:nvSpPr>
        <p:spPr>
          <a:xfrm>
            <a:off x="1123950" y="3048000"/>
            <a:ext cx="9620250" cy="523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650">
                <a:solidFill>
                  <a:srgbClr val="17212B"/>
                </a:solidFill>
              </a:defRPr>
            </a:pPr>
            <a:r>
              <a:rPr sz="1650">
                <a:solidFill>
                  <a:srgbClr val="17212B"/>
                </a:solidFill>
              </a:rPr>
              <a:t>Sketch a small architecture using cloud building blocks.</a:t>
            </a:r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8A8A2C91-C832-4FE2-BA0D-32C26B9FD255}"/>
              </a:ext>
            </a:extLst>
          </p:cNvPr>
          <p:cNvSpPr>
            <a:spLocks noGrp="1"/>
          </p:cNvSpPr>
          <p:nvPr/>
        </p:nvSpPr>
        <p:spPr>
          <a:xfrm>
            <a:off x="838200" y="3905250"/>
            <a:ext cx="95250" cy="95250"/>
          </a:xfrm>
          <a:prstGeom prst="ellipse">
            <a:avLst/>
          </a:prstGeom>
          <a:solidFill>
            <a:srgbClr val="38699C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D6B4205C-22FA-42DD-8050-8F24B25A582F}"/>
              </a:ext>
            </a:extLst>
          </p:cNvPr>
          <p:cNvSpPr>
            <a:spLocks noGrp="1"/>
          </p:cNvSpPr>
          <p:nvPr/>
        </p:nvSpPr>
        <p:spPr>
          <a:xfrm>
            <a:off x="1123950" y="3790950"/>
            <a:ext cx="9620250" cy="523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650">
                <a:solidFill>
                  <a:srgbClr val="17212B"/>
                </a:solidFill>
              </a:defRPr>
            </a:pPr>
            <a:r>
              <a:rPr sz="1650">
                <a:solidFill>
                  <a:srgbClr val="17212B"/>
                </a:solidFill>
              </a:rPr>
              <a:t>Ask better questions about security, resilience, and cost.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F4DD2CAF-DAE3-4C23-A3AD-F91EACD276C7}"/>
              </a:ext>
            </a:extLst>
          </p:cNvPr>
          <p:cNvSpPr>
            <a:spLocks noGrp="1"/>
          </p:cNvSpPr>
          <p:nvPr/>
        </p:nvSpPr>
        <p:spPr>
          <a:xfrm>
            <a:off x="685800" y="4953000"/>
            <a:ext cx="10820400" cy="590550"/>
          </a:xfrm>
          <a:prstGeom prst="rect">
            <a:avLst/>
          </a:prstGeom>
          <a:solidFill>
            <a:srgbClr val="EAF2FA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1EC45B60-9D3C-417F-ABCF-B2BC7098838A}"/>
              </a:ext>
            </a:extLst>
          </p:cNvPr>
          <p:cNvSpPr>
            <a:spLocks noGrp="1"/>
          </p:cNvSpPr>
          <p:nvPr/>
        </p:nvSpPr>
        <p:spPr>
          <a:xfrm>
            <a:off x="952500" y="5114925"/>
            <a:ext cx="102870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650" b="1">
                <a:solidFill>
                  <a:srgbClr val="123B6D"/>
                </a:solidFill>
              </a:defRPr>
            </a:pPr>
            <a:r>
              <a:rPr sz="1650" b="1">
                <a:solidFill>
                  <a:srgbClr val="123B6D"/>
                </a:solidFill>
              </a:rPr>
              <a:t>The goal is practical cloud fluency—not provider memorization.</a:t>
            </a:r>
          </a:p>
        </p:txBody>
      </p:sp>
    </p:spTree>
    <p:extLst>
      <p:ext uri="{BB962C8B-B14F-4D97-AF65-F5344CB8AC3E}">
        <p14:creationId xmlns:p14="http://schemas.microsoft.com/office/powerpoint/2010/main" val="155884319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15">
            <a:extLst>
              <a:ext uri="{FF2B5EF4-FFF2-40B4-BE49-F238E27FC236}">
                <a16:creationId xmlns:a16="http://schemas.microsoft.com/office/drawing/2014/main" id="{A2C2093F-1398-4E6D-9D11-F3023C6D470E}"/>
              </a:ext>
            </a:extLst>
          </p:cNvPr>
          <p:cNvSpPr>
            <a:spLocks noGrp="1"/>
          </p:cNvSpPr>
          <p:nvPr/>
        </p:nvSpPr>
        <p:spPr>
          <a:xfrm>
            <a:off x="685800" y="400050"/>
            <a:ext cx="10001250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2700" b="1">
                <a:solidFill>
                  <a:srgbClr val="123B6D"/>
                </a:solidFill>
              </a:defRPr>
            </a:pPr>
            <a:r>
              <a:rPr sz="2700" b="1">
                <a:solidFill>
                  <a:srgbClr val="123B6D"/>
                </a:solidFill>
              </a:rPr>
              <a:t>Our 150-minute route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B80958E0-B331-4835-9ECF-62B8C213078D}"/>
              </a:ext>
            </a:extLst>
          </p:cNvPr>
          <p:cNvSpPr>
            <a:spLocks noGrp="1"/>
          </p:cNvSpPr>
          <p:nvPr/>
        </p:nvSpPr>
        <p:spPr>
          <a:xfrm>
            <a:off x="685800" y="1028700"/>
            <a:ext cx="10820400" cy="38100"/>
          </a:xfrm>
          <a:prstGeom prst="rect">
            <a:avLst/>
          </a:prstGeom>
          <a:solidFill>
            <a:srgbClr val="123B6D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1D0E0427-7AA2-4D6F-80E1-42EA2E6DEF94}"/>
              </a:ext>
            </a:extLst>
          </p:cNvPr>
          <p:cNvSpPr>
            <a:spLocks noGrp="1"/>
          </p:cNvSpPr>
          <p:nvPr/>
        </p:nvSpPr>
        <p:spPr>
          <a:xfrm>
            <a:off x="685800" y="6419850"/>
            <a:ext cx="2143125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975">
                <a:solidFill>
                  <a:srgbClr val="52606D"/>
                </a:solidFill>
              </a:defRPr>
            </a:pPr>
            <a:r>
              <a:rPr sz="975">
                <a:solidFill>
                  <a:srgbClr val="52606D"/>
                </a:solidFill>
              </a:rPr>
              <a:t>Cloud Computing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B5E298B0-8C68-4C44-800D-345FB8625B77}"/>
              </a:ext>
            </a:extLst>
          </p:cNvPr>
          <p:cNvSpPr>
            <a:spLocks noGrp="1"/>
          </p:cNvSpPr>
          <p:nvPr/>
        </p:nvSpPr>
        <p:spPr>
          <a:xfrm>
            <a:off x="3381375" y="6419850"/>
            <a:ext cx="65722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975">
                <a:solidFill>
                  <a:srgbClr val="52606D"/>
                </a:solidFill>
              </a:defRPr>
            </a:pPr>
            <a:r>
              <a:rPr sz="975">
                <a:solidFill>
                  <a:srgbClr val="52606D"/>
                </a:solidFill>
              </a:rPr>
              <a:t>Presented by Gregor von Laszewski (laszewski@gmail.com)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15195B91-A8EF-4F93-96E1-3190563E92CE}"/>
              </a:ext>
            </a:extLst>
          </p:cNvPr>
          <p:cNvSpPr>
            <a:spLocks noGrp="1"/>
          </p:cNvSpPr>
          <p:nvPr/>
        </p:nvSpPr>
        <p:spPr>
          <a:xfrm>
            <a:off x="10858500" y="6419850"/>
            <a:ext cx="6477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975">
                <a:solidFill>
                  <a:srgbClr val="52606D"/>
                </a:solidFill>
              </a:defRPr>
            </a:pPr>
            <a:r>
              <a:rPr sz="975">
                <a:solidFill>
                  <a:srgbClr val="52606D"/>
                </a:solidFill>
              </a:rPr>
              <a:t>04</a:t>
            </a:r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8267D888-C424-4827-9740-F6C052B08FAE}"/>
              </a:ext>
            </a:extLst>
          </p:cNvPr>
          <p:cNvSpPr>
            <a:spLocks noGrp="1"/>
          </p:cNvSpPr>
          <p:nvPr/>
        </p:nvSpPr>
        <p:spPr>
          <a:xfrm>
            <a:off x="838200" y="1676400"/>
            <a:ext cx="95250" cy="95250"/>
          </a:xfrm>
          <a:prstGeom prst="ellipse">
            <a:avLst/>
          </a:prstGeom>
          <a:solidFill>
            <a:srgbClr val="38699C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96E62AAF-BA60-4D57-A32D-0DF97A39B9CC}"/>
              </a:ext>
            </a:extLst>
          </p:cNvPr>
          <p:cNvSpPr>
            <a:spLocks noGrp="1"/>
          </p:cNvSpPr>
          <p:nvPr/>
        </p:nvSpPr>
        <p:spPr>
          <a:xfrm>
            <a:off x="1123950" y="1562100"/>
            <a:ext cx="9620250" cy="523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650">
                <a:solidFill>
                  <a:srgbClr val="17212B"/>
                </a:solidFill>
              </a:defRPr>
            </a:pPr>
            <a:r>
              <a:rPr sz="1650">
                <a:solidFill>
                  <a:srgbClr val="17212B"/>
                </a:solidFill>
              </a:rPr>
              <a:t>Foundations: vocabulary, characteristics, and models.</a:t>
            </a:r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87DA5EB7-F60A-43F9-BAA8-A4A520841A4D}"/>
              </a:ext>
            </a:extLst>
          </p:cNvPr>
          <p:cNvSpPr>
            <a:spLocks noGrp="1"/>
          </p:cNvSpPr>
          <p:nvPr/>
        </p:nvSpPr>
        <p:spPr>
          <a:xfrm>
            <a:off x="838200" y="2419350"/>
            <a:ext cx="95250" cy="95250"/>
          </a:xfrm>
          <a:prstGeom prst="ellipse">
            <a:avLst/>
          </a:prstGeom>
          <a:solidFill>
            <a:srgbClr val="38699C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DDE3E024-3DCA-495F-804D-4425A0CA2A3F}"/>
              </a:ext>
            </a:extLst>
          </p:cNvPr>
          <p:cNvSpPr>
            <a:spLocks noGrp="1"/>
          </p:cNvSpPr>
          <p:nvPr/>
        </p:nvSpPr>
        <p:spPr>
          <a:xfrm>
            <a:off x="1123950" y="2305050"/>
            <a:ext cx="9620250" cy="523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650">
                <a:solidFill>
                  <a:srgbClr val="17212B"/>
                </a:solidFill>
              </a:defRPr>
            </a:pPr>
            <a:r>
              <a:rPr sz="1650">
                <a:solidFill>
                  <a:srgbClr val="17212B"/>
                </a:solidFill>
              </a:rPr>
              <a:t>Architecture: locations, networking, compute, and data.</a:t>
            </a:r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2E288D97-43BF-4637-8AA1-638767DB470A}"/>
              </a:ext>
            </a:extLst>
          </p:cNvPr>
          <p:cNvSpPr>
            <a:spLocks noGrp="1"/>
          </p:cNvSpPr>
          <p:nvPr/>
        </p:nvSpPr>
        <p:spPr>
          <a:xfrm>
            <a:off x="838200" y="3162300"/>
            <a:ext cx="95250" cy="95250"/>
          </a:xfrm>
          <a:prstGeom prst="ellipse">
            <a:avLst/>
          </a:prstGeom>
          <a:solidFill>
            <a:srgbClr val="38699C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AF10E40E-B665-4C62-B7E9-9DCF05942C44}"/>
              </a:ext>
            </a:extLst>
          </p:cNvPr>
          <p:cNvSpPr>
            <a:spLocks noGrp="1"/>
          </p:cNvSpPr>
          <p:nvPr/>
        </p:nvSpPr>
        <p:spPr>
          <a:xfrm>
            <a:off x="1123950" y="3048000"/>
            <a:ext cx="9620250" cy="523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650">
                <a:solidFill>
                  <a:srgbClr val="17212B"/>
                </a:solidFill>
              </a:defRPr>
            </a:pPr>
            <a:r>
              <a:rPr sz="1650">
                <a:solidFill>
                  <a:srgbClr val="17212B"/>
                </a:solidFill>
              </a:rPr>
              <a:t>Operations: security, observability, economics, and governance.</a:t>
            </a:r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5A5EBEA6-B761-4715-BB94-C66DE5CB91D1}"/>
              </a:ext>
            </a:extLst>
          </p:cNvPr>
          <p:cNvSpPr>
            <a:spLocks noGrp="1"/>
          </p:cNvSpPr>
          <p:nvPr/>
        </p:nvSpPr>
        <p:spPr>
          <a:xfrm>
            <a:off x="838200" y="3905250"/>
            <a:ext cx="95250" cy="95250"/>
          </a:xfrm>
          <a:prstGeom prst="ellipse">
            <a:avLst/>
          </a:prstGeom>
          <a:solidFill>
            <a:srgbClr val="38699C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EA0C977A-9B8F-40A5-9139-6439711DFC03}"/>
              </a:ext>
            </a:extLst>
          </p:cNvPr>
          <p:cNvSpPr>
            <a:spLocks noGrp="1"/>
          </p:cNvSpPr>
          <p:nvPr/>
        </p:nvSpPr>
        <p:spPr>
          <a:xfrm>
            <a:off x="1123950" y="3790950"/>
            <a:ext cx="9620250" cy="523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650">
                <a:solidFill>
                  <a:srgbClr val="17212B"/>
                </a:solidFill>
              </a:defRPr>
            </a:pPr>
            <a:r>
              <a:rPr sz="1650">
                <a:solidFill>
                  <a:srgbClr val="17212B"/>
                </a:solidFill>
              </a:rPr>
              <a:t>Application: a design challenge and a decision checklist.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D6ADC3C2-DC1B-4CAC-8C9C-607109818D56}"/>
              </a:ext>
            </a:extLst>
          </p:cNvPr>
          <p:cNvSpPr>
            <a:spLocks noGrp="1"/>
          </p:cNvSpPr>
          <p:nvPr/>
        </p:nvSpPr>
        <p:spPr>
          <a:xfrm>
            <a:off x="685800" y="4953000"/>
            <a:ext cx="10820400" cy="590550"/>
          </a:xfrm>
          <a:prstGeom prst="rect">
            <a:avLst/>
          </a:prstGeom>
          <a:solidFill>
            <a:srgbClr val="EAF2FA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EC562269-ECE0-4A73-8C2F-9F574719C138}"/>
              </a:ext>
            </a:extLst>
          </p:cNvPr>
          <p:cNvSpPr>
            <a:spLocks noGrp="1"/>
          </p:cNvSpPr>
          <p:nvPr/>
        </p:nvSpPr>
        <p:spPr>
          <a:xfrm>
            <a:off x="952500" y="5114925"/>
            <a:ext cx="102870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650" b="1">
                <a:solidFill>
                  <a:srgbClr val="123B6D"/>
                </a:solidFill>
              </a:defRPr>
            </a:pPr>
            <a:r>
              <a:rPr sz="1650" b="1">
                <a:solidFill>
                  <a:srgbClr val="123B6D"/>
                </a:solidFill>
              </a:rPr>
              <a:t>Every section ends with a question you can use in a real design review.</a:t>
            </a:r>
          </a:p>
        </p:txBody>
      </p:sp>
    </p:spTree>
    <p:extLst>
      <p:ext uri="{BB962C8B-B14F-4D97-AF65-F5344CB8AC3E}">
        <p14:creationId xmlns:p14="http://schemas.microsoft.com/office/powerpoint/2010/main" val="17599038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13">
            <a:extLst>
              <a:ext uri="{FF2B5EF4-FFF2-40B4-BE49-F238E27FC236}">
                <a16:creationId xmlns:a16="http://schemas.microsoft.com/office/drawing/2014/main" id="{24D65EC3-63F5-43DE-AFD4-0096F038A050}"/>
              </a:ext>
            </a:extLst>
          </p:cNvPr>
          <p:cNvSpPr>
            <a:spLocks noGrp="1"/>
          </p:cNvSpPr>
          <p:nvPr/>
        </p:nvSpPr>
        <p:spPr>
          <a:xfrm>
            <a:off x="685800" y="400050"/>
            <a:ext cx="10001250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2700" b="1">
                <a:solidFill>
                  <a:srgbClr val="123B6D"/>
                </a:solidFill>
              </a:defRPr>
            </a:pPr>
            <a:r>
              <a:rPr sz="2700" b="1">
                <a:solidFill>
                  <a:srgbClr val="123B6D"/>
                </a:solidFill>
              </a:rPr>
              <a:t>Cloud is a model—not a synonym for the internet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D2110D3C-6E38-486D-AAB0-3276591A5537}"/>
              </a:ext>
            </a:extLst>
          </p:cNvPr>
          <p:cNvSpPr>
            <a:spLocks noGrp="1"/>
          </p:cNvSpPr>
          <p:nvPr/>
        </p:nvSpPr>
        <p:spPr>
          <a:xfrm>
            <a:off x="685800" y="1028700"/>
            <a:ext cx="10820400" cy="38100"/>
          </a:xfrm>
          <a:prstGeom prst="rect">
            <a:avLst/>
          </a:prstGeom>
          <a:solidFill>
            <a:srgbClr val="123B6D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651B7BE7-EDC5-4E19-A6AF-7A5CC81A873B}"/>
              </a:ext>
            </a:extLst>
          </p:cNvPr>
          <p:cNvSpPr>
            <a:spLocks noGrp="1"/>
          </p:cNvSpPr>
          <p:nvPr/>
        </p:nvSpPr>
        <p:spPr>
          <a:xfrm>
            <a:off x="685800" y="6419850"/>
            <a:ext cx="2143125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975">
                <a:solidFill>
                  <a:srgbClr val="52606D"/>
                </a:solidFill>
              </a:defRPr>
            </a:pPr>
            <a:r>
              <a:rPr sz="975">
                <a:solidFill>
                  <a:srgbClr val="52606D"/>
                </a:solidFill>
              </a:rPr>
              <a:t>Cloud Computing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FCC597C7-B0F8-4805-B9A9-CE99AD7E7200}"/>
              </a:ext>
            </a:extLst>
          </p:cNvPr>
          <p:cNvSpPr>
            <a:spLocks noGrp="1"/>
          </p:cNvSpPr>
          <p:nvPr/>
        </p:nvSpPr>
        <p:spPr>
          <a:xfrm>
            <a:off x="3381375" y="6419850"/>
            <a:ext cx="65722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975">
                <a:solidFill>
                  <a:srgbClr val="52606D"/>
                </a:solidFill>
              </a:defRPr>
            </a:pPr>
            <a:r>
              <a:rPr sz="975">
                <a:solidFill>
                  <a:srgbClr val="52606D"/>
                </a:solidFill>
              </a:rPr>
              <a:t>Presented by Gregor von Laszewski (laszewski@gmail.com)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B37B39DF-66DD-4ED9-8AB2-BDD0E629EFD2}"/>
              </a:ext>
            </a:extLst>
          </p:cNvPr>
          <p:cNvSpPr>
            <a:spLocks noGrp="1"/>
          </p:cNvSpPr>
          <p:nvPr/>
        </p:nvSpPr>
        <p:spPr>
          <a:xfrm>
            <a:off x="10858500" y="6419850"/>
            <a:ext cx="6477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975">
                <a:solidFill>
                  <a:srgbClr val="52606D"/>
                </a:solidFill>
              </a:defRPr>
            </a:pPr>
            <a:r>
              <a:rPr sz="975">
                <a:solidFill>
                  <a:srgbClr val="52606D"/>
                </a:solidFill>
              </a:rPr>
              <a:t>05</a:t>
            </a:r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EEE5FA75-B8CD-469B-9551-360E3D1806A0}"/>
              </a:ext>
            </a:extLst>
          </p:cNvPr>
          <p:cNvSpPr>
            <a:spLocks noGrp="1"/>
          </p:cNvSpPr>
          <p:nvPr/>
        </p:nvSpPr>
        <p:spPr>
          <a:xfrm>
            <a:off x="838200" y="1676400"/>
            <a:ext cx="95250" cy="95250"/>
          </a:xfrm>
          <a:prstGeom prst="ellipse">
            <a:avLst/>
          </a:prstGeom>
          <a:solidFill>
            <a:srgbClr val="38699C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65D25B6D-DCD9-4A6A-B64C-A0C64E4956D9}"/>
              </a:ext>
            </a:extLst>
          </p:cNvPr>
          <p:cNvSpPr>
            <a:spLocks noGrp="1"/>
          </p:cNvSpPr>
          <p:nvPr/>
        </p:nvSpPr>
        <p:spPr>
          <a:xfrm>
            <a:off x="1123950" y="1562100"/>
            <a:ext cx="9620250" cy="523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650">
                <a:solidFill>
                  <a:srgbClr val="17212B"/>
                </a:solidFill>
              </a:defRPr>
            </a:pPr>
            <a:r>
              <a:rPr sz="1650">
                <a:solidFill>
                  <a:srgbClr val="17212B"/>
                </a:solidFill>
              </a:rPr>
              <a:t>Cloud services are delivered over networks, but the network alone is not the cloud.</a:t>
            </a:r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8D2A6FAE-63BE-4607-9584-C32625F34116}"/>
              </a:ext>
            </a:extLst>
          </p:cNvPr>
          <p:cNvSpPr>
            <a:spLocks noGrp="1"/>
          </p:cNvSpPr>
          <p:nvPr/>
        </p:nvSpPr>
        <p:spPr>
          <a:xfrm>
            <a:off x="838200" y="2419350"/>
            <a:ext cx="95250" cy="95250"/>
          </a:xfrm>
          <a:prstGeom prst="ellipse">
            <a:avLst/>
          </a:prstGeom>
          <a:solidFill>
            <a:srgbClr val="38699C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940F74A0-3664-4FBF-AA36-5B154862B6FD}"/>
              </a:ext>
            </a:extLst>
          </p:cNvPr>
          <p:cNvSpPr>
            <a:spLocks noGrp="1"/>
          </p:cNvSpPr>
          <p:nvPr/>
        </p:nvSpPr>
        <p:spPr>
          <a:xfrm>
            <a:off x="1123950" y="2305050"/>
            <a:ext cx="9620250" cy="523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650">
                <a:solidFill>
                  <a:srgbClr val="17212B"/>
                </a:solidFill>
              </a:defRPr>
            </a:pPr>
            <a:r>
              <a:rPr sz="1650">
                <a:solidFill>
                  <a:srgbClr val="17212B"/>
                </a:solidFill>
              </a:rPr>
              <a:t>The model combines access, pooling, rapid provisioning, and measured usage.</a:t>
            </a:r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6627F32A-9A40-4D71-9AB6-F4A8DF83B07B}"/>
              </a:ext>
            </a:extLst>
          </p:cNvPr>
          <p:cNvSpPr>
            <a:spLocks noGrp="1"/>
          </p:cNvSpPr>
          <p:nvPr/>
        </p:nvSpPr>
        <p:spPr>
          <a:xfrm>
            <a:off x="838200" y="3162300"/>
            <a:ext cx="95250" cy="95250"/>
          </a:xfrm>
          <a:prstGeom prst="ellipse">
            <a:avLst/>
          </a:prstGeom>
          <a:solidFill>
            <a:srgbClr val="38699C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403A5149-2339-4629-9FC3-460F5918BB0D}"/>
              </a:ext>
            </a:extLst>
          </p:cNvPr>
          <p:cNvSpPr>
            <a:spLocks noGrp="1"/>
          </p:cNvSpPr>
          <p:nvPr/>
        </p:nvSpPr>
        <p:spPr>
          <a:xfrm>
            <a:off x="1123950" y="3048000"/>
            <a:ext cx="9620250" cy="523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650">
                <a:solidFill>
                  <a:srgbClr val="17212B"/>
                </a:solidFill>
              </a:defRPr>
            </a:pPr>
            <a:r>
              <a:rPr sz="1650" dirty="0">
                <a:solidFill>
                  <a:srgbClr val="17212B"/>
                </a:solidFill>
              </a:rPr>
              <a:t>A hosted server may be useful without meeting every cloud characteristic.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4BAFEF5F-EEBF-4D23-BD57-2DD5CF435E7F}"/>
              </a:ext>
            </a:extLst>
          </p:cNvPr>
          <p:cNvSpPr>
            <a:spLocks noGrp="1"/>
          </p:cNvSpPr>
          <p:nvPr/>
        </p:nvSpPr>
        <p:spPr>
          <a:xfrm>
            <a:off x="685800" y="4953000"/>
            <a:ext cx="10820400" cy="590550"/>
          </a:xfrm>
          <a:prstGeom prst="rect">
            <a:avLst/>
          </a:prstGeom>
          <a:solidFill>
            <a:srgbClr val="EAF2FA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5ACB8C28-E5EC-44BC-BB16-1784982B1CBF}"/>
              </a:ext>
            </a:extLst>
          </p:cNvPr>
          <p:cNvSpPr>
            <a:spLocks noGrp="1"/>
          </p:cNvSpPr>
          <p:nvPr/>
        </p:nvSpPr>
        <p:spPr>
          <a:xfrm>
            <a:off x="952500" y="5114925"/>
            <a:ext cx="102870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650" b="1">
                <a:solidFill>
                  <a:srgbClr val="123B6D"/>
                </a:solidFill>
              </a:defRPr>
            </a:pPr>
            <a:r>
              <a:rPr sz="1650" b="1">
                <a:solidFill>
                  <a:srgbClr val="123B6D"/>
                </a:solidFill>
              </a:rPr>
              <a:t>Start by asking how a resource is obtained, scaled, and operated.</a:t>
            </a:r>
          </a:p>
        </p:txBody>
      </p:sp>
    </p:spTree>
    <p:extLst>
      <p:ext uri="{BB962C8B-B14F-4D97-AF65-F5344CB8AC3E}">
        <p14:creationId xmlns:p14="http://schemas.microsoft.com/office/powerpoint/2010/main" val="76830232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13">
            <a:extLst>
              <a:ext uri="{FF2B5EF4-FFF2-40B4-BE49-F238E27FC236}">
                <a16:creationId xmlns:a16="http://schemas.microsoft.com/office/drawing/2014/main" id="{6750B083-3A56-4F2F-8F76-5707F08B26A8}"/>
              </a:ext>
            </a:extLst>
          </p:cNvPr>
          <p:cNvSpPr>
            <a:spLocks noGrp="1"/>
          </p:cNvSpPr>
          <p:nvPr/>
        </p:nvSpPr>
        <p:spPr>
          <a:xfrm>
            <a:off x="685800" y="400050"/>
            <a:ext cx="10001250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2700" b="1">
                <a:solidFill>
                  <a:srgbClr val="123B6D"/>
                </a:solidFill>
              </a:defRPr>
            </a:pPr>
            <a:r>
              <a:rPr sz="2700" b="1">
                <a:solidFill>
                  <a:srgbClr val="123B6D"/>
                </a:solidFill>
              </a:rPr>
              <a:t>A concise cloud definition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CC729559-E001-4662-8A7D-6DC909E87858}"/>
              </a:ext>
            </a:extLst>
          </p:cNvPr>
          <p:cNvSpPr>
            <a:spLocks noGrp="1"/>
          </p:cNvSpPr>
          <p:nvPr/>
        </p:nvSpPr>
        <p:spPr>
          <a:xfrm>
            <a:off x="685800" y="1028700"/>
            <a:ext cx="10820400" cy="38100"/>
          </a:xfrm>
          <a:prstGeom prst="rect">
            <a:avLst/>
          </a:prstGeom>
          <a:solidFill>
            <a:srgbClr val="123B6D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BB84A586-272A-4D3F-B362-72B4E7EDC67E}"/>
              </a:ext>
            </a:extLst>
          </p:cNvPr>
          <p:cNvSpPr>
            <a:spLocks noGrp="1"/>
          </p:cNvSpPr>
          <p:nvPr/>
        </p:nvSpPr>
        <p:spPr>
          <a:xfrm>
            <a:off x="685800" y="6419850"/>
            <a:ext cx="2143125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975">
                <a:solidFill>
                  <a:srgbClr val="52606D"/>
                </a:solidFill>
              </a:defRPr>
            </a:pPr>
            <a:r>
              <a:rPr sz="975">
                <a:solidFill>
                  <a:srgbClr val="52606D"/>
                </a:solidFill>
              </a:rPr>
              <a:t>Cloud Computing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AD240B28-C754-450B-ACD0-0EDC93237667}"/>
              </a:ext>
            </a:extLst>
          </p:cNvPr>
          <p:cNvSpPr>
            <a:spLocks noGrp="1"/>
          </p:cNvSpPr>
          <p:nvPr/>
        </p:nvSpPr>
        <p:spPr>
          <a:xfrm>
            <a:off x="3381375" y="6419850"/>
            <a:ext cx="65722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975">
                <a:solidFill>
                  <a:srgbClr val="52606D"/>
                </a:solidFill>
              </a:defRPr>
            </a:pPr>
            <a:r>
              <a:rPr sz="975">
                <a:solidFill>
                  <a:srgbClr val="52606D"/>
                </a:solidFill>
              </a:rPr>
              <a:t>Presented by Gregor von Laszewski (laszewski@gmail.com)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0EC87147-911E-4703-838A-590BEBFDC352}"/>
              </a:ext>
            </a:extLst>
          </p:cNvPr>
          <p:cNvSpPr>
            <a:spLocks noGrp="1"/>
          </p:cNvSpPr>
          <p:nvPr/>
        </p:nvSpPr>
        <p:spPr>
          <a:xfrm>
            <a:off x="10858500" y="6419850"/>
            <a:ext cx="6477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975">
                <a:solidFill>
                  <a:srgbClr val="52606D"/>
                </a:solidFill>
              </a:defRPr>
            </a:pPr>
            <a:r>
              <a:rPr sz="975">
                <a:solidFill>
                  <a:srgbClr val="52606D"/>
                </a:solidFill>
              </a:rPr>
              <a:t>06</a:t>
            </a:r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EEC754C7-AEF6-46E2-868D-95A47C2DCF21}"/>
              </a:ext>
            </a:extLst>
          </p:cNvPr>
          <p:cNvSpPr>
            <a:spLocks noGrp="1"/>
          </p:cNvSpPr>
          <p:nvPr/>
        </p:nvSpPr>
        <p:spPr>
          <a:xfrm>
            <a:off x="838200" y="1676400"/>
            <a:ext cx="95250" cy="95250"/>
          </a:xfrm>
          <a:prstGeom prst="ellipse">
            <a:avLst/>
          </a:prstGeom>
          <a:solidFill>
            <a:srgbClr val="38699C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22E37342-7B49-40F3-8576-9A02DF604EA8}"/>
              </a:ext>
            </a:extLst>
          </p:cNvPr>
          <p:cNvSpPr>
            <a:spLocks noGrp="1"/>
          </p:cNvSpPr>
          <p:nvPr/>
        </p:nvSpPr>
        <p:spPr>
          <a:xfrm>
            <a:off x="1123950" y="1562100"/>
            <a:ext cx="9620250" cy="523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650">
                <a:solidFill>
                  <a:srgbClr val="17212B"/>
                </a:solidFill>
              </a:defRPr>
            </a:pPr>
            <a:r>
              <a:rPr sz="1650">
                <a:solidFill>
                  <a:srgbClr val="17212B"/>
                </a:solidFill>
              </a:rPr>
              <a:t>Cloud enables convenient, on-demand access to shared configurable resources.</a:t>
            </a:r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DDAF2D06-7343-4626-B249-EE6DCEC424D3}"/>
              </a:ext>
            </a:extLst>
          </p:cNvPr>
          <p:cNvSpPr>
            <a:spLocks noGrp="1"/>
          </p:cNvSpPr>
          <p:nvPr/>
        </p:nvSpPr>
        <p:spPr>
          <a:xfrm>
            <a:off x="838200" y="2419350"/>
            <a:ext cx="95250" cy="95250"/>
          </a:xfrm>
          <a:prstGeom prst="ellipse">
            <a:avLst/>
          </a:prstGeom>
          <a:solidFill>
            <a:srgbClr val="38699C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CCFEDC62-5E19-4814-9744-6A73C634BF5E}"/>
              </a:ext>
            </a:extLst>
          </p:cNvPr>
          <p:cNvSpPr>
            <a:spLocks noGrp="1"/>
          </p:cNvSpPr>
          <p:nvPr/>
        </p:nvSpPr>
        <p:spPr>
          <a:xfrm>
            <a:off x="1123950" y="2305050"/>
            <a:ext cx="9620250" cy="523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650">
                <a:solidFill>
                  <a:srgbClr val="17212B"/>
                </a:solidFill>
              </a:defRPr>
            </a:pPr>
            <a:r>
              <a:rPr sz="1650">
                <a:solidFill>
                  <a:srgbClr val="17212B"/>
                </a:solidFill>
              </a:rPr>
              <a:t>Resources can include networks, servers, storage, applications, and services.</a:t>
            </a:r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DD4C04F9-C0F9-4DC6-A1CF-A9F0AD75E4EC}"/>
              </a:ext>
            </a:extLst>
          </p:cNvPr>
          <p:cNvSpPr>
            <a:spLocks noGrp="1"/>
          </p:cNvSpPr>
          <p:nvPr/>
        </p:nvSpPr>
        <p:spPr>
          <a:xfrm>
            <a:off x="838200" y="3162300"/>
            <a:ext cx="95250" cy="95250"/>
          </a:xfrm>
          <a:prstGeom prst="ellipse">
            <a:avLst/>
          </a:prstGeom>
          <a:solidFill>
            <a:srgbClr val="38699C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D9C5CFB6-63AA-4C02-A65C-586951C3B628}"/>
              </a:ext>
            </a:extLst>
          </p:cNvPr>
          <p:cNvSpPr>
            <a:spLocks noGrp="1"/>
          </p:cNvSpPr>
          <p:nvPr/>
        </p:nvSpPr>
        <p:spPr>
          <a:xfrm>
            <a:off x="1123950" y="3048000"/>
            <a:ext cx="9620250" cy="523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650">
                <a:solidFill>
                  <a:srgbClr val="17212B"/>
                </a:solidFill>
              </a:defRPr>
            </a:pPr>
            <a:r>
              <a:rPr sz="1650">
                <a:solidFill>
                  <a:srgbClr val="17212B"/>
                </a:solidFill>
              </a:rPr>
              <a:t>They can be provisioned and released quickly with minimal management effort.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7C94DF7A-0E54-4523-A547-9686013261F7}"/>
              </a:ext>
            </a:extLst>
          </p:cNvPr>
          <p:cNvSpPr>
            <a:spLocks noGrp="1"/>
          </p:cNvSpPr>
          <p:nvPr/>
        </p:nvSpPr>
        <p:spPr>
          <a:xfrm>
            <a:off x="685800" y="4953000"/>
            <a:ext cx="10820400" cy="590550"/>
          </a:xfrm>
          <a:prstGeom prst="rect">
            <a:avLst/>
          </a:prstGeom>
          <a:solidFill>
            <a:srgbClr val="EAF2FA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3E923444-AFF7-491D-BE28-A3CE1FAC955F}"/>
              </a:ext>
            </a:extLst>
          </p:cNvPr>
          <p:cNvSpPr>
            <a:spLocks noGrp="1"/>
          </p:cNvSpPr>
          <p:nvPr/>
        </p:nvSpPr>
        <p:spPr>
          <a:xfrm>
            <a:off x="952500" y="5114925"/>
            <a:ext cx="102870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650" b="1">
                <a:solidFill>
                  <a:srgbClr val="123B6D"/>
                </a:solidFill>
              </a:defRPr>
            </a:pPr>
            <a:r>
              <a:rPr sz="1650" b="1">
                <a:solidFill>
                  <a:srgbClr val="123B6D"/>
                </a:solidFill>
              </a:rPr>
              <a:t>The definition helps distinguish the model from a particular vendor or product.</a:t>
            </a:r>
          </a:p>
        </p:txBody>
      </p:sp>
    </p:spTree>
    <p:extLst>
      <p:ext uri="{BB962C8B-B14F-4D97-AF65-F5344CB8AC3E}">
        <p14:creationId xmlns:p14="http://schemas.microsoft.com/office/powerpoint/2010/main" val="77494965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13">
            <a:extLst>
              <a:ext uri="{FF2B5EF4-FFF2-40B4-BE49-F238E27FC236}">
                <a16:creationId xmlns:a16="http://schemas.microsoft.com/office/drawing/2014/main" id="{F40E9DF2-81B7-44D1-A257-435C44995D51}"/>
              </a:ext>
            </a:extLst>
          </p:cNvPr>
          <p:cNvSpPr>
            <a:spLocks noGrp="1"/>
          </p:cNvSpPr>
          <p:nvPr/>
        </p:nvSpPr>
        <p:spPr>
          <a:xfrm>
            <a:off x="685800" y="400050"/>
            <a:ext cx="10001250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2700" b="1">
                <a:solidFill>
                  <a:srgbClr val="123B6D"/>
                </a:solidFill>
              </a:defRPr>
            </a:pPr>
            <a:r>
              <a:rPr sz="2700" b="1">
                <a:solidFill>
                  <a:srgbClr val="123B6D"/>
                </a:solidFill>
              </a:rPr>
              <a:t>From buying capacity to consuming capability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D32C6309-3423-4CA4-BAF8-6C1F1F23D931}"/>
              </a:ext>
            </a:extLst>
          </p:cNvPr>
          <p:cNvSpPr>
            <a:spLocks noGrp="1"/>
          </p:cNvSpPr>
          <p:nvPr/>
        </p:nvSpPr>
        <p:spPr>
          <a:xfrm>
            <a:off x="685800" y="1028700"/>
            <a:ext cx="10820400" cy="38100"/>
          </a:xfrm>
          <a:prstGeom prst="rect">
            <a:avLst/>
          </a:prstGeom>
          <a:solidFill>
            <a:srgbClr val="123B6D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65AC97DC-F2C7-4B5B-946D-2474E703FF32}"/>
              </a:ext>
            </a:extLst>
          </p:cNvPr>
          <p:cNvSpPr>
            <a:spLocks noGrp="1"/>
          </p:cNvSpPr>
          <p:nvPr/>
        </p:nvSpPr>
        <p:spPr>
          <a:xfrm>
            <a:off x="685800" y="6419850"/>
            <a:ext cx="2143125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975">
                <a:solidFill>
                  <a:srgbClr val="52606D"/>
                </a:solidFill>
              </a:defRPr>
            </a:pPr>
            <a:r>
              <a:rPr sz="975">
                <a:solidFill>
                  <a:srgbClr val="52606D"/>
                </a:solidFill>
              </a:rPr>
              <a:t>Cloud Computing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E9A4F329-5666-424A-B69B-0361237C904D}"/>
              </a:ext>
            </a:extLst>
          </p:cNvPr>
          <p:cNvSpPr>
            <a:spLocks noGrp="1"/>
          </p:cNvSpPr>
          <p:nvPr/>
        </p:nvSpPr>
        <p:spPr>
          <a:xfrm>
            <a:off x="3381375" y="6419850"/>
            <a:ext cx="65722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975">
                <a:solidFill>
                  <a:srgbClr val="52606D"/>
                </a:solidFill>
              </a:defRPr>
            </a:pPr>
            <a:r>
              <a:rPr sz="975">
                <a:solidFill>
                  <a:srgbClr val="52606D"/>
                </a:solidFill>
              </a:rPr>
              <a:t>Presented by Gregor von Laszewski (laszewski@gmail.com)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ECF60349-E7B7-4233-A7C1-575AAAAD3235}"/>
              </a:ext>
            </a:extLst>
          </p:cNvPr>
          <p:cNvSpPr>
            <a:spLocks noGrp="1"/>
          </p:cNvSpPr>
          <p:nvPr/>
        </p:nvSpPr>
        <p:spPr>
          <a:xfrm>
            <a:off x="10858500" y="6419850"/>
            <a:ext cx="6477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975">
                <a:solidFill>
                  <a:srgbClr val="52606D"/>
                </a:solidFill>
              </a:defRPr>
            </a:pPr>
            <a:r>
              <a:rPr sz="975">
                <a:solidFill>
                  <a:srgbClr val="52606D"/>
                </a:solidFill>
              </a:rPr>
              <a:t>07</a:t>
            </a:r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3EEF24A4-7F15-45AC-9455-9B4BD808F0D9}"/>
              </a:ext>
            </a:extLst>
          </p:cNvPr>
          <p:cNvSpPr>
            <a:spLocks noGrp="1"/>
          </p:cNvSpPr>
          <p:nvPr/>
        </p:nvSpPr>
        <p:spPr>
          <a:xfrm>
            <a:off x="838200" y="1676400"/>
            <a:ext cx="95250" cy="95250"/>
          </a:xfrm>
          <a:prstGeom prst="ellipse">
            <a:avLst/>
          </a:prstGeom>
          <a:solidFill>
            <a:srgbClr val="38699C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538E5642-E794-4CAA-8A83-8F03728F5F8C}"/>
              </a:ext>
            </a:extLst>
          </p:cNvPr>
          <p:cNvSpPr>
            <a:spLocks noGrp="1"/>
          </p:cNvSpPr>
          <p:nvPr/>
        </p:nvSpPr>
        <p:spPr>
          <a:xfrm>
            <a:off x="1123950" y="1562100"/>
            <a:ext cx="9620250" cy="523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650">
                <a:solidFill>
                  <a:srgbClr val="17212B"/>
                </a:solidFill>
              </a:defRPr>
            </a:pPr>
            <a:r>
              <a:rPr sz="1650">
                <a:solidFill>
                  <a:srgbClr val="17212B"/>
                </a:solidFill>
              </a:rPr>
              <a:t>Traditional IT often begins with procurement and installation.</a:t>
            </a:r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DAD58E79-3920-4553-A885-06FB73454583}"/>
              </a:ext>
            </a:extLst>
          </p:cNvPr>
          <p:cNvSpPr>
            <a:spLocks noGrp="1"/>
          </p:cNvSpPr>
          <p:nvPr/>
        </p:nvSpPr>
        <p:spPr>
          <a:xfrm>
            <a:off x="838200" y="2419350"/>
            <a:ext cx="95250" cy="95250"/>
          </a:xfrm>
          <a:prstGeom prst="ellipse">
            <a:avLst/>
          </a:prstGeom>
          <a:solidFill>
            <a:srgbClr val="38699C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4BDFB59D-D350-4858-A3FD-D95264DC2B6A}"/>
              </a:ext>
            </a:extLst>
          </p:cNvPr>
          <p:cNvSpPr>
            <a:spLocks noGrp="1"/>
          </p:cNvSpPr>
          <p:nvPr/>
        </p:nvSpPr>
        <p:spPr>
          <a:xfrm>
            <a:off x="1123950" y="2305050"/>
            <a:ext cx="9620250" cy="523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650">
                <a:solidFill>
                  <a:srgbClr val="17212B"/>
                </a:solidFill>
              </a:defRPr>
            </a:pPr>
            <a:r>
              <a:rPr sz="1650">
                <a:solidFill>
                  <a:srgbClr val="17212B"/>
                </a:solidFill>
              </a:rPr>
              <a:t>Cloud begins with a service request, policy checks, and automated provisioning.</a:t>
            </a:r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08E9EC43-0396-47EF-815C-631DA9BBEA44}"/>
              </a:ext>
            </a:extLst>
          </p:cNvPr>
          <p:cNvSpPr>
            <a:spLocks noGrp="1"/>
          </p:cNvSpPr>
          <p:nvPr/>
        </p:nvSpPr>
        <p:spPr>
          <a:xfrm>
            <a:off x="838200" y="3162300"/>
            <a:ext cx="95250" cy="95250"/>
          </a:xfrm>
          <a:prstGeom prst="ellipse">
            <a:avLst/>
          </a:prstGeom>
          <a:solidFill>
            <a:srgbClr val="38699C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BCAAF796-B8F6-4397-9B78-7E40C5171DCA}"/>
              </a:ext>
            </a:extLst>
          </p:cNvPr>
          <p:cNvSpPr>
            <a:spLocks noGrp="1"/>
          </p:cNvSpPr>
          <p:nvPr/>
        </p:nvSpPr>
        <p:spPr>
          <a:xfrm>
            <a:off x="1123950" y="3048000"/>
            <a:ext cx="9620250" cy="523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650">
                <a:solidFill>
                  <a:srgbClr val="17212B"/>
                </a:solidFill>
              </a:defRPr>
            </a:pPr>
            <a:r>
              <a:rPr sz="1650">
                <a:solidFill>
                  <a:srgbClr val="17212B"/>
                </a:solidFill>
              </a:rPr>
              <a:t>The technical work moves toward architecture, automation, and operating discipline.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A3FA7F38-73E1-4727-9F11-BCC5F2532921}"/>
              </a:ext>
            </a:extLst>
          </p:cNvPr>
          <p:cNvSpPr>
            <a:spLocks noGrp="1"/>
          </p:cNvSpPr>
          <p:nvPr/>
        </p:nvSpPr>
        <p:spPr>
          <a:xfrm>
            <a:off x="685800" y="4953000"/>
            <a:ext cx="10820400" cy="590550"/>
          </a:xfrm>
          <a:prstGeom prst="rect">
            <a:avLst/>
          </a:prstGeom>
          <a:solidFill>
            <a:srgbClr val="EAF2FA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CF606B1D-D6E0-4A58-9F64-0B42BA167950}"/>
              </a:ext>
            </a:extLst>
          </p:cNvPr>
          <p:cNvSpPr>
            <a:spLocks noGrp="1"/>
          </p:cNvSpPr>
          <p:nvPr/>
        </p:nvSpPr>
        <p:spPr>
          <a:xfrm>
            <a:off x="952500" y="5114925"/>
            <a:ext cx="102870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650" b="1">
                <a:solidFill>
                  <a:srgbClr val="123B6D"/>
                </a:solidFill>
              </a:defRPr>
            </a:pPr>
            <a:r>
              <a:rPr sz="1650" b="1">
                <a:solidFill>
                  <a:srgbClr val="123B6D"/>
                </a:solidFill>
              </a:rPr>
              <a:t>The important shift is not where the servers sit; it is how teams use them.</a:t>
            </a:r>
          </a:p>
        </p:txBody>
      </p:sp>
    </p:spTree>
    <p:extLst>
      <p:ext uri="{BB962C8B-B14F-4D97-AF65-F5344CB8AC3E}">
        <p14:creationId xmlns:p14="http://schemas.microsoft.com/office/powerpoint/2010/main" val="50059449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13">
            <a:extLst>
              <a:ext uri="{FF2B5EF4-FFF2-40B4-BE49-F238E27FC236}">
                <a16:creationId xmlns:a16="http://schemas.microsoft.com/office/drawing/2014/main" id="{2E35AF0C-9BC2-468E-A739-9C414AD42E03}"/>
              </a:ext>
            </a:extLst>
          </p:cNvPr>
          <p:cNvSpPr>
            <a:spLocks noGrp="1"/>
          </p:cNvSpPr>
          <p:nvPr/>
        </p:nvSpPr>
        <p:spPr>
          <a:xfrm>
            <a:off x="685800" y="400050"/>
            <a:ext cx="10001250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2700" b="1">
                <a:solidFill>
                  <a:srgbClr val="123B6D"/>
                </a:solidFill>
              </a:defRPr>
            </a:pPr>
            <a:r>
              <a:rPr sz="2700" b="1">
                <a:solidFill>
                  <a:srgbClr val="123B6D"/>
                </a:solidFill>
              </a:rPr>
              <a:t>Characteristic 1: on-demand self-service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3FED5494-57B6-463D-BBC8-FE8847E9E373}"/>
              </a:ext>
            </a:extLst>
          </p:cNvPr>
          <p:cNvSpPr>
            <a:spLocks noGrp="1"/>
          </p:cNvSpPr>
          <p:nvPr/>
        </p:nvSpPr>
        <p:spPr>
          <a:xfrm>
            <a:off x="685800" y="1028700"/>
            <a:ext cx="10820400" cy="38100"/>
          </a:xfrm>
          <a:prstGeom prst="rect">
            <a:avLst/>
          </a:prstGeom>
          <a:solidFill>
            <a:srgbClr val="123B6D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FB9444E6-2E9D-4B5B-922C-DF4170CF05A0}"/>
              </a:ext>
            </a:extLst>
          </p:cNvPr>
          <p:cNvSpPr>
            <a:spLocks noGrp="1"/>
          </p:cNvSpPr>
          <p:nvPr/>
        </p:nvSpPr>
        <p:spPr>
          <a:xfrm>
            <a:off x="685800" y="6419850"/>
            <a:ext cx="2143125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975">
                <a:solidFill>
                  <a:srgbClr val="52606D"/>
                </a:solidFill>
              </a:defRPr>
            </a:pPr>
            <a:r>
              <a:rPr sz="975">
                <a:solidFill>
                  <a:srgbClr val="52606D"/>
                </a:solidFill>
              </a:rPr>
              <a:t>Cloud Computing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51AE9DBF-2842-4B2B-BF77-D55B6BBC4EDA}"/>
              </a:ext>
            </a:extLst>
          </p:cNvPr>
          <p:cNvSpPr>
            <a:spLocks noGrp="1"/>
          </p:cNvSpPr>
          <p:nvPr/>
        </p:nvSpPr>
        <p:spPr>
          <a:xfrm>
            <a:off x="3381375" y="6419850"/>
            <a:ext cx="65722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975">
                <a:solidFill>
                  <a:srgbClr val="52606D"/>
                </a:solidFill>
              </a:defRPr>
            </a:pPr>
            <a:r>
              <a:rPr sz="975">
                <a:solidFill>
                  <a:srgbClr val="52606D"/>
                </a:solidFill>
              </a:rPr>
              <a:t>Presented by Gregor von Laszewski (laszewski@gmail.com)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1E134CA8-89E2-4411-AD60-FFC15B9A4DBD}"/>
              </a:ext>
            </a:extLst>
          </p:cNvPr>
          <p:cNvSpPr>
            <a:spLocks noGrp="1"/>
          </p:cNvSpPr>
          <p:nvPr/>
        </p:nvSpPr>
        <p:spPr>
          <a:xfrm>
            <a:off x="10858500" y="6419850"/>
            <a:ext cx="6477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975">
                <a:solidFill>
                  <a:srgbClr val="52606D"/>
                </a:solidFill>
              </a:defRPr>
            </a:pPr>
            <a:r>
              <a:rPr sz="975">
                <a:solidFill>
                  <a:srgbClr val="52606D"/>
                </a:solidFill>
              </a:rPr>
              <a:t>08</a:t>
            </a:r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619E95B4-3CC5-4D23-885B-3DBDAB30AD12}"/>
              </a:ext>
            </a:extLst>
          </p:cNvPr>
          <p:cNvSpPr>
            <a:spLocks noGrp="1"/>
          </p:cNvSpPr>
          <p:nvPr/>
        </p:nvSpPr>
        <p:spPr>
          <a:xfrm>
            <a:off x="838200" y="1676400"/>
            <a:ext cx="95250" cy="95250"/>
          </a:xfrm>
          <a:prstGeom prst="ellipse">
            <a:avLst/>
          </a:prstGeom>
          <a:solidFill>
            <a:srgbClr val="38699C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2299706E-48E1-411F-A49D-46A3DBA596B2}"/>
              </a:ext>
            </a:extLst>
          </p:cNvPr>
          <p:cNvSpPr>
            <a:spLocks noGrp="1"/>
          </p:cNvSpPr>
          <p:nvPr/>
        </p:nvSpPr>
        <p:spPr>
          <a:xfrm>
            <a:off x="1123950" y="1562100"/>
            <a:ext cx="9620250" cy="523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650">
                <a:solidFill>
                  <a:srgbClr val="17212B"/>
                </a:solidFill>
              </a:defRPr>
            </a:pPr>
            <a:r>
              <a:rPr sz="1650">
                <a:solidFill>
                  <a:srgbClr val="17212B"/>
                </a:solidFill>
              </a:rPr>
              <a:t>A user can request resources without a manual ticket for each action.</a:t>
            </a:r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6FC6E6BC-E8F9-44D4-A78F-35E29E3333AC}"/>
              </a:ext>
            </a:extLst>
          </p:cNvPr>
          <p:cNvSpPr>
            <a:spLocks noGrp="1"/>
          </p:cNvSpPr>
          <p:nvPr/>
        </p:nvSpPr>
        <p:spPr>
          <a:xfrm>
            <a:off x="838200" y="2419350"/>
            <a:ext cx="95250" cy="95250"/>
          </a:xfrm>
          <a:prstGeom prst="ellipse">
            <a:avLst/>
          </a:prstGeom>
          <a:solidFill>
            <a:srgbClr val="38699C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CE129DC5-1017-4701-BF2A-AB2D5C57E034}"/>
              </a:ext>
            </a:extLst>
          </p:cNvPr>
          <p:cNvSpPr>
            <a:spLocks noGrp="1"/>
          </p:cNvSpPr>
          <p:nvPr/>
        </p:nvSpPr>
        <p:spPr>
          <a:xfrm>
            <a:off x="1123950" y="2305050"/>
            <a:ext cx="9620250" cy="523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650">
                <a:solidFill>
                  <a:srgbClr val="17212B"/>
                </a:solidFill>
              </a:defRPr>
            </a:pPr>
            <a:r>
              <a:rPr sz="1650">
                <a:solidFill>
                  <a:srgbClr val="17212B"/>
                </a:solidFill>
              </a:rPr>
              <a:t>Portals, APIs, and infrastructure-as-code provide the interface.</a:t>
            </a:r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752402B6-0342-491A-AB47-19A0B72F15E6}"/>
              </a:ext>
            </a:extLst>
          </p:cNvPr>
          <p:cNvSpPr>
            <a:spLocks noGrp="1"/>
          </p:cNvSpPr>
          <p:nvPr/>
        </p:nvSpPr>
        <p:spPr>
          <a:xfrm>
            <a:off x="838200" y="3162300"/>
            <a:ext cx="95250" cy="95250"/>
          </a:xfrm>
          <a:prstGeom prst="ellipse">
            <a:avLst/>
          </a:prstGeom>
          <a:solidFill>
            <a:srgbClr val="38699C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586F9D49-25C2-49D4-8B4A-C7280E60248C}"/>
              </a:ext>
            </a:extLst>
          </p:cNvPr>
          <p:cNvSpPr>
            <a:spLocks noGrp="1"/>
          </p:cNvSpPr>
          <p:nvPr/>
        </p:nvSpPr>
        <p:spPr>
          <a:xfrm>
            <a:off x="1123950" y="3048000"/>
            <a:ext cx="9620250" cy="523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650">
                <a:solidFill>
                  <a:srgbClr val="17212B"/>
                </a:solidFill>
              </a:defRPr>
            </a:pPr>
            <a:r>
              <a:rPr sz="1650">
                <a:solidFill>
                  <a:srgbClr val="17212B"/>
                </a:solidFill>
              </a:rPr>
              <a:t>Guardrails still matter: permissions, quotas, approvals, and audit trails.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9ECE8EFE-03AC-4F20-A585-BC644D2E8D8C}"/>
              </a:ext>
            </a:extLst>
          </p:cNvPr>
          <p:cNvSpPr>
            <a:spLocks noGrp="1"/>
          </p:cNvSpPr>
          <p:nvPr/>
        </p:nvSpPr>
        <p:spPr>
          <a:xfrm>
            <a:off x="685800" y="4953000"/>
            <a:ext cx="10820400" cy="590550"/>
          </a:xfrm>
          <a:prstGeom prst="rect">
            <a:avLst/>
          </a:prstGeom>
          <a:solidFill>
            <a:srgbClr val="EAF2FA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15A46816-CF32-434B-8C28-689BDD5ECF84}"/>
              </a:ext>
            </a:extLst>
          </p:cNvPr>
          <p:cNvSpPr>
            <a:spLocks noGrp="1"/>
          </p:cNvSpPr>
          <p:nvPr/>
        </p:nvSpPr>
        <p:spPr>
          <a:xfrm>
            <a:off x="952500" y="5114925"/>
            <a:ext cx="102870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650" b="1">
                <a:solidFill>
                  <a:srgbClr val="123B6D"/>
                </a:solidFill>
              </a:defRPr>
            </a:pPr>
            <a:r>
              <a:rPr sz="1650" b="1">
                <a:solidFill>
                  <a:srgbClr val="123B6D"/>
                </a:solidFill>
              </a:rPr>
              <a:t>Self-service accelerates work only when it is paired with sensible controls.</a:t>
            </a:r>
          </a:p>
        </p:txBody>
      </p:sp>
    </p:spTree>
    <p:extLst>
      <p:ext uri="{BB962C8B-B14F-4D97-AF65-F5344CB8AC3E}">
        <p14:creationId xmlns:p14="http://schemas.microsoft.com/office/powerpoint/2010/main" val="201766466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13">
            <a:extLst>
              <a:ext uri="{FF2B5EF4-FFF2-40B4-BE49-F238E27FC236}">
                <a16:creationId xmlns:a16="http://schemas.microsoft.com/office/drawing/2014/main" id="{4B71CEBF-F01F-4873-B657-C9490FBDA20D}"/>
              </a:ext>
            </a:extLst>
          </p:cNvPr>
          <p:cNvSpPr>
            <a:spLocks noGrp="1"/>
          </p:cNvSpPr>
          <p:nvPr/>
        </p:nvSpPr>
        <p:spPr>
          <a:xfrm>
            <a:off x="685800" y="400050"/>
            <a:ext cx="10001250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2700" b="1">
                <a:solidFill>
                  <a:srgbClr val="123B6D"/>
                </a:solidFill>
              </a:defRPr>
            </a:pPr>
            <a:r>
              <a:rPr sz="2700" b="1">
                <a:solidFill>
                  <a:srgbClr val="123B6D"/>
                </a:solidFill>
              </a:rPr>
              <a:t>Characteristic 2: broad network access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6675CC28-874B-436E-A46C-23A9E48E1E07}"/>
              </a:ext>
            </a:extLst>
          </p:cNvPr>
          <p:cNvSpPr>
            <a:spLocks noGrp="1"/>
          </p:cNvSpPr>
          <p:nvPr/>
        </p:nvSpPr>
        <p:spPr>
          <a:xfrm>
            <a:off x="685800" y="1028700"/>
            <a:ext cx="10820400" cy="38100"/>
          </a:xfrm>
          <a:prstGeom prst="rect">
            <a:avLst/>
          </a:prstGeom>
          <a:solidFill>
            <a:srgbClr val="123B6D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F59AAF89-52AA-490C-9014-A8B9DCDBD313}"/>
              </a:ext>
            </a:extLst>
          </p:cNvPr>
          <p:cNvSpPr>
            <a:spLocks noGrp="1"/>
          </p:cNvSpPr>
          <p:nvPr/>
        </p:nvSpPr>
        <p:spPr>
          <a:xfrm>
            <a:off x="685800" y="6419850"/>
            <a:ext cx="2143125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975">
                <a:solidFill>
                  <a:srgbClr val="52606D"/>
                </a:solidFill>
              </a:defRPr>
            </a:pPr>
            <a:r>
              <a:rPr sz="975">
                <a:solidFill>
                  <a:srgbClr val="52606D"/>
                </a:solidFill>
              </a:rPr>
              <a:t>Cloud Computing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88236CAE-D2B2-4B2B-95AF-80EE8E4A2CF7}"/>
              </a:ext>
            </a:extLst>
          </p:cNvPr>
          <p:cNvSpPr>
            <a:spLocks noGrp="1"/>
          </p:cNvSpPr>
          <p:nvPr/>
        </p:nvSpPr>
        <p:spPr>
          <a:xfrm>
            <a:off x="3381375" y="6419850"/>
            <a:ext cx="65722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975">
                <a:solidFill>
                  <a:srgbClr val="52606D"/>
                </a:solidFill>
              </a:defRPr>
            </a:pPr>
            <a:r>
              <a:rPr sz="975">
                <a:solidFill>
                  <a:srgbClr val="52606D"/>
                </a:solidFill>
              </a:rPr>
              <a:t>Presented by Gregor von Laszewski (laszewski@gmail.com)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F3B954E4-94F4-4025-9DF7-16A63F61994A}"/>
              </a:ext>
            </a:extLst>
          </p:cNvPr>
          <p:cNvSpPr>
            <a:spLocks noGrp="1"/>
          </p:cNvSpPr>
          <p:nvPr/>
        </p:nvSpPr>
        <p:spPr>
          <a:xfrm>
            <a:off x="10858500" y="6419850"/>
            <a:ext cx="6477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975">
                <a:solidFill>
                  <a:srgbClr val="52606D"/>
                </a:solidFill>
              </a:defRPr>
            </a:pPr>
            <a:r>
              <a:rPr sz="975">
                <a:solidFill>
                  <a:srgbClr val="52606D"/>
                </a:solidFill>
              </a:rPr>
              <a:t>09</a:t>
            </a:r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244A20F1-718E-444F-AB3A-E1A9A08ABA39}"/>
              </a:ext>
            </a:extLst>
          </p:cNvPr>
          <p:cNvSpPr>
            <a:spLocks noGrp="1"/>
          </p:cNvSpPr>
          <p:nvPr/>
        </p:nvSpPr>
        <p:spPr>
          <a:xfrm>
            <a:off x="838200" y="1676400"/>
            <a:ext cx="95250" cy="95250"/>
          </a:xfrm>
          <a:prstGeom prst="ellipse">
            <a:avLst/>
          </a:prstGeom>
          <a:solidFill>
            <a:srgbClr val="38699C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210EA88E-7231-4AA7-9967-2682ECD6BFA8}"/>
              </a:ext>
            </a:extLst>
          </p:cNvPr>
          <p:cNvSpPr>
            <a:spLocks noGrp="1"/>
          </p:cNvSpPr>
          <p:nvPr/>
        </p:nvSpPr>
        <p:spPr>
          <a:xfrm>
            <a:off x="1123950" y="1562100"/>
            <a:ext cx="9620250" cy="523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650">
                <a:solidFill>
                  <a:srgbClr val="17212B"/>
                </a:solidFill>
              </a:defRPr>
            </a:pPr>
            <a:r>
              <a:rPr sz="1650">
                <a:solidFill>
                  <a:srgbClr val="17212B"/>
                </a:solidFill>
              </a:rPr>
              <a:t>Services are available through standard network mechanisms.</a:t>
            </a:r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125BE95F-BF2C-45D3-8B68-E407E7372378}"/>
              </a:ext>
            </a:extLst>
          </p:cNvPr>
          <p:cNvSpPr>
            <a:spLocks noGrp="1"/>
          </p:cNvSpPr>
          <p:nvPr/>
        </p:nvSpPr>
        <p:spPr>
          <a:xfrm>
            <a:off x="838200" y="2419350"/>
            <a:ext cx="95250" cy="95250"/>
          </a:xfrm>
          <a:prstGeom prst="ellipse">
            <a:avLst/>
          </a:prstGeom>
          <a:solidFill>
            <a:srgbClr val="38699C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F95AF46A-8B43-41AE-BFB3-D23C37B22EFF}"/>
              </a:ext>
            </a:extLst>
          </p:cNvPr>
          <p:cNvSpPr>
            <a:spLocks noGrp="1"/>
          </p:cNvSpPr>
          <p:nvPr/>
        </p:nvSpPr>
        <p:spPr>
          <a:xfrm>
            <a:off x="1123950" y="2305050"/>
            <a:ext cx="9620250" cy="523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650">
                <a:solidFill>
                  <a:srgbClr val="17212B"/>
                </a:solidFill>
              </a:defRPr>
            </a:pPr>
            <a:r>
              <a:rPr sz="1650">
                <a:solidFill>
                  <a:srgbClr val="17212B"/>
                </a:solidFill>
              </a:rPr>
              <a:t>Clients can include browsers, mobile devices, command-line tools, and APIs.</a:t>
            </a:r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70FFCFAF-77A7-4100-A132-04D2B6626FA3}"/>
              </a:ext>
            </a:extLst>
          </p:cNvPr>
          <p:cNvSpPr>
            <a:spLocks noGrp="1"/>
          </p:cNvSpPr>
          <p:nvPr/>
        </p:nvSpPr>
        <p:spPr>
          <a:xfrm>
            <a:off x="838200" y="3162300"/>
            <a:ext cx="95250" cy="95250"/>
          </a:xfrm>
          <a:prstGeom prst="ellipse">
            <a:avLst/>
          </a:prstGeom>
          <a:solidFill>
            <a:srgbClr val="38699C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30EBF1E2-519D-4AB3-A0BF-10DC056ED282}"/>
              </a:ext>
            </a:extLst>
          </p:cNvPr>
          <p:cNvSpPr>
            <a:spLocks noGrp="1"/>
          </p:cNvSpPr>
          <p:nvPr/>
        </p:nvSpPr>
        <p:spPr>
          <a:xfrm>
            <a:off x="1123950" y="3048000"/>
            <a:ext cx="9620250" cy="523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650">
                <a:solidFill>
                  <a:srgbClr val="17212B"/>
                </a:solidFill>
              </a:defRPr>
            </a:pPr>
            <a:r>
              <a:rPr sz="1650">
                <a:solidFill>
                  <a:srgbClr val="17212B"/>
                </a:solidFill>
              </a:rPr>
              <a:t>Access design must account for latency, identity, and network security.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2A418F5A-4AEC-4F88-BF2D-A30E963963A7}"/>
              </a:ext>
            </a:extLst>
          </p:cNvPr>
          <p:cNvSpPr>
            <a:spLocks noGrp="1"/>
          </p:cNvSpPr>
          <p:nvPr/>
        </p:nvSpPr>
        <p:spPr>
          <a:xfrm>
            <a:off x="685800" y="4953000"/>
            <a:ext cx="10820400" cy="590550"/>
          </a:xfrm>
          <a:prstGeom prst="rect">
            <a:avLst/>
          </a:prstGeom>
          <a:solidFill>
            <a:srgbClr val="EAF2FA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28A8E96C-6FFA-4D55-A56E-F5845D63F4BD}"/>
              </a:ext>
            </a:extLst>
          </p:cNvPr>
          <p:cNvSpPr>
            <a:spLocks noGrp="1"/>
          </p:cNvSpPr>
          <p:nvPr/>
        </p:nvSpPr>
        <p:spPr>
          <a:xfrm>
            <a:off x="952500" y="5114925"/>
            <a:ext cx="102870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650" b="1">
                <a:solidFill>
                  <a:srgbClr val="123B6D"/>
                </a:solidFill>
              </a:defRPr>
            </a:pPr>
            <a:r>
              <a:rPr sz="1650" b="1">
                <a:solidFill>
                  <a:srgbClr val="123B6D"/>
                </a:solidFill>
              </a:rPr>
              <a:t>Convenient access expands both opportunity and the attack surface.</a:t>
            </a:r>
          </a:p>
        </p:txBody>
      </p:sp>
    </p:spTree>
    <p:extLst>
      <p:ext uri="{BB962C8B-B14F-4D97-AF65-F5344CB8AC3E}">
        <p14:creationId xmlns:p14="http://schemas.microsoft.com/office/powerpoint/2010/main" val="200114922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13">
            <a:extLst>
              <a:ext uri="{FF2B5EF4-FFF2-40B4-BE49-F238E27FC236}">
                <a16:creationId xmlns:a16="http://schemas.microsoft.com/office/drawing/2014/main" id="{C75E9B52-C1C4-4DA8-B7DA-F163F21B036E}"/>
              </a:ext>
            </a:extLst>
          </p:cNvPr>
          <p:cNvSpPr>
            <a:spLocks noGrp="1"/>
          </p:cNvSpPr>
          <p:nvPr/>
        </p:nvSpPr>
        <p:spPr>
          <a:xfrm>
            <a:off x="685800" y="400050"/>
            <a:ext cx="10001250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2700" b="1">
                <a:solidFill>
                  <a:srgbClr val="123B6D"/>
                </a:solidFill>
              </a:defRPr>
            </a:pPr>
            <a:r>
              <a:rPr sz="2700" b="1">
                <a:solidFill>
                  <a:srgbClr val="123B6D"/>
                </a:solidFill>
              </a:rPr>
              <a:t>Characteristic 3: resource pooling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7923E38E-EA09-4715-A661-D66246C329D8}"/>
              </a:ext>
            </a:extLst>
          </p:cNvPr>
          <p:cNvSpPr>
            <a:spLocks noGrp="1"/>
          </p:cNvSpPr>
          <p:nvPr/>
        </p:nvSpPr>
        <p:spPr>
          <a:xfrm>
            <a:off x="685800" y="1028700"/>
            <a:ext cx="10820400" cy="38100"/>
          </a:xfrm>
          <a:prstGeom prst="rect">
            <a:avLst/>
          </a:prstGeom>
          <a:solidFill>
            <a:srgbClr val="123B6D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6EB5A45B-BB23-400D-98D8-765F1CE3121B}"/>
              </a:ext>
            </a:extLst>
          </p:cNvPr>
          <p:cNvSpPr>
            <a:spLocks noGrp="1"/>
          </p:cNvSpPr>
          <p:nvPr/>
        </p:nvSpPr>
        <p:spPr>
          <a:xfrm>
            <a:off x="685800" y="6419850"/>
            <a:ext cx="2143125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975">
                <a:solidFill>
                  <a:srgbClr val="52606D"/>
                </a:solidFill>
              </a:defRPr>
            </a:pPr>
            <a:r>
              <a:rPr sz="975">
                <a:solidFill>
                  <a:srgbClr val="52606D"/>
                </a:solidFill>
              </a:rPr>
              <a:t>Cloud Computing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81D5BB42-03D4-47BF-BC2F-1AD95499694E}"/>
              </a:ext>
            </a:extLst>
          </p:cNvPr>
          <p:cNvSpPr>
            <a:spLocks noGrp="1"/>
          </p:cNvSpPr>
          <p:nvPr/>
        </p:nvSpPr>
        <p:spPr>
          <a:xfrm>
            <a:off x="3381375" y="6419850"/>
            <a:ext cx="65722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975">
                <a:solidFill>
                  <a:srgbClr val="52606D"/>
                </a:solidFill>
              </a:defRPr>
            </a:pPr>
            <a:r>
              <a:rPr sz="975">
                <a:solidFill>
                  <a:srgbClr val="52606D"/>
                </a:solidFill>
              </a:rPr>
              <a:t>Presented by Gregor von Laszewski (laszewski@gmail.com)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8F83CCC7-A335-45D8-8E18-3DD4CA1F0FB8}"/>
              </a:ext>
            </a:extLst>
          </p:cNvPr>
          <p:cNvSpPr>
            <a:spLocks noGrp="1"/>
          </p:cNvSpPr>
          <p:nvPr/>
        </p:nvSpPr>
        <p:spPr>
          <a:xfrm>
            <a:off x="10858500" y="6419850"/>
            <a:ext cx="6477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975">
                <a:solidFill>
                  <a:srgbClr val="52606D"/>
                </a:solidFill>
              </a:defRPr>
            </a:pPr>
            <a:r>
              <a:rPr sz="975">
                <a:solidFill>
                  <a:srgbClr val="52606D"/>
                </a:solidFill>
              </a:rPr>
              <a:t>10</a:t>
            </a:r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39F5A73B-EF96-4AAF-92E1-87AC4BD7CE1D}"/>
              </a:ext>
            </a:extLst>
          </p:cNvPr>
          <p:cNvSpPr>
            <a:spLocks noGrp="1"/>
          </p:cNvSpPr>
          <p:nvPr/>
        </p:nvSpPr>
        <p:spPr>
          <a:xfrm>
            <a:off x="838200" y="1676400"/>
            <a:ext cx="95250" cy="95250"/>
          </a:xfrm>
          <a:prstGeom prst="ellipse">
            <a:avLst/>
          </a:prstGeom>
          <a:solidFill>
            <a:srgbClr val="38699C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188C41BA-9DBA-4734-8EBA-ABD6B501E5F1}"/>
              </a:ext>
            </a:extLst>
          </p:cNvPr>
          <p:cNvSpPr>
            <a:spLocks noGrp="1"/>
          </p:cNvSpPr>
          <p:nvPr/>
        </p:nvSpPr>
        <p:spPr>
          <a:xfrm>
            <a:off x="1123950" y="1562100"/>
            <a:ext cx="9620250" cy="523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650">
                <a:solidFill>
                  <a:srgbClr val="17212B"/>
                </a:solidFill>
              </a:defRPr>
            </a:pPr>
            <a:r>
              <a:rPr sz="1650">
                <a:solidFill>
                  <a:srgbClr val="17212B"/>
                </a:solidFill>
              </a:rPr>
              <a:t>Providers pool physical resources to serve many customers.</a:t>
            </a:r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9C78EF70-FD58-45EF-AB17-CE38FE3A4985}"/>
              </a:ext>
            </a:extLst>
          </p:cNvPr>
          <p:cNvSpPr>
            <a:spLocks noGrp="1"/>
          </p:cNvSpPr>
          <p:nvPr/>
        </p:nvSpPr>
        <p:spPr>
          <a:xfrm>
            <a:off x="838200" y="2419350"/>
            <a:ext cx="95250" cy="95250"/>
          </a:xfrm>
          <a:prstGeom prst="ellipse">
            <a:avLst/>
          </a:prstGeom>
          <a:solidFill>
            <a:srgbClr val="38699C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462F810A-15AE-4687-BE61-021BA1AA7E09}"/>
              </a:ext>
            </a:extLst>
          </p:cNvPr>
          <p:cNvSpPr>
            <a:spLocks noGrp="1"/>
          </p:cNvSpPr>
          <p:nvPr/>
        </p:nvSpPr>
        <p:spPr>
          <a:xfrm>
            <a:off x="1123950" y="2305050"/>
            <a:ext cx="9620250" cy="523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650">
                <a:solidFill>
                  <a:srgbClr val="17212B"/>
                </a:solidFill>
              </a:defRPr>
            </a:pPr>
            <a:r>
              <a:rPr sz="1650">
                <a:solidFill>
                  <a:srgbClr val="17212B"/>
                </a:solidFill>
              </a:rPr>
              <a:t>Abstraction and isolation make sharing practical.</a:t>
            </a:r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46E26F2A-32FF-4A02-8AEB-A17FF6B6DFF6}"/>
              </a:ext>
            </a:extLst>
          </p:cNvPr>
          <p:cNvSpPr>
            <a:spLocks noGrp="1"/>
          </p:cNvSpPr>
          <p:nvPr/>
        </p:nvSpPr>
        <p:spPr>
          <a:xfrm>
            <a:off x="838200" y="3162300"/>
            <a:ext cx="95250" cy="95250"/>
          </a:xfrm>
          <a:prstGeom prst="ellipse">
            <a:avLst/>
          </a:prstGeom>
          <a:solidFill>
            <a:srgbClr val="38699C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C7B799AF-89EC-4E87-BE9E-9E387BE0FAE0}"/>
              </a:ext>
            </a:extLst>
          </p:cNvPr>
          <p:cNvSpPr>
            <a:spLocks noGrp="1"/>
          </p:cNvSpPr>
          <p:nvPr/>
        </p:nvSpPr>
        <p:spPr>
          <a:xfrm>
            <a:off x="1123950" y="3048000"/>
            <a:ext cx="9620250" cy="523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650">
                <a:solidFill>
                  <a:srgbClr val="17212B"/>
                </a:solidFill>
              </a:defRPr>
            </a:pPr>
            <a:r>
              <a:rPr sz="1650">
                <a:solidFill>
                  <a:srgbClr val="17212B"/>
                </a:solidFill>
              </a:rPr>
              <a:t>Customers consume logical capacity rather than individual physical machines.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D24AE04C-445C-4D77-8F22-2C337EA53BFC}"/>
              </a:ext>
            </a:extLst>
          </p:cNvPr>
          <p:cNvSpPr>
            <a:spLocks noGrp="1"/>
          </p:cNvSpPr>
          <p:nvPr/>
        </p:nvSpPr>
        <p:spPr>
          <a:xfrm>
            <a:off x="685800" y="4953000"/>
            <a:ext cx="10820400" cy="590550"/>
          </a:xfrm>
          <a:prstGeom prst="rect">
            <a:avLst/>
          </a:prstGeom>
          <a:solidFill>
            <a:srgbClr val="EAF2FA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CD91CF1E-9B16-485F-89DC-B6446922EC44}"/>
              </a:ext>
            </a:extLst>
          </p:cNvPr>
          <p:cNvSpPr>
            <a:spLocks noGrp="1"/>
          </p:cNvSpPr>
          <p:nvPr/>
        </p:nvSpPr>
        <p:spPr>
          <a:xfrm>
            <a:off x="952500" y="5114925"/>
            <a:ext cx="102870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650" b="1">
                <a:solidFill>
                  <a:srgbClr val="123B6D"/>
                </a:solidFill>
              </a:defRPr>
            </a:pPr>
            <a:r>
              <a:rPr sz="1650" b="1">
                <a:solidFill>
                  <a:srgbClr val="123B6D"/>
                </a:solidFill>
              </a:rPr>
              <a:t>Pooling can improve utilization, but isolation must be designed and verified.</a:t>
            </a:r>
          </a:p>
        </p:txBody>
      </p:sp>
    </p:spTree>
    <p:extLst>
      <p:ext uri="{BB962C8B-B14F-4D97-AF65-F5344CB8AC3E}">
        <p14:creationId xmlns:p14="http://schemas.microsoft.com/office/powerpoint/2010/main" val="173411988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13">
            <a:extLst>
              <a:ext uri="{FF2B5EF4-FFF2-40B4-BE49-F238E27FC236}">
                <a16:creationId xmlns:a16="http://schemas.microsoft.com/office/drawing/2014/main" id="{BA24A716-C25B-49AB-A219-0AEA0F355F40}"/>
              </a:ext>
            </a:extLst>
          </p:cNvPr>
          <p:cNvSpPr>
            <a:spLocks noGrp="1"/>
          </p:cNvSpPr>
          <p:nvPr/>
        </p:nvSpPr>
        <p:spPr>
          <a:xfrm>
            <a:off x="685800" y="400050"/>
            <a:ext cx="10001250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2700" b="1">
                <a:solidFill>
                  <a:srgbClr val="123B6D"/>
                </a:solidFill>
              </a:defRPr>
            </a:pPr>
            <a:r>
              <a:rPr sz="2700" b="1">
                <a:solidFill>
                  <a:srgbClr val="123B6D"/>
                </a:solidFill>
              </a:rPr>
              <a:t>Characteristic 4: rapid elasticity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94C569DC-DEB4-4B95-A37F-C0702BE06D0D}"/>
              </a:ext>
            </a:extLst>
          </p:cNvPr>
          <p:cNvSpPr>
            <a:spLocks noGrp="1"/>
          </p:cNvSpPr>
          <p:nvPr/>
        </p:nvSpPr>
        <p:spPr>
          <a:xfrm>
            <a:off x="685800" y="1028700"/>
            <a:ext cx="10820400" cy="38100"/>
          </a:xfrm>
          <a:prstGeom prst="rect">
            <a:avLst/>
          </a:prstGeom>
          <a:solidFill>
            <a:srgbClr val="123B6D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BBF93C51-9165-4EAC-8E44-BFE8BC86573C}"/>
              </a:ext>
            </a:extLst>
          </p:cNvPr>
          <p:cNvSpPr>
            <a:spLocks noGrp="1"/>
          </p:cNvSpPr>
          <p:nvPr/>
        </p:nvSpPr>
        <p:spPr>
          <a:xfrm>
            <a:off x="685800" y="6419850"/>
            <a:ext cx="2143125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975">
                <a:solidFill>
                  <a:srgbClr val="52606D"/>
                </a:solidFill>
              </a:defRPr>
            </a:pPr>
            <a:r>
              <a:rPr sz="975">
                <a:solidFill>
                  <a:srgbClr val="52606D"/>
                </a:solidFill>
              </a:rPr>
              <a:t>Cloud Computing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D60C1959-6254-414C-913C-4D77AD3869C0}"/>
              </a:ext>
            </a:extLst>
          </p:cNvPr>
          <p:cNvSpPr>
            <a:spLocks noGrp="1"/>
          </p:cNvSpPr>
          <p:nvPr/>
        </p:nvSpPr>
        <p:spPr>
          <a:xfrm>
            <a:off x="3381375" y="6419850"/>
            <a:ext cx="65722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975">
                <a:solidFill>
                  <a:srgbClr val="52606D"/>
                </a:solidFill>
              </a:defRPr>
            </a:pPr>
            <a:r>
              <a:rPr sz="975">
                <a:solidFill>
                  <a:srgbClr val="52606D"/>
                </a:solidFill>
              </a:rPr>
              <a:t>Presented by Gregor von Laszewski (laszewski@gmail.com)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172A9AA1-9244-4176-B7BB-BB502F57C49F}"/>
              </a:ext>
            </a:extLst>
          </p:cNvPr>
          <p:cNvSpPr>
            <a:spLocks noGrp="1"/>
          </p:cNvSpPr>
          <p:nvPr/>
        </p:nvSpPr>
        <p:spPr>
          <a:xfrm>
            <a:off x="10858500" y="6419850"/>
            <a:ext cx="6477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975">
                <a:solidFill>
                  <a:srgbClr val="52606D"/>
                </a:solidFill>
              </a:defRPr>
            </a:pPr>
            <a:r>
              <a:rPr sz="975">
                <a:solidFill>
                  <a:srgbClr val="52606D"/>
                </a:solidFill>
              </a:rPr>
              <a:t>11</a:t>
            </a:r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3702FDDA-1DE1-4DD7-9299-D838CF9554D8}"/>
              </a:ext>
            </a:extLst>
          </p:cNvPr>
          <p:cNvSpPr>
            <a:spLocks noGrp="1"/>
          </p:cNvSpPr>
          <p:nvPr/>
        </p:nvSpPr>
        <p:spPr>
          <a:xfrm>
            <a:off x="838200" y="1676400"/>
            <a:ext cx="95250" cy="95250"/>
          </a:xfrm>
          <a:prstGeom prst="ellipse">
            <a:avLst/>
          </a:prstGeom>
          <a:solidFill>
            <a:srgbClr val="38699C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142B0E82-380A-472C-9507-68674A8A10A1}"/>
              </a:ext>
            </a:extLst>
          </p:cNvPr>
          <p:cNvSpPr>
            <a:spLocks noGrp="1"/>
          </p:cNvSpPr>
          <p:nvPr/>
        </p:nvSpPr>
        <p:spPr>
          <a:xfrm>
            <a:off x="1123950" y="1562100"/>
            <a:ext cx="9620250" cy="523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650">
                <a:solidFill>
                  <a:srgbClr val="17212B"/>
                </a:solidFill>
              </a:defRPr>
            </a:pPr>
            <a:r>
              <a:rPr sz="1650">
                <a:solidFill>
                  <a:srgbClr val="17212B"/>
                </a:solidFill>
              </a:rPr>
              <a:t>Capacity can expand or contract as workload demand changes.</a:t>
            </a:r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D2F42486-C6D1-4E5C-A3A7-346BD72E026F}"/>
              </a:ext>
            </a:extLst>
          </p:cNvPr>
          <p:cNvSpPr>
            <a:spLocks noGrp="1"/>
          </p:cNvSpPr>
          <p:nvPr/>
        </p:nvSpPr>
        <p:spPr>
          <a:xfrm>
            <a:off x="838200" y="2419350"/>
            <a:ext cx="95250" cy="95250"/>
          </a:xfrm>
          <a:prstGeom prst="ellipse">
            <a:avLst/>
          </a:prstGeom>
          <a:solidFill>
            <a:srgbClr val="38699C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5F54F3F5-C4AB-42CA-8072-C6AC9A5B81C6}"/>
              </a:ext>
            </a:extLst>
          </p:cNvPr>
          <p:cNvSpPr>
            <a:spLocks noGrp="1"/>
          </p:cNvSpPr>
          <p:nvPr/>
        </p:nvSpPr>
        <p:spPr>
          <a:xfrm>
            <a:off x="1123950" y="2305050"/>
            <a:ext cx="9620250" cy="523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650">
                <a:solidFill>
                  <a:srgbClr val="17212B"/>
                </a:solidFill>
              </a:defRPr>
            </a:pPr>
            <a:r>
              <a:rPr sz="1650">
                <a:solidFill>
                  <a:srgbClr val="17212B"/>
                </a:solidFill>
              </a:rPr>
              <a:t>Elasticity is most useful when applications can scale safely.</a:t>
            </a:r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EBF9B4DA-D3F5-4B1A-9C7A-B87BB938BFCE}"/>
              </a:ext>
            </a:extLst>
          </p:cNvPr>
          <p:cNvSpPr>
            <a:spLocks noGrp="1"/>
          </p:cNvSpPr>
          <p:nvPr/>
        </p:nvSpPr>
        <p:spPr>
          <a:xfrm>
            <a:off x="838200" y="3162300"/>
            <a:ext cx="95250" cy="95250"/>
          </a:xfrm>
          <a:prstGeom prst="ellipse">
            <a:avLst/>
          </a:prstGeom>
          <a:solidFill>
            <a:srgbClr val="38699C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F571595E-DF1F-4F13-89F0-1A9EC20BEED8}"/>
              </a:ext>
            </a:extLst>
          </p:cNvPr>
          <p:cNvSpPr>
            <a:spLocks noGrp="1"/>
          </p:cNvSpPr>
          <p:nvPr/>
        </p:nvSpPr>
        <p:spPr>
          <a:xfrm>
            <a:off x="1123950" y="3048000"/>
            <a:ext cx="9620250" cy="523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650">
                <a:solidFill>
                  <a:srgbClr val="17212B"/>
                </a:solidFill>
              </a:defRPr>
            </a:pPr>
            <a:r>
              <a:rPr sz="1650">
                <a:solidFill>
                  <a:srgbClr val="17212B"/>
                </a:solidFill>
              </a:rPr>
              <a:t>A fixed-size design may run in the cloud without taking advantage of elasticity.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9749712E-D027-451D-8DE1-D7898970E646}"/>
              </a:ext>
            </a:extLst>
          </p:cNvPr>
          <p:cNvSpPr>
            <a:spLocks noGrp="1"/>
          </p:cNvSpPr>
          <p:nvPr/>
        </p:nvSpPr>
        <p:spPr>
          <a:xfrm>
            <a:off x="685800" y="4953000"/>
            <a:ext cx="10820400" cy="590550"/>
          </a:xfrm>
          <a:prstGeom prst="rect">
            <a:avLst/>
          </a:prstGeom>
          <a:solidFill>
            <a:srgbClr val="EAF2FA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8AE50F8A-BE24-493E-A9A4-979A647825F6}"/>
              </a:ext>
            </a:extLst>
          </p:cNvPr>
          <p:cNvSpPr>
            <a:spLocks noGrp="1"/>
          </p:cNvSpPr>
          <p:nvPr/>
        </p:nvSpPr>
        <p:spPr>
          <a:xfrm>
            <a:off x="952500" y="5114925"/>
            <a:ext cx="102870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650" b="1">
                <a:solidFill>
                  <a:srgbClr val="123B6D"/>
                </a:solidFill>
              </a:defRPr>
            </a:pPr>
            <a:r>
              <a:rPr sz="1650" b="1">
                <a:solidFill>
                  <a:srgbClr val="123B6D"/>
                </a:solidFill>
              </a:rPr>
              <a:t>Scaling a service is an application and architecture concern—not a checkbox.</a:t>
            </a:r>
          </a:p>
        </p:txBody>
      </p:sp>
    </p:spTree>
    <p:extLst>
      <p:ext uri="{BB962C8B-B14F-4D97-AF65-F5344CB8AC3E}">
        <p14:creationId xmlns:p14="http://schemas.microsoft.com/office/powerpoint/2010/main" val="23991020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13">
            <a:extLst>
              <a:ext uri="{FF2B5EF4-FFF2-40B4-BE49-F238E27FC236}">
                <a16:creationId xmlns:a16="http://schemas.microsoft.com/office/drawing/2014/main" id="{0C1041D4-1E2E-4CCE-ACCB-639BF39F1AFB}"/>
              </a:ext>
            </a:extLst>
          </p:cNvPr>
          <p:cNvSpPr>
            <a:spLocks noGrp="1"/>
          </p:cNvSpPr>
          <p:nvPr/>
        </p:nvSpPr>
        <p:spPr>
          <a:xfrm>
            <a:off x="685800" y="400050"/>
            <a:ext cx="10001250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2700" b="1">
                <a:solidFill>
                  <a:srgbClr val="123B6D"/>
                </a:solidFill>
              </a:defRPr>
            </a:pPr>
            <a:r>
              <a:rPr sz="2700" b="1">
                <a:solidFill>
                  <a:srgbClr val="123B6D"/>
                </a:solidFill>
              </a:rPr>
              <a:t>Characteristic 5: measured service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1F76D6DC-2235-4DA7-B019-EC9437025328}"/>
              </a:ext>
            </a:extLst>
          </p:cNvPr>
          <p:cNvSpPr>
            <a:spLocks noGrp="1"/>
          </p:cNvSpPr>
          <p:nvPr/>
        </p:nvSpPr>
        <p:spPr>
          <a:xfrm>
            <a:off x="685800" y="1028700"/>
            <a:ext cx="10820400" cy="38100"/>
          </a:xfrm>
          <a:prstGeom prst="rect">
            <a:avLst/>
          </a:prstGeom>
          <a:solidFill>
            <a:srgbClr val="123B6D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9D254C64-DE5D-40B5-B3B1-17797D8ACC60}"/>
              </a:ext>
            </a:extLst>
          </p:cNvPr>
          <p:cNvSpPr>
            <a:spLocks noGrp="1"/>
          </p:cNvSpPr>
          <p:nvPr/>
        </p:nvSpPr>
        <p:spPr>
          <a:xfrm>
            <a:off x="685800" y="6419850"/>
            <a:ext cx="2143125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975">
                <a:solidFill>
                  <a:srgbClr val="52606D"/>
                </a:solidFill>
              </a:defRPr>
            </a:pPr>
            <a:r>
              <a:rPr sz="975">
                <a:solidFill>
                  <a:srgbClr val="52606D"/>
                </a:solidFill>
              </a:rPr>
              <a:t>Cloud Computing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34F63845-67AA-44C7-B410-D4507FFF9C7A}"/>
              </a:ext>
            </a:extLst>
          </p:cNvPr>
          <p:cNvSpPr>
            <a:spLocks noGrp="1"/>
          </p:cNvSpPr>
          <p:nvPr/>
        </p:nvSpPr>
        <p:spPr>
          <a:xfrm>
            <a:off x="3381375" y="6419850"/>
            <a:ext cx="65722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975">
                <a:solidFill>
                  <a:srgbClr val="52606D"/>
                </a:solidFill>
              </a:defRPr>
            </a:pPr>
            <a:r>
              <a:rPr sz="975">
                <a:solidFill>
                  <a:srgbClr val="52606D"/>
                </a:solidFill>
              </a:rPr>
              <a:t>Presented by Gregor von Laszewski (laszewski@gmail.com)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2AA37169-9AF9-4948-9A2B-2528EB67714A}"/>
              </a:ext>
            </a:extLst>
          </p:cNvPr>
          <p:cNvSpPr>
            <a:spLocks noGrp="1"/>
          </p:cNvSpPr>
          <p:nvPr/>
        </p:nvSpPr>
        <p:spPr>
          <a:xfrm>
            <a:off x="10858500" y="6419850"/>
            <a:ext cx="6477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975">
                <a:solidFill>
                  <a:srgbClr val="52606D"/>
                </a:solidFill>
              </a:defRPr>
            </a:pPr>
            <a:r>
              <a:rPr sz="975">
                <a:solidFill>
                  <a:srgbClr val="52606D"/>
                </a:solidFill>
              </a:rPr>
              <a:t>12</a:t>
            </a:r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80EA27D8-A05E-4092-A4F9-25408726E82A}"/>
              </a:ext>
            </a:extLst>
          </p:cNvPr>
          <p:cNvSpPr>
            <a:spLocks noGrp="1"/>
          </p:cNvSpPr>
          <p:nvPr/>
        </p:nvSpPr>
        <p:spPr>
          <a:xfrm>
            <a:off x="838200" y="1676400"/>
            <a:ext cx="95250" cy="95250"/>
          </a:xfrm>
          <a:prstGeom prst="ellipse">
            <a:avLst/>
          </a:prstGeom>
          <a:solidFill>
            <a:srgbClr val="38699C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D5C87142-BFCB-441F-8D97-CC6A0BB375D4}"/>
              </a:ext>
            </a:extLst>
          </p:cNvPr>
          <p:cNvSpPr>
            <a:spLocks noGrp="1"/>
          </p:cNvSpPr>
          <p:nvPr/>
        </p:nvSpPr>
        <p:spPr>
          <a:xfrm>
            <a:off x="1123950" y="1562100"/>
            <a:ext cx="9620250" cy="523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650">
                <a:solidFill>
                  <a:srgbClr val="17212B"/>
                </a:solidFill>
              </a:defRPr>
            </a:pPr>
            <a:r>
              <a:rPr sz="1650">
                <a:solidFill>
                  <a:srgbClr val="17212B"/>
                </a:solidFill>
              </a:rPr>
              <a:t>Usage is observed, metered, and reported.</a:t>
            </a:r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28AF7EDE-62FE-4DA3-9015-CEDDDC12E856}"/>
              </a:ext>
            </a:extLst>
          </p:cNvPr>
          <p:cNvSpPr>
            <a:spLocks noGrp="1"/>
          </p:cNvSpPr>
          <p:nvPr/>
        </p:nvSpPr>
        <p:spPr>
          <a:xfrm>
            <a:off x="838200" y="2419350"/>
            <a:ext cx="95250" cy="95250"/>
          </a:xfrm>
          <a:prstGeom prst="ellipse">
            <a:avLst/>
          </a:prstGeom>
          <a:solidFill>
            <a:srgbClr val="38699C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6DFE4707-369F-4210-84E9-7FF5DF8A91FF}"/>
              </a:ext>
            </a:extLst>
          </p:cNvPr>
          <p:cNvSpPr>
            <a:spLocks noGrp="1"/>
          </p:cNvSpPr>
          <p:nvPr/>
        </p:nvSpPr>
        <p:spPr>
          <a:xfrm>
            <a:off x="1123950" y="2305050"/>
            <a:ext cx="9620250" cy="523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650">
                <a:solidFill>
                  <a:srgbClr val="17212B"/>
                </a:solidFill>
              </a:defRPr>
            </a:pPr>
            <a:r>
              <a:rPr sz="1650">
                <a:solidFill>
                  <a:srgbClr val="17212B"/>
                </a:solidFill>
              </a:rPr>
              <a:t>Measurement supports chargeback, showback, budgets, and optimization.</a:t>
            </a:r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5FD04A5F-2F5D-4768-9DAD-80BB1841BC1D}"/>
              </a:ext>
            </a:extLst>
          </p:cNvPr>
          <p:cNvSpPr>
            <a:spLocks noGrp="1"/>
          </p:cNvSpPr>
          <p:nvPr/>
        </p:nvSpPr>
        <p:spPr>
          <a:xfrm>
            <a:off x="838200" y="3162300"/>
            <a:ext cx="95250" cy="95250"/>
          </a:xfrm>
          <a:prstGeom prst="ellipse">
            <a:avLst/>
          </a:prstGeom>
          <a:solidFill>
            <a:srgbClr val="38699C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55E5CB92-99C1-43BB-9785-30E4479A7198}"/>
              </a:ext>
            </a:extLst>
          </p:cNvPr>
          <p:cNvSpPr>
            <a:spLocks noGrp="1"/>
          </p:cNvSpPr>
          <p:nvPr/>
        </p:nvSpPr>
        <p:spPr>
          <a:xfrm>
            <a:off x="1123950" y="3048000"/>
            <a:ext cx="9620250" cy="523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650">
                <a:solidFill>
                  <a:srgbClr val="17212B"/>
                </a:solidFill>
              </a:defRPr>
            </a:pPr>
            <a:r>
              <a:rPr sz="1650">
                <a:solidFill>
                  <a:srgbClr val="17212B"/>
                </a:solidFill>
              </a:rPr>
              <a:t>Teams need understandable units: requests, gigabytes, hours, or transactions.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2F9CD4C4-1C51-4C5A-9232-4FED66AC57CA}"/>
              </a:ext>
            </a:extLst>
          </p:cNvPr>
          <p:cNvSpPr>
            <a:spLocks noGrp="1"/>
          </p:cNvSpPr>
          <p:nvPr/>
        </p:nvSpPr>
        <p:spPr>
          <a:xfrm>
            <a:off x="685800" y="4953000"/>
            <a:ext cx="10820400" cy="590550"/>
          </a:xfrm>
          <a:prstGeom prst="rect">
            <a:avLst/>
          </a:prstGeom>
          <a:solidFill>
            <a:srgbClr val="EAF2FA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2F96EAD3-F276-4F06-A251-D22FF658EA23}"/>
              </a:ext>
            </a:extLst>
          </p:cNvPr>
          <p:cNvSpPr>
            <a:spLocks noGrp="1"/>
          </p:cNvSpPr>
          <p:nvPr/>
        </p:nvSpPr>
        <p:spPr>
          <a:xfrm>
            <a:off x="952500" y="5114925"/>
            <a:ext cx="102870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650" b="1">
                <a:solidFill>
                  <a:srgbClr val="123B6D"/>
                </a:solidFill>
              </a:defRPr>
            </a:pPr>
            <a:r>
              <a:rPr sz="1650" b="1">
                <a:solidFill>
                  <a:srgbClr val="123B6D"/>
                </a:solidFill>
              </a:rPr>
              <a:t>If you cannot see usage, you cannot manage cloud cost well.</a:t>
            </a:r>
          </a:p>
        </p:txBody>
      </p:sp>
    </p:spTree>
    <p:extLst>
      <p:ext uri="{BB962C8B-B14F-4D97-AF65-F5344CB8AC3E}">
        <p14:creationId xmlns:p14="http://schemas.microsoft.com/office/powerpoint/2010/main" val="176184371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15">
            <a:extLst>
              <a:ext uri="{FF2B5EF4-FFF2-40B4-BE49-F238E27FC236}">
                <a16:creationId xmlns:a16="http://schemas.microsoft.com/office/drawing/2014/main" id="{F5AAADFC-71FF-4962-9416-4479103E1830}"/>
              </a:ext>
            </a:extLst>
          </p:cNvPr>
          <p:cNvSpPr>
            <a:spLocks noGrp="1"/>
          </p:cNvSpPr>
          <p:nvPr/>
        </p:nvSpPr>
        <p:spPr>
          <a:xfrm>
            <a:off x="685800" y="400050"/>
            <a:ext cx="10001250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2700" b="1">
                <a:solidFill>
                  <a:srgbClr val="123B6D"/>
                </a:solidFill>
              </a:defRPr>
            </a:pPr>
            <a:r>
              <a:rPr sz="2700" b="1">
                <a:solidFill>
                  <a:srgbClr val="123B6D"/>
                </a:solidFill>
              </a:rPr>
              <a:t>Quick check: identify the characteristics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1878D5E4-27FD-41B1-80D6-A1BE102B9959}"/>
              </a:ext>
            </a:extLst>
          </p:cNvPr>
          <p:cNvSpPr>
            <a:spLocks noGrp="1"/>
          </p:cNvSpPr>
          <p:nvPr/>
        </p:nvSpPr>
        <p:spPr>
          <a:xfrm>
            <a:off x="685800" y="1028700"/>
            <a:ext cx="10820400" cy="38100"/>
          </a:xfrm>
          <a:prstGeom prst="rect">
            <a:avLst/>
          </a:prstGeom>
          <a:solidFill>
            <a:srgbClr val="123B6D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D2F7489F-C4DE-4B1F-8720-8879335DBA7A}"/>
              </a:ext>
            </a:extLst>
          </p:cNvPr>
          <p:cNvSpPr>
            <a:spLocks noGrp="1"/>
          </p:cNvSpPr>
          <p:nvPr/>
        </p:nvSpPr>
        <p:spPr>
          <a:xfrm>
            <a:off x="685800" y="6419850"/>
            <a:ext cx="2143125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975">
                <a:solidFill>
                  <a:srgbClr val="52606D"/>
                </a:solidFill>
              </a:defRPr>
            </a:pPr>
            <a:r>
              <a:rPr sz="975">
                <a:solidFill>
                  <a:srgbClr val="52606D"/>
                </a:solidFill>
              </a:rPr>
              <a:t>Cloud Computing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76549020-A42B-4FA9-B90E-4DA0046CF305}"/>
              </a:ext>
            </a:extLst>
          </p:cNvPr>
          <p:cNvSpPr>
            <a:spLocks noGrp="1"/>
          </p:cNvSpPr>
          <p:nvPr/>
        </p:nvSpPr>
        <p:spPr>
          <a:xfrm>
            <a:off x="3381375" y="6419850"/>
            <a:ext cx="65722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975">
                <a:solidFill>
                  <a:srgbClr val="52606D"/>
                </a:solidFill>
              </a:defRPr>
            </a:pPr>
            <a:r>
              <a:rPr sz="975">
                <a:solidFill>
                  <a:srgbClr val="52606D"/>
                </a:solidFill>
              </a:rPr>
              <a:t>Presented by Gregor von Laszewski (laszewski@gmail.com)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D08607A8-CEC8-4E86-BEAB-052ED32F0873}"/>
              </a:ext>
            </a:extLst>
          </p:cNvPr>
          <p:cNvSpPr>
            <a:spLocks noGrp="1"/>
          </p:cNvSpPr>
          <p:nvPr/>
        </p:nvSpPr>
        <p:spPr>
          <a:xfrm>
            <a:off x="10858500" y="6419850"/>
            <a:ext cx="6477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975">
                <a:solidFill>
                  <a:srgbClr val="52606D"/>
                </a:solidFill>
              </a:defRPr>
            </a:pPr>
            <a:r>
              <a:rPr sz="975">
                <a:solidFill>
                  <a:srgbClr val="52606D"/>
                </a:solidFill>
              </a:rPr>
              <a:t>13</a:t>
            </a:r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BF1141D0-A77D-46EF-9649-87524DB013A0}"/>
              </a:ext>
            </a:extLst>
          </p:cNvPr>
          <p:cNvSpPr>
            <a:spLocks noGrp="1"/>
          </p:cNvSpPr>
          <p:nvPr/>
        </p:nvSpPr>
        <p:spPr>
          <a:xfrm>
            <a:off x="838200" y="1676400"/>
            <a:ext cx="95250" cy="95250"/>
          </a:xfrm>
          <a:prstGeom prst="ellipse">
            <a:avLst/>
          </a:prstGeom>
          <a:solidFill>
            <a:srgbClr val="38699C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0E563620-A9B5-4838-87FA-BF914566A902}"/>
              </a:ext>
            </a:extLst>
          </p:cNvPr>
          <p:cNvSpPr>
            <a:spLocks noGrp="1"/>
          </p:cNvSpPr>
          <p:nvPr/>
        </p:nvSpPr>
        <p:spPr>
          <a:xfrm>
            <a:off x="1123950" y="1562100"/>
            <a:ext cx="9620250" cy="523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650">
                <a:solidFill>
                  <a:srgbClr val="17212B"/>
                </a:solidFill>
              </a:defRPr>
            </a:pPr>
            <a:r>
              <a:rPr sz="1650">
                <a:solidFill>
                  <a:srgbClr val="17212B"/>
                </a:solidFill>
              </a:rPr>
              <a:t>A database is created through an API in three minutes.</a:t>
            </a:r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F4B71702-DF10-4779-9DC5-CAF53E298806}"/>
              </a:ext>
            </a:extLst>
          </p:cNvPr>
          <p:cNvSpPr>
            <a:spLocks noGrp="1"/>
          </p:cNvSpPr>
          <p:nvPr/>
        </p:nvSpPr>
        <p:spPr>
          <a:xfrm>
            <a:off x="838200" y="2419350"/>
            <a:ext cx="95250" cy="95250"/>
          </a:xfrm>
          <a:prstGeom prst="ellipse">
            <a:avLst/>
          </a:prstGeom>
          <a:solidFill>
            <a:srgbClr val="38699C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900C4346-623C-4901-8687-E348C18AE2DB}"/>
              </a:ext>
            </a:extLst>
          </p:cNvPr>
          <p:cNvSpPr>
            <a:spLocks noGrp="1"/>
          </p:cNvSpPr>
          <p:nvPr/>
        </p:nvSpPr>
        <p:spPr>
          <a:xfrm>
            <a:off x="1123950" y="2305050"/>
            <a:ext cx="9620250" cy="523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650">
                <a:solidFill>
                  <a:srgbClr val="17212B"/>
                </a:solidFill>
              </a:defRPr>
            </a:pPr>
            <a:r>
              <a:rPr sz="1650">
                <a:solidFill>
                  <a:srgbClr val="17212B"/>
                </a:solidFill>
              </a:rPr>
              <a:t>It automatically adds capacity during an event-registration rush.</a:t>
            </a:r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690C9573-C895-49CB-B6E2-5D09AA867FB3}"/>
              </a:ext>
            </a:extLst>
          </p:cNvPr>
          <p:cNvSpPr>
            <a:spLocks noGrp="1"/>
          </p:cNvSpPr>
          <p:nvPr/>
        </p:nvSpPr>
        <p:spPr>
          <a:xfrm>
            <a:off x="838200" y="3162300"/>
            <a:ext cx="95250" cy="95250"/>
          </a:xfrm>
          <a:prstGeom prst="ellipse">
            <a:avLst/>
          </a:prstGeom>
          <a:solidFill>
            <a:srgbClr val="38699C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D93D3474-2092-4C18-8BD2-0188F383E56B}"/>
              </a:ext>
            </a:extLst>
          </p:cNvPr>
          <p:cNvSpPr>
            <a:spLocks noGrp="1"/>
          </p:cNvSpPr>
          <p:nvPr/>
        </p:nvSpPr>
        <p:spPr>
          <a:xfrm>
            <a:off x="1123950" y="3048000"/>
            <a:ext cx="9620250" cy="523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650">
                <a:solidFill>
                  <a:srgbClr val="17212B"/>
                </a:solidFill>
              </a:defRPr>
            </a:pPr>
            <a:r>
              <a:rPr sz="1650">
                <a:solidFill>
                  <a:srgbClr val="17212B"/>
                </a:solidFill>
              </a:rPr>
              <a:t>The owner can see storage and request charges by project.</a:t>
            </a:r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8932811B-DD5C-462A-99C3-A811DB6AC41F}"/>
              </a:ext>
            </a:extLst>
          </p:cNvPr>
          <p:cNvSpPr>
            <a:spLocks noGrp="1"/>
          </p:cNvSpPr>
          <p:nvPr/>
        </p:nvSpPr>
        <p:spPr>
          <a:xfrm>
            <a:off x="838200" y="3905250"/>
            <a:ext cx="95250" cy="95250"/>
          </a:xfrm>
          <a:prstGeom prst="ellipse">
            <a:avLst/>
          </a:prstGeom>
          <a:solidFill>
            <a:srgbClr val="38699C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48C9293A-01B0-4FC5-A37C-E83E59ADB803}"/>
              </a:ext>
            </a:extLst>
          </p:cNvPr>
          <p:cNvSpPr>
            <a:spLocks noGrp="1"/>
          </p:cNvSpPr>
          <p:nvPr/>
        </p:nvSpPr>
        <p:spPr>
          <a:xfrm>
            <a:off x="1123950" y="3790950"/>
            <a:ext cx="9620250" cy="523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650">
                <a:solidFill>
                  <a:srgbClr val="17212B"/>
                </a:solidFill>
              </a:defRPr>
            </a:pPr>
            <a:r>
              <a:rPr sz="1650">
                <a:solidFill>
                  <a:srgbClr val="17212B"/>
                </a:solidFill>
              </a:rPr>
              <a:t>Which characteristics are visible? Which still need evidence?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475621FF-76EF-427D-B223-7A5517FC018C}"/>
              </a:ext>
            </a:extLst>
          </p:cNvPr>
          <p:cNvSpPr>
            <a:spLocks noGrp="1"/>
          </p:cNvSpPr>
          <p:nvPr/>
        </p:nvSpPr>
        <p:spPr>
          <a:xfrm>
            <a:off x="685800" y="4953000"/>
            <a:ext cx="10820400" cy="590550"/>
          </a:xfrm>
          <a:prstGeom prst="rect">
            <a:avLst/>
          </a:prstGeom>
          <a:solidFill>
            <a:srgbClr val="EAF2FA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28DCF559-8DA4-4EA4-8216-FBF86A044882}"/>
              </a:ext>
            </a:extLst>
          </p:cNvPr>
          <p:cNvSpPr>
            <a:spLocks noGrp="1"/>
          </p:cNvSpPr>
          <p:nvPr/>
        </p:nvSpPr>
        <p:spPr>
          <a:xfrm>
            <a:off x="952500" y="5114925"/>
            <a:ext cx="102870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650" b="1">
                <a:solidFill>
                  <a:srgbClr val="123B6D"/>
                </a:solidFill>
              </a:defRPr>
            </a:pPr>
            <a:r>
              <a:rPr sz="1650" b="1">
                <a:solidFill>
                  <a:srgbClr val="123B6D"/>
                </a:solidFill>
              </a:rPr>
              <a:t>Classify the evidence before declaring something “cloud.”</a:t>
            </a:r>
          </a:p>
        </p:txBody>
      </p:sp>
    </p:spTree>
    <p:extLst>
      <p:ext uri="{BB962C8B-B14F-4D97-AF65-F5344CB8AC3E}">
        <p14:creationId xmlns:p14="http://schemas.microsoft.com/office/powerpoint/2010/main" val="192219447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13">
            <a:extLst>
              <a:ext uri="{FF2B5EF4-FFF2-40B4-BE49-F238E27FC236}">
                <a16:creationId xmlns:a16="http://schemas.microsoft.com/office/drawing/2014/main" id="{74AEFF24-1E83-4D45-A52B-37FB1E50B309}"/>
              </a:ext>
            </a:extLst>
          </p:cNvPr>
          <p:cNvSpPr>
            <a:spLocks noGrp="1"/>
          </p:cNvSpPr>
          <p:nvPr/>
        </p:nvSpPr>
        <p:spPr>
          <a:xfrm>
            <a:off x="685800" y="400050"/>
            <a:ext cx="10001250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2700" b="1">
                <a:solidFill>
                  <a:srgbClr val="123B6D"/>
                </a:solidFill>
              </a:defRPr>
            </a:pPr>
            <a:r>
              <a:rPr sz="2700" b="1">
                <a:solidFill>
                  <a:srgbClr val="123B6D"/>
                </a:solidFill>
              </a:rPr>
              <a:t>Virtualization creates useful abstractions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D9112DB4-49DF-471F-9452-D43A37E00165}"/>
              </a:ext>
            </a:extLst>
          </p:cNvPr>
          <p:cNvSpPr>
            <a:spLocks noGrp="1"/>
          </p:cNvSpPr>
          <p:nvPr/>
        </p:nvSpPr>
        <p:spPr>
          <a:xfrm>
            <a:off x="685800" y="1028700"/>
            <a:ext cx="10820400" cy="38100"/>
          </a:xfrm>
          <a:prstGeom prst="rect">
            <a:avLst/>
          </a:prstGeom>
          <a:solidFill>
            <a:srgbClr val="123B6D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A043C10A-5DA4-4E8F-BC29-F935D8B1AC58}"/>
              </a:ext>
            </a:extLst>
          </p:cNvPr>
          <p:cNvSpPr>
            <a:spLocks noGrp="1"/>
          </p:cNvSpPr>
          <p:nvPr/>
        </p:nvSpPr>
        <p:spPr>
          <a:xfrm>
            <a:off x="685800" y="6419850"/>
            <a:ext cx="2143125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975">
                <a:solidFill>
                  <a:srgbClr val="52606D"/>
                </a:solidFill>
              </a:defRPr>
            </a:pPr>
            <a:r>
              <a:rPr sz="975">
                <a:solidFill>
                  <a:srgbClr val="52606D"/>
                </a:solidFill>
              </a:rPr>
              <a:t>Cloud Computing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AE2EB69D-7AF3-44ED-80FA-E3618FF74A9D}"/>
              </a:ext>
            </a:extLst>
          </p:cNvPr>
          <p:cNvSpPr>
            <a:spLocks noGrp="1"/>
          </p:cNvSpPr>
          <p:nvPr/>
        </p:nvSpPr>
        <p:spPr>
          <a:xfrm>
            <a:off x="3381375" y="6419850"/>
            <a:ext cx="65722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975">
                <a:solidFill>
                  <a:srgbClr val="52606D"/>
                </a:solidFill>
              </a:defRPr>
            </a:pPr>
            <a:r>
              <a:rPr sz="975">
                <a:solidFill>
                  <a:srgbClr val="52606D"/>
                </a:solidFill>
              </a:rPr>
              <a:t>Presented by Gregor von Laszewski (laszewski@gmail.com)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127E8AC2-F7B7-4C94-B8D3-13953953E70C}"/>
              </a:ext>
            </a:extLst>
          </p:cNvPr>
          <p:cNvSpPr>
            <a:spLocks noGrp="1"/>
          </p:cNvSpPr>
          <p:nvPr/>
        </p:nvSpPr>
        <p:spPr>
          <a:xfrm>
            <a:off x="10858500" y="6419850"/>
            <a:ext cx="6477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975">
                <a:solidFill>
                  <a:srgbClr val="52606D"/>
                </a:solidFill>
              </a:defRPr>
            </a:pPr>
            <a:r>
              <a:rPr sz="975">
                <a:solidFill>
                  <a:srgbClr val="52606D"/>
                </a:solidFill>
              </a:rPr>
              <a:t>14</a:t>
            </a:r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38DC8BFC-D396-4C36-8DE8-F2AC4D9BB386}"/>
              </a:ext>
            </a:extLst>
          </p:cNvPr>
          <p:cNvSpPr>
            <a:spLocks noGrp="1"/>
          </p:cNvSpPr>
          <p:nvPr/>
        </p:nvSpPr>
        <p:spPr>
          <a:xfrm>
            <a:off x="838200" y="1676400"/>
            <a:ext cx="95250" cy="95250"/>
          </a:xfrm>
          <a:prstGeom prst="ellipse">
            <a:avLst/>
          </a:prstGeom>
          <a:solidFill>
            <a:srgbClr val="38699C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20EEA025-DA00-441D-AE35-1444BC619487}"/>
              </a:ext>
            </a:extLst>
          </p:cNvPr>
          <p:cNvSpPr>
            <a:spLocks noGrp="1"/>
          </p:cNvSpPr>
          <p:nvPr/>
        </p:nvSpPr>
        <p:spPr>
          <a:xfrm>
            <a:off x="1123950" y="1562100"/>
            <a:ext cx="9620250" cy="523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650">
                <a:solidFill>
                  <a:srgbClr val="17212B"/>
                </a:solidFill>
              </a:defRPr>
            </a:pPr>
            <a:r>
              <a:rPr sz="1650">
                <a:solidFill>
                  <a:srgbClr val="17212B"/>
                </a:solidFill>
              </a:rPr>
              <a:t>Virtual machines separate workloads from a specific physical server.</a:t>
            </a:r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F65AAB7F-59AF-4C5C-9C02-131E7F5A614C}"/>
              </a:ext>
            </a:extLst>
          </p:cNvPr>
          <p:cNvSpPr>
            <a:spLocks noGrp="1"/>
          </p:cNvSpPr>
          <p:nvPr/>
        </p:nvSpPr>
        <p:spPr>
          <a:xfrm>
            <a:off x="838200" y="2419350"/>
            <a:ext cx="95250" cy="95250"/>
          </a:xfrm>
          <a:prstGeom prst="ellipse">
            <a:avLst/>
          </a:prstGeom>
          <a:solidFill>
            <a:srgbClr val="38699C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EA4F3713-5610-4819-93EF-7BEE415DEBA1}"/>
              </a:ext>
            </a:extLst>
          </p:cNvPr>
          <p:cNvSpPr>
            <a:spLocks noGrp="1"/>
          </p:cNvSpPr>
          <p:nvPr/>
        </p:nvSpPr>
        <p:spPr>
          <a:xfrm>
            <a:off x="1123950" y="2305050"/>
            <a:ext cx="9620250" cy="523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650">
                <a:solidFill>
                  <a:srgbClr val="17212B"/>
                </a:solidFill>
              </a:defRPr>
            </a:pPr>
            <a:r>
              <a:rPr sz="1650">
                <a:solidFill>
                  <a:srgbClr val="17212B"/>
                </a:solidFill>
              </a:rPr>
              <a:t>Virtual networks create logical connectivity and segmentation.</a:t>
            </a:r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19ED99F1-CBE1-4CBE-AF55-D81E6272CC2A}"/>
              </a:ext>
            </a:extLst>
          </p:cNvPr>
          <p:cNvSpPr>
            <a:spLocks noGrp="1"/>
          </p:cNvSpPr>
          <p:nvPr/>
        </p:nvSpPr>
        <p:spPr>
          <a:xfrm>
            <a:off x="838200" y="3162300"/>
            <a:ext cx="95250" cy="95250"/>
          </a:xfrm>
          <a:prstGeom prst="ellipse">
            <a:avLst/>
          </a:prstGeom>
          <a:solidFill>
            <a:srgbClr val="38699C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B884371E-8044-4383-9E84-76115AA9CD82}"/>
              </a:ext>
            </a:extLst>
          </p:cNvPr>
          <p:cNvSpPr>
            <a:spLocks noGrp="1"/>
          </p:cNvSpPr>
          <p:nvPr/>
        </p:nvSpPr>
        <p:spPr>
          <a:xfrm>
            <a:off x="1123950" y="3048000"/>
            <a:ext cx="9620250" cy="523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650">
                <a:solidFill>
                  <a:srgbClr val="17212B"/>
                </a:solidFill>
              </a:defRPr>
            </a:pPr>
            <a:r>
              <a:rPr sz="1650">
                <a:solidFill>
                  <a:srgbClr val="17212B"/>
                </a:solidFill>
              </a:rPr>
              <a:t>Managed services abstract even more operational work behind an API.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88F6049C-3963-4972-8829-DC7A8C027FAF}"/>
              </a:ext>
            </a:extLst>
          </p:cNvPr>
          <p:cNvSpPr>
            <a:spLocks noGrp="1"/>
          </p:cNvSpPr>
          <p:nvPr/>
        </p:nvSpPr>
        <p:spPr>
          <a:xfrm>
            <a:off x="685800" y="4953000"/>
            <a:ext cx="10820400" cy="590550"/>
          </a:xfrm>
          <a:prstGeom prst="rect">
            <a:avLst/>
          </a:prstGeom>
          <a:solidFill>
            <a:srgbClr val="EAF2FA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3435CA64-41A9-4EBA-8DC5-53C026675E5B}"/>
              </a:ext>
            </a:extLst>
          </p:cNvPr>
          <p:cNvSpPr>
            <a:spLocks noGrp="1"/>
          </p:cNvSpPr>
          <p:nvPr/>
        </p:nvSpPr>
        <p:spPr>
          <a:xfrm>
            <a:off x="952500" y="5114925"/>
            <a:ext cx="102870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650" b="1">
                <a:solidFill>
                  <a:srgbClr val="123B6D"/>
                </a:solidFill>
              </a:defRPr>
            </a:pPr>
            <a:r>
              <a:rPr sz="1650" b="1">
                <a:solidFill>
                  <a:srgbClr val="123B6D"/>
                </a:solidFill>
              </a:rPr>
              <a:t>Cloud often relies on virtualization, but cloud is the broader operating model.</a:t>
            </a:r>
          </a:p>
        </p:txBody>
      </p:sp>
    </p:spTree>
    <p:extLst>
      <p:ext uri="{BB962C8B-B14F-4D97-AF65-F5344CB8AC3E}">
        <p14:creationId xmlns:p14="http://schemas.microsoft.com/office/powerpoint/2010/main" val="100589292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13">
            <a:extLst>
              <a:ext uri="{FF2B5EF4-FFF2-40B4-BE49-F238E27FC236}">
                <a16:creationId xmlns:a16="http://schemas.microsoft.com/office/drawing/2014/main" id="{C81EA037-4EDC-493D-A86C-93900B2BD5B3}"/>
              </a:ext>
            </a:extLst>
          </p:cNvPr>
          <p:cNvSpPr>
            <a:spLocks noGrp="1"/>
          </p:cNvSpPr>
          <p:nvPr/>
        </p:nvSpPr>
        <p:spPr>
          <a:xfrm>
            <a:off x="685800" y="400050"/>
            <a:ext cx="10001250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2700" b="1">
                <a:solidFill>
                  <a:srgbClr val="123B6D"/>
                </a:solidFill>
              </a:defRPr>
            </a:pPr>
            <a:r>
              <a:rPr sz="2700" b="1">
                <a:solidFill>
                  <a:srgbClr val="123B6D"/>
                </a:solidFill>
              </a:rPr>
              <a:t>Abstraction changes the work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8490AB15-22E7-442F-BE13-52FE25340799}"/>
              </a:ext>
            </a:extLst>
          </p:cNvPr>
          <p:cNvSpPr>
            <a:spLocks noGrp="1"/>
          </p:cNvSpPr>
          <p:nvPr/>
        </p:nvSpPr>
        <p:spPr>
          <a:xfrm>
            <a:off x="685800" y="1028700"/>
            <a:ext cx="10820400" cy="38100"/>
          </a:xfrm>
          <a:prstGeom prst="rect">
            <a:avLst/>
          </a:prstGeom>
          <a:solidFill>
            <a:srgbClr val="123B6D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C2DA063B-1CD8-4D88-9A85-11A501CD008D}"/>
              </a:ext>
            </a:extLst>
          </p:cNvPr>
          <p:cNvSpPr>
            <a:spLocks noGrp="1"/>
          </p:cNvSpPr>
          <p:nvPr/>
        </p:nvSpPr>
        <p:spPr>
          <a:xfrm>
            <a:off x="685800" y="6419850"/>
            <a:ext cx="2143125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975">
                <a:solidFill>
                  <a:srgbClr val="52606D"/>
                </a:solidFill>
              </a:defRPr>
            </a:pPr>
            <a:r>
              <a:rPr sz="975">
                <a:solidFill>
                  <a:srgbClr val="52606D"/>
                </a:solidFill>
              </a:rPr>
              <a:t>Cloud Computing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616AB017-8446-4E65-9DE9-E5BA7BDDABEB}"/>
              </a:ext>
            </a:extLst>
          </p:cNvPr>
          <p:cNvSpPr>
            <a:spLocks noGrp="1"/>
          </p:cNvSpPr>
          <p:nvPr/>
        </p:nvSpPr>
        <p:spPr>
          <a:xfrm>
            <a:off x="3381375" y="6419850"/>
            <a:ext cx="65722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975">
                <a:solidFill>
                  <a:srgbClr val="52606D"/>
                </a:solidFill>
              </a:defRPr>
            </a:pPr>
            <a:r>
              <a:rPr sz="975">
                <a:solidFill>
                  <a:srgbClr val="52606D"/>
                </a:solidFill>
              </a:rPr>
              <a:t>Presented by Gregor von Laszewski (laszewski@gmail.com)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C16C7B8E-3C65-4625-AC06-7DE2B36945E8}"/>
              </a:ext>
            </a:extLst>
          </p:cNvPr>
          <p:cNvSpPr>
            <a:spLocks noGrp="1"/>
          </p:cNvSpPr>
          <p:nvPr/>
        </p:nvSpPr>
        <p:spPr>
          <a:xfrm>
            <a:off x="10858500" y="6419850"/>
            <a:ext cx="6477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975">
                <a:solidFill>
                  <a:srgbClr val="52606D"/>
                </a:solidFill>
              </a:defRPr>
            </a:pPr>
            <a:r>
              <a:rPr sz="975">
                <a:solidFill>
                  <a:srgbClr val="52606D"/>
                </a:solidFill>
              </a:rPr>
              <a:t>15</a:t>
            </a:r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9EBEFA91-9359-40B8-A19A-D92A0CCDEB0D}"/>
              </a:ext>
            </a:extLst>
          </p:cNvPr>
          <p:cNvSpPr>
            <a:spLocks noGrp="1"/>
          </p:cNvSpPr>
          <p:nvPr/>
        </p:nvSpPr>
        <p:spPr>
          <a:xfrm>
            <a:off x="838200" y="1676400"/>
            <a:ext cx="95250" cy="95250"/>
          </a:xfrm>
          <a:prstGeom prst="ellipse">
            <a:avLst/>
          </a:prstGeom>
          <a:solidFill>
            <a:srgbClr val="38699C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3C34AF6C-9340-4A82-A8CD-DBE6FE5B7E80}"/>
              </a:ext>
            </a:extLst>
          </p:cNvPr>
          <p:cNvSpPr>
            <a:spLocks noGrp="1"/>
          </p:cNvSpPr>
          <p:nvPr/>
        </p:nvSpPr>
        <p:spPr>
          <a:xfrm>
            <a:off x="1123950" y="1562100"/>
            <a:ext cx="9620250" cy="523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650">
                <a:solidFill>
                  <a:srgbClr val="17212B"/>
                </a:solidFill>
              </a:defRPr>
            </a:pPr>
            <a:r>
              <a:rPr sz="1650">
                <a:solidFill>
                  <a:srgbClr val="17212B"/>
                </a:solidFill>
              </a:rPr>
              <a:t>At lower levels, teams choose operating systems, patches, and runtimes.</a:t>
            </a:r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74595645-2325-477A-AD02-A9ED8A044F04}"/>
              </a:ext>
            </a:extLst>
          </p:cNvPr>
          <p:cNvSpPr>
            <a:spLocks noGrp="1"/>
          </p:cNvSpPr>
          <p:nvPr/>
        </p:nvSpPr>
        <p:spPr>
          <a:xfrm>
            <a:off x="838200" y="2419350"/>
            <a:ext cx="95250" cy="95250"/>
          </a:xfrm>
          <a:prstGeom prst="ellipse">
            <a:avLst/>
          </a:prstGeom>
          <a:solidFill>
            <a:srgbClr val="38699C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EB602FB2-0209-4660-A6E3-B4B7A4BE861E}"/>
              </a:ext>
            </a:extLst>
          </p:cNvPr>
          <p:cNvSpPr>
            <a:spLocks noGrp="1"/>
          </p:cNvSpPr>
          <p:nvPr/>
        </p:nvSpPr>
        <p:spPr>
          <a:xfrm>
            <a:off x="1123950" y="2305050"/>
            <a:ext cx="9620250" cy="523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650">
                <a:solidFill>
                  <a:srgbClr val="17212B"/>
                </a:solidFill>
              </a:defRPr>
            </a:pPr>
            <a:r>
              <a:rPr sz="1650">
                <a:solidFill>
                  <a:srgbClr val="17212B"/>
                </a:solidFill>
              </a:rPr>
              <a:t>At higher levels, teams focus on configuration, data, and application behavior.</a:t>
            </a:r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7CA8B26A-EDBF-4597-8C63-3648F7824F07}"/>
              </a:ext>
            </a:extLst>
          </p:cNvPr>
          <p:cNvSpPr>
            <a:spLocks noGrp="1"/>
          </p:cNvSpPr>
          <p:nvPr/>
        </p:nvSpPr>
        <p:spPr>
          <a:xfrm>
            <a:off x="838200" y="3162300"/>
            <a:ext cx="95250" cy="95250"/>
          </a:xfrm>
          <a:prstGeom prst="ellipse">
            <a:avLst/>
          </a:prstGeom>
          <a:solidFill>
            <a:srgbClr val="38699C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69D0274E-7E19-4413-AEE9-84DA2F628DAF}"/>
              </a:ext>
            </a:extLst>
          </p:cNvPr>
          <p:cNvSpPr>
            <a:spLocks noGrp="1"/>
          </p:cNvSpPr>
          <p:nvPr/>
        </p:nvSpPr>
        <p:spPr>
          <a:xfrm>
            <a:off x="1123950" y="3048000"/>
            <a:ext cx="9620250" cy="523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650">
                <a:solidFill>
                  <a:srgbClr val="17212B"/>
                </a:solidFill>
              </a:defRPr>
            </a:pPr>
            <a:r>
              <a:rPr sz="1650">
                <a:solidFill>
                  <a:srgbClr val="17212B"/>
                </a:solidFill>
              </a:rPr>
              <a:t>The trade-off is less direct control in exchange for less undifferentiated work.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FD51FE5F-8373-46CA-91B6-9FDF7276BF99}"/>
              </a:ext>
            </a:extLst>
          </p:cNvPr>
          <p:cNvSpPr>
            <a:spLocks noGrp="1"/>
          </p:cNvSpPr>
          <p:nvPr/>
        </p:nvSpPr>
        <p:spPr>
          <a:xfrm>
            <a:off x="685800" y="4953000"/>
            <a:ext cx="10820400" cy="590550"/>
          </a:xfrm>
          <a:prstGeom prst="rect">
            <a:avLst/>
          </a:prstGeom>
          <a:solidFill>
            <a:srgbClr val="EAF2FA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E09C6B69-763B-4AF6-9326-11CB312DF3C0}"/>
              </a:ext>
            </a:extLst>
          </p:cNvPr>
          <p:cNvSpPr>
            <a:spLocks noGrp="1"/>
          </p:cNvSpPr>
          <p:nvPr/>
        </p:nvSpPr>
        <p:spPr>
          <a:xfrm>
            <a:off x="952500" y="5114925"/>
            <a:ext cx="102870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650" b="1">
                <a:solidFill>
                  <a:srgbClr val="123B6D"/>
                </a:solidFill>
              </a:defRPr>
            </a:pPr>
            <a:r>
              <a:rPr sz="1650" b="1">
                <a:solidFill>
                  <a:srgbClr val="123B6D"/>
                </a:solidFill>
              </a:rPr>
              <a:t>Choose the abstraction level that matches the problem and the team’s expertise.</a:t>
            </a:r>
          </a:p>
        </p:txBody>
      </p:sp>
    </p:spTree>
    <p:extLst>
      <p:ext uri="{BB962C8B-B14F-4D97-AF65-F5344CB8AC3E}">
        <p14:creationId xmlns:p14="http://schemas.microsoft.com/office/powerpoint/2010/main" val="56396001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13">
            <a:extLst>
              <a:ext uri="{FF2B5EF4-FFF2-40B4-BE49-F238E27FC236}">
                <a16:creationId xmlns:a16="http://schemas.microsoft.com/office/drawing/2014/main" id="{C8F2D2B7-E9EB-4F9D-94B8-6CC349AC02CC}"/>
              </a:ext>
            </a:extLst>
          </p:cNvPr>
          <p:cNvSpPr>
            <a:spLocks noGrp="1"/>
          </p:cNvSpPr>
          <p:nvPr/>
        </p:nvSpPr>
        <p:spPr>
          <a:xfrm>
            <a:off x="685800" y="400050"/>
            <a:ext cx="10001250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2700" b="1">
                <a:solidFill>
                  <a:srgbClr val="123B6D"/>
                </a:solidFill>
              </a:defRPr>
            </a:pPr>
            <a:r>
              <a:rPr sz="2700" b="1">
                <a:solidFill>
                  <a:srgbClr val="123B6D"/>
                </a:solidFill>
              </a:rPr>
              <a:t>Service models at a glance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754FAAFB-FF0E-42F3-8581-F799D9C6D107}"/>
              </a:ext>
            </a:extLst>
          </p:cNvPr>
          <p:cNvSpPr>
            <a:spLocks noGrp="1"/>
          </p:cNvSpPr>
          <p:nvPr/>
        </p:nvSpPr>
        <p:spPr>
          <a:xfrm>
            <a:off x="685800" y="1028700"/>
            <a:ext cx="10820400" cy="38100"/>
          </a:xfrm>
          <a:prstGeom prst="rect">
            <a:avLst/>
          </a:prstGeom>
          <a:solidFill>
            <a:srgbClr val="123B6D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4982274C-58BA-4162-B8BC-089D4D6482E4}"/>
              </a:ext>
            </a:extLst>
          </p:cNvPr>
          <p:cNvSpPr>
            <a:spLocks noGrp="1"/>
          </p:cNvSpPr>
          <p:nvPr/>
        </p:nvSpPr>
        <p:spPr>
          <a:xfrm>
            <a:off x="685800" y="6419850"/>
            <a:ext cx="2143125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975">
                <a:solidFill>
                  <a:srgbClr val="52606D"/>
                </a:solidFill>
              </a:defRPr>
            </a:pPr>
            <a:r>
              <a:rPr sz="975">
                <a:solidFill>
                  <a:srgbClr val="52606D"/>
                </a:solidFill>
              </a:rPr>
              <a:t>Cloud Computing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78F0DA95-01ED-4CBA-8302-A46A4AFA7F79}"/>
              </a:ext>
            </a:extLst>
          </p:cNvPr>
          <p:cNvSpPr>
            <a:spLocks noGrp="1"/>
          </p:cNvSpPr>
          <p:nvPr/>
        </p:nvSpPr>
        <p:spPr>
          <a:xfrm>
            <a:off x="3381375" y="6419850"/>
            <a:ext cx="65722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975">
                <a:solidFill>
                  <a:srgbClr val="52606D"/>
                </a:solidFill>
              </a:defRPr>
            </a:pPr>
            <a:r>
              <a:rPr sz="975">
                <a:solidFill>
                  <a:srgbClr val="52606D"/>
                </a:solidFill>
              </a:rPr>
              <a:t>Presented by Gregor von Laszewski (laszewski@gmail.com)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71749983-39E7-4B7B-8E52-03072C71B205}"/>
              </a:ext>
            </a:extLst>
          </p:cNvPr>
          <p:cNvSpPr>
            <a:spLocks noGrp="1"/>
          </p:cNvSpPr>
          <p:nvPr/>
        </p:nvSpPr>
        <p:spPr>
          <a:xfrm>
            <a:off x="10858500" y="6419850"/>
            <a:ext cx="6477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975">
                <a:solidFill>
                  <a:srgbClr val="52606D"/>
                </a:solidFill>
              </a:defRPr>
            </a:pPr>
            <a:r>
              <a:rPr sz="975">
                <a:solidFill>
                  <a:srgbClr val="52606D"/>
                </a:solidFill>
              </a:rPr>
              <a:t>16</a:t>
            </a:r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E6BE2B6B-F12C-45D0-B50A-90CBE360D7E4}"/>
              </a:ext>
            </a:extLst>
          </p:cNvPr>
          <p:cNvSpPr>
            <a:spLocks noGrp="1"/>
          </p:cNvSpPr>
          <p:nvPr/>
        </p:nvSpPr>
        <p:spPr>
          <a:xfrm>
            <a:off x="838200" y="1676400"/>
            <a:ext cx="95250" cy="95250"/>
          </a:xfrm>
          <a:prstGeom prst="ellipse">
            <a:avLst/>
          </a:prstGeom>
          <a:solidFill>
            <a:srgbClr val="38699C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F3020385-CBCB-4701-88EE-F4E59E24C0B4}"/>
              </a:ext>
            </a:extLst>
          </p:cNvPr>
          <p:cNvSpPr>
            <a:spLocks noGrp="1"/>
          </p:cNvSpPr>
          <p:nvPr/>
        </p:nvSpPr>
        <p:spPr>
          <a:xfrm>
            <a:off x="1123950" y="1562100"/>
            <a:ext cx="9620250" cy="523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650">
                <a:solidFill>
                  <a:srgbClr val="17212B"/>
                </a:solidFill>
              </a:defRPr>
            </a:pPr>
            <a:r>
              <a:rPr sz="1650">
                <a:solidFill>
                  <a:srgbClr val="17212B"/>
                </a:solidFill>
              </a:rPr>
              <a:t>Infrastructure as a Service (IaaS): virtualized infrastructure.</a:t>
            </a:r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4D4EF1E1-F655-4E24-9862-89F2CA7637E5}"/>
              </a:ext>
            </a:extLst>
          </p:cNvPr>
          <p:cNvSpPr>
            <a:spLocks noGrp="1"/>
          </p:cNvSpPr>
          <p:nvPr/>
        </p:nvSpPr>
        <p:spPr>
          <a:xfrm>
            <a:off x="838200" y="2419350"/>
            <a:ext cx="95250" cy="95250"/>
          </a:xfrm>
          <a:prstGeom prst="ellipse">
            <a:avLst/>
          </a:prstGeom>
          <a:solidFill>
            <a:srgbClr val="38699C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3B970380-2BF7-48D6-858D-A779B6B1D90E}"/>
              </a:ext>
            </a:extLst>
          </p:cNvPr>
          <p:cNvSpPr>
            <a:spLocks noGrp="1"/>
          </p:cNvSpPr>
          <p:nvPr/>
        </p:nvSpPr>
        <p:spPr>
          <a:xfrm>
            <a:off x="1123950" y="2305050"/>
            <a:ext cx="9620250" cy="523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650">
                <a:solidFill>
                  <a:srgbClr val="17212B"/>
                </a:solidFill>
              </a:defRPr>
            </a:pPr>
            <a:r>
              <a:rPr sz="1650">
                <a:solidFill>
                  <a:srgbClr val="17212B"/>
                </a:solidFill>
              </a:rPr>
              <a:t>Platform as a Service (PaaS): managed runtime and platform capabilities.</a:t>
            </a:r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328E35C6-8B93-4BFC-923A-00B10FD14A41}"/>
              </a:ext>
            </a:extLst>
          </p:cNvPr>
          <p:cNvSpPr>
            <a:spLocks noGrp="1"/>
          </p:cNvSpPr>
          <p:nvPr/>
        </p:nvSpPr>
        <p:spPr>
          <a:xfrm>
            <a:off x="838200" y="3162300"/>
            <a:ext cx="95250" cy="95250"/>
          </a:xfrm>
          <a:prstGeom prst="ellipse">
            <a:avLst/>
          </a:prstGeom>
          <a:solidFill>
            <a:srgbClr val="38699C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8D874D8F-62FD-4888-B254-E6321533B6A9}"/>
              </a:ext>
            </a:extLst>
          </p:cNvPr>
          <p:cNvSpPr>
            <a:spLocks noGrp="1"/>
          </p:cNvSpPr>
          <p:nvPr/>
        </p:nvSpPr>
        <p:spPr>
          <a:xfrm>
            <a:off x="1123950" y="3048000"/>
            <a:ext cx="9620250" cy="523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650">
                <a:solidFill>
                  <a:srgbClr val="17212B"/>
                </a:solidFill>
              </a:defRPr>
            </a:pPr>
            <a:r>
              <a:rPr sz="1650">
                <a:solidFill>
                  <a:srgbClr val="17212B"/>
                </a:solidFill>
              </a:rPr>
              <a:t>Software as a Service (SaaS): a finished application consumed by users.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98C40523-C2D4-4022-9E31-B6375B3043EB}"/>
              </a:ext>
            </a:extLst>
          </p:cNvPr>
          <p:cNvSpPr>
            <a:spLocks noGrp="1"/>
          </p:cNvSpPr>
          <p:nvPr/>
        </p:nvSpPr>
        <p:spPr>
          <a:xfrm>
            <a:off x="685800" y="4953000"/>
            <a:ext cx="10820400" cy="590550"/>
          </a:xfrm>
          <a:prstGeom prst="rect">
            <a:avLst/>
          </a:prstGeom>
          <a:solidFill>
            <a:srgbClr val="EAF2FA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6F9307DC-E856-4E38-ACA8-1192424A550E}"/>
              </a:ext>
            </a:extLst>
          </p:cNvPr>
          <p:cNvSpPr>
            <a:spLocks noGrp="1"/>
          </p:cNvSpPr>
          <p:nvPr/>
        </p:nvSpPr>
        <p:spPr>
          <a:xfrm>
            <a:off x="952500" y="5114925"/>
            <a:ext cx="102870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650" b="1">
                <a:solidFill>
                  <a:srgbClr val="123B6D"/>
                </a:solidFill>
              </a:defRPr>
            </a:pPr>
            <a:r>
              <a:rPr sz="1650" b="1">
                <a:solidFill>
                  <a:srgbClr val="123B6D"/>
                </a:solidFill>
              </a:rPr>
              <a:t>As you move upward, provider operation increases and customer control narrows.</a:t>
            </a:r>
          </a:p>
        </p:txBody>
      </p:sp>
    </p:spTree>
    <p:extLst>
      <p:ext uri="{BB962C8B-B14F-4D97-AF65-F5344CB8AC3E}">
        <p14:creationId xmlns:p14="http://schemas.microsoft.com/office/powerpoint/2010/main" val="122462895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13">
            <a:extLst>
              <a:ext uri="{FF2B5EF4-FFF2-40B4-BE49-F238E27FC236}">
                <a16:creationId xmlns:a16="http://schemas.microsoft.com/office/drawing/2014/main" id="{D4AC572C-A057-4C19-ADEA-472C16B55834}"/>
              </a:ext>
            </a:extLst>
          </p:cNvPr>
          <p:cNvSpPr>
            <a:spLocks noGrp="1"/>
          </p:cNvSpPr>
          <p:nvPr/>
        </p:nvSpPr>
        <p:spPr>
          <a:xfrm>
            <a:off x="685800" y="400050"/>
            <a:ext cx="10001250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2700" b="1">
                <a:solidFill>
                  <a:srgbClr val="123B6D"/>
                </a:solidFill>
              </a:defRPr>
            </a:pPr>
            <a:r>
              <a:rPr sz="2700" b="1">
                <a:solidFill>
                  <a:srgbClr val="123B6D"/>
                </a:solidFill>
              </a:rPr>
              <a:t>IaaS: infrastructure as a service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77DA3929-F7E1-4C3E-B62B-D88B110A1FB7}"/>
              </a:ext>
            </a:extLst>
          </p:cNvPr>
          <p:cNvSpPr>
            <a:spLocks noGrp="1"/>
          </p:cNvSpPr>
          <p:nvPr/>
        </p:nvSpPr>
        <p:spPr>
          <a:xfrm>
            <a:off x="685800" y="1028700"/>
            <a:ext cx="10820400" cy="38100"/>
          </a:xfrm>
          <a:prstGeom prst="rect">
            <a:avLst/>
          </a:prstGeom>
          <a:solidFill>
            <a:srgbClr val="123B6D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5EEF6D15-7F12-499E-BBD2-82EEF5F5D8D9}"/>
              </a:ext>
            </a:extLst>
          </p:cNvPr>
          <p:cNvSpPr>
            <a:spLocks noGrp="1"/>
          </p:cNvSpPr>
          <p:nvPr/>
        </p:nvSpPr>
        <p:spPr>
          <a:xfrm>
            <a:off x="685800" y="6419850"/>
            <a:ext cx="2143125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975">
                <a:solidFill>
                  <a:srgbClr val="52606D"/>
                </a:solidFill>
              </a:defRPr>
            </a:pPr>
            <a:r>
              <a:rPr sz="975">
                <a:solidFill>
                  <a:srgbClr val="52606D"/>
                </a:solidFill>
              </a:rPr>
              <a:t>Cloud Computing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F09399CA-BF08-4995-96FF-0E9AE5E9C6D3}"/>
              </a:ext>
            </a:extLst>
          </p:cNvPr>
          <p:cNvSpPr>
            <a:spLocks noGrp="1"/>
          </p:cNvSpPr>
          <p:nvPr/>
        </p:nvSpPr>
        <p:spPr>
          <a:xfrm>
            <a:off x="3381375" y="6419850"/>
            <a:ext cx="65722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975">
                <a:solidFill>
                  <a:srgbClr val="52606D"/>
                </a:solidFill>
              </a:defRPr>
            </a:pPr>
            <a:r>
              <a:rPr sz="975">
                <a:solidFill>
                  <a:srgbClr val="52606D"/>
                </a:solidFill>
              </a:rPr>
              <a:t>Presented by Gregor von Laszewski (laszewski@gmail.com)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093CADB8-2AA2-4700-A496-C8DD752DBF9C}"/>
              </a:ext>
            </a:extLst>
          </p:cNvPr>
          <p:cNvSpPr>
            <a:spLocks noGrp="1"/>
          </p:cNvSpPr>
          <p:nvPr/>
        </p:nvSpPr>
        <p:spPr>
          <a:xfrm>
            <a:off x="10858500" y="6419850"/>
            <a:ext cx="6477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975">
                <a:solidFill>
                  <a:srgbClr val="52606D"/>
                </a:solidFill>
              </a:defRPr>
            </a:pPr>
            <a:r>
              <a:rPr sz="975">
                <a:solidFill>
                  <a:srgbClr val="52606D"/>
                </a:solidFill>
              </a:rPr>
              <a:t>17</a:t>
            </a:r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50A70C8B-9E07-446E-8711-568857E84A90}"/>
              </a:ext>
            </a:extLst>
          </p:cNvPr>
          <p:cNvSpPr>
            <a:spLocks noGrp="1"/>
          </p:cNvSpPr>
          <p:nvPr/>
        </p:nvSpPr>
        <p:spPr>
          <a:xfrm>
            <a:off x="838200" y="1676400"/>
            <a:ext cx="95250" cy="95250"/>
          </a:xfrm>
          <a:prstGeom prst="ellipse">
            <a:avLst/>
          </a:prstGeom>
          <a:solidFill>
            <a:srgbClr val="38699C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D86F7CFD-D102-414C-B0CC-BFF2DA3AB0DA}"/>
              </a:ext>
            </a:extLst>
          </p:cNvPr>
          <p:cNvSpPr>
            <a:spLocks noGrp="1"/>
          </p:cNvSpPr>
          <p:nvPr/>
        </p:nvSpPr>
        <p:spPr>
          <a:xfrm>
            <a:off x="1123950" y="1562100"/>
            <a:ext cx="9620250" cy="523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650">
                <a:solidFill>
                  <a:srgbClr val="17212B"/>
                </a:solidFill>
              </a:defRPr>
            </a:pPr>
            <a:r>
              <a:rPr sz="1650">
                <a:solidFill>
                  <a:srgbClr val="17212B"/>
                </a:solidFill>
              </a:rPr>
              <a:t>You select virtual machines, disks, networks, and operating systems.</a:t>
            </a:r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1E5514F3-8227-478B-BBB5-27288EA7AFAC}"/>
              </a:ext>
            </a:extLst>
          </p:cNvPr>
          <p:cNvSpPr>
            <a:spLocks noGrp="1"/>
          </p:cNvSpPr>
          <p:nvPr/>
        </p:nvSpPr>
        <p:spPr>
          <a:xfrm>
            <a:off x="838200" y="2419350"/>
            <a:ext cx="95250" cy="95250"/>
          </a:xfrm>
          <a:prstGeom prst="ellipse">
            <a:avLst/>
          </a:prstGeom>
          <a:solidFill>
            <a:srgbClr val="38699C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AD2C66EC-3467-4505-86AA-7B036B86FA9E}"/>
              </a:ext>
            </a:extLst>
          </p:cNvPr>
          <p:cNvSpPr>
            <a:spLocks noGrp="1"/>
          </p:cNvSpPr>
          <p:nvPr/>
        </p:nvSpPr>
        <p:spPr>
          <a:xfrm>
            <a:off x="1123950" y="2305050"/>
            <a:ext cx="9620250" cy="523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650">
                <a:solidFill>
                  <a:srgbClr val="17212B"/>
                </a:solidFill>
              </a:defRPr>
            </a:pPr>
            <a:r>
              <a:rPr sz="1650">
                <a:solidFill>
                  <a:srgbClr val="17212B"/>
                </a:solidFill>
              </a:rPr>
              <a:t>You manage more configuration, patching, and runtime decisions.</a:t>
            </a:r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E7316BDC-1FBB-4080-A693-99D03F655F0B}"/>
              </a:ext>
            </a:extLst>
          </p:cNvPr>
          <p:cNvSpPr>
            <a:spLocks noGrp="1"/>
          </p:cNvSpPr>
          <p:nvPr/>
        </p:nvSpPr>
        <p:spPr>
          <a:xfrm>
            <a:off x="838200" y="3162300"/>
            <a:ext cx="95250" cy="95250"/>
          </a:xfrm>
          <a:prstGeom prst="ellipse">
            <a:avLst/>
          </a:prstGeom>
          <a:solidFill>
            <a:srgbClr val="38699C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315444AB-01F3-4222-91D1-858A6E0CFB16}"/>
              </a:ext>
            </a:extLst>
          </p:cNvPr>
          <p:cNvSpPr>
            <a:spLocks noGrp="1"/>
          </p:cNvSpPr>
          <p:nvPr/>
        </p:nvSpPr>
        <p:spPr>
          <a:xfrm>
            <a:off x="1123950" y="3048000"/>
            <a:ext cx="9620250" cy="523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650">
                <a:solidFill>
                  <a:srgbClr val="17212B"/>
                </a:solidFill>
              </a:defRPr>
            </a:pPr>
            <a:r>
              <a:rPr sz="1650">
                <a:solidFill>
                  <a:srgbClr val="17212B"/>
                </a:solidFill>
              </a:rPr>
              <a:t>Use it when you need operating-system-level control or specialized software.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5B378409-3E4A-4E0D-AA67-2C1B56884082}"/>
              </a:ext>
            </a:extLst>
          </p:cNvPr>
          <p:cNvSpPr>
            <a:spLocks noGrp="1"/>
          </p:cNvSpPr>
          <p:nvPr/>
        </p:nvSpPr>
        <p:spPr>
          <a:xfrm>
            <a:off x="685800" y="4953000"/>
            <a:ext cx="10820400" cy="590550"/>
          </a:xfrm>
          <a:prstGeom prst="rect">
            <a:avLst/>
          </a:prstGeom>
          <a:solidFill>
            <a:srgbClr val="EAF2FA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140D3F74-20AD-4A14-90CE-EF89CFC55D41}"/>
              </a:ext>
            </a:extLst>
          </p:cNvPr>
          <p:cNvSpPr>
            <a:spLocks noGrp="1"/>
          </p:cNvSpPr>
          <p:nvPr/>
        </p:nvSpPr>
        <p:spPr>
          <a:xfrm>
            <a:off x="952500" y="5114925"/>
            <a:ext cx="102870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650" b="1">
                <a:solidFill>
                  <a:srgbClr val="123B6D"/>
                </a:solidFill>
              </a:defRPr>
            </a:pPr>
            <a:r>
              <a:rPr sz="1650" b="1">
                <a:solidFill>
                  <a:srgbClr val="123B6D"/>
                </a:solidFill>
              </a:rPr>
              <a:t>IaaS offers flexibility, but it carries significant operational responsibility.</a:t>
            </a:r>
          </a:p>
        </p:txBody>
      </p:sp>
    </p:spTree>
    <p:extLst>
      <p:ext uri="{BB962C8B-B14F-4D97-AF65-F5344CB8AC3E}">
        <p14:creationId xmlns:p14="http://schemas.microsoft.com/office/powerpoint/2010/main" val="81302646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13">
            <a:extLst>
              <a:ext uri="{FF2B5EF4-FFF2-40B4-BE49-F238E27FC236}">
                <a16:creationId xmlns:a16="http://schemas.microsoft.com/office/drawing/2014/main" id="{A602B1E3-6EAA-4102-A407-D7E922256408}"/>
              </a:ext>
            </a:extLst>
          </p:cNvPr>
          <p:cNvSpPr>
            <a:spLocks noGrp="1"/>
          </p:cNvSpPr>
          <p:nvPr/>
        </p:nvSpPr>
        <p:spPr>
          <a:xfrm>
            <a:off x="685800" y="400050"/>
            <a:ext cx="10001250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2700" b="1">
                <a:solidFill>
                  <a:srgbClr val="123B6D"/>
                </a:solidFill>
              </a:defRPr>
            </a:pPr>
            <a:r>
              <a:rPr sz="2700" b="1">
                <a:solidFill>
                  <a:srgbClr val="123B6D"/>
                </a:solidFill>
              </a:rPr>
              <a:t>PaaS: platform as a service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A8FFF959-C4EA-4D28-BA8E-48923E9101E9}"/>
              </a:ext>
            </a:extLst>
          </p:cNvPr>
          <p:cNvSpPr>
            <a:spLocks noGrp="1"/>
          </p:cNvSpPr>
          <p:nvPr/>
        </p:nvSpPr>
        <p:spPr>
          <a:xfrm>
            <a:off x="685800" y="1028700"/>
            <a:ext cx="10820400" cy="38100"/>
          </a:xfrm>
          <a:prstGeom prst="rect">
            <a:avLst/>
          </a:prstGeom>
          <a:solidFill>
            <a:srgbClr val="123B6D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6C20B313-AC6B-4B19-B371-F104FB906FB5}"/>
              </a:ext>
            </a:extLst>
          </p:cNvPr>
          <p:cNvSpPr>
            <a:spLocks noGrp="1"/>
          </p:cNvSpPr>
          <p:nvPr/>
        </p:nvSpPr>
        <p:spPr>
          <a:xfrm>
            <a:off x="685800" y="6419850"/>
            <a:ext cx="2143125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975">
                <a:solidFill>
                  <a:srgbClr val="52606D"/>
                </a:solidFill>
              </a:defRPr>
            </a:pPr>
            <a:r>
              <a:rPr sz="975">
                <a:solidFill>
                  <a:srgbClr val="52606D"/>
                </a:solidFill>
              </a:rPr>
              <a:t>Cloud Computing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8C623DBE-A917-424A-9DB6-6B34AC06DB92}"/>
              </a:ext>
            </a:extLst>
          </p:cNvPr>
          <p:cNvSpPr>
            <a:spLocks noGrp="1"/>
          </p:cNvSpPr>
          <p:nvPr/>
        </p:nvSpPr>
        <p:spPr>
          <a:xfrm>
            <a:off x="3381375" y="6419850"/>
            <a:ext cx="65722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975">
                <a:solidFill>
                  <a:srgbClr val="52606D"/>
                </a:solidFill>
              </a:defRPr>
            </a:pPr>
            <a:r>
              <a:rPr sz="975">
                <a:solidFill>
                  <a:srgbClr val="52606D"/>
                </a:solidFill>
              </a:rPr>
              <a:t>Presented by Gregor von Laszewski (laszewski@gmail.com)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C7E247A7-281C-422F-82BC-FE03F669DD61}"/>
              </a:ext>
            </a:extLst>
          </p:cNvPr>
          <p:cNvSpPr>
            <a:spLocks noGrp="1"/>
          </p:cNvSpPr>
          <p:nvPr/>
        </p:nvSpPr>
        <p:spPr>
          <a:xfrm>
            <a:off x="10858500" y="6419850"/>
            <a:ext cx="6477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975">
                <a:solidFill>
                  <a:srgbClr val="52606D"/>
                </a:solidFill>
              </a:defRPr>
            </a:pPr>
            <a:r>
              <a:rPr sz="975">
                <a:solidFill>
                  <a:srgbClr val="52606D"/>
                </a:solidFill>
              </a:rPr>
              <a:t>18</a:t>
            </a:r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C85B0ABD-7FCF-4224-B07C-C2B1913E5500}"/>
              </a:ext>
            </a:extLst>
          </p:cNvPr>
          <p:cNvSpPr>
            <a:spLocks noGrp="1"/>
          </p:cNvSpPr>
          <p:nvPr/>
        </p:nvSpPr>
        <p:spPr>
          <a:xfrm>
            <a:off x="838200" y="1676400"/>
            <a:ext cx="95250" cy="95250"/>
          </a:xfrm>
          <a:prstGeom prst="ellipse">
            <a:avLst/>
          </a:prstGeom>
          <a:solidFill>
            <a:srgbClr val="38699C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EB002BEF-AEAD-4B5A-A1AA-F9F76EBB59AD}"/>
              </a:ext>
            </a:extLst>
          </p:cNvPr>
          <p:cNvSpPr>
            <a:spLocks noGrp="1"/>
          </p:cNvSpPr>
          <p:nvPr/>
        </p:nvSpPr>
        <p:spPr>
          <a:xfrm>
            <a:off x="1123950" y="1562100"/>
            <a:ext cx="9620250" cy="523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650">
                <a:solidFill>
                  <a:srgbClr val="17212B"/>
                </a:solidFill>
              </a:defRPr>
            </a:pPr>
            <a:r>
              <a:rPr sz="1650">
                <a:solidFill>
                  <a:srgbClr val="17212B"/>
                </a:solidFill>
              </a:rPr>
              <a:t>You deploy code or configure a managed platform.</a:t>
            </a:r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245FDC18-5C1D-4A91-8AEB-31BB2072562F}"/>
              </a:ext>
            </a:extLst>
          </p:cNvPr>
          <p:cNvSpPr>
            <a:spLocks noGrp="1"/>
          </p:cNvSpPr>
          <p:nvPr/>
        </p:nvSpPr>
        <p:spPr>
          <a:xfrm>
            <a:off x="838200" y="2419350"/>
            <a:ext cx="95250" cy="95250"/>
          </a:xfrm>
          <a:prstGeom prst="ellipse">
            <a:avLst/>
          </a:prstGeom>
          <a:solidFill>
            <a:srgbClr val="38699C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7C71AF77-CD61-4783-A875-7F74554D3E80}"/>
              </a:ext>
            </a:extLst>
          </p:cNvPr>
          <p:cNvSpPr>
            <a:spLocks noGrp="1"/>
          </p:cNvSpPr>
          <p:nvPr/>
        </p:nvSpPr>
        <p:spPr>
          <a:xfrm>
            <a:off x="1123950" y="2305050"/>
            <a:ext cx="9620250" cy="523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650">
                <a:solidFill>
                  <a:srgbClr val="17212B"/>
                </a:solidFill>
              </a:defRPr>
            </a:pPr>
            <a:r>
              <a:rPr sz="1650">
                <a:solidFill>
                  <a:srgbClr val="17212B"/>
                </a:solidFill>
              </a:rPr>
              <a:t>The provider typically runs the operating system, runtime, and platform layers.</a:t>
            </a:r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98133633-3D56-4431-8756-965E62D05FCF}"/>
              </a:ext>
            </a:extLst>
          </p:cNvPr>
          <p:cNvSpPr>
            <a:spLocks noGrp="1"/>
          </p:cNvSpPr>
          <p:nvPr/>
        </p:nvSpPr>
        <p:spPr>
          <a:xfrm>
            <a:off x="838200" y="3162300"/>
            <a:ext cx="95250" cy="95250"/>
          </a:xfrm>
          <a:prstGeom prst="ellipse">
            <a:avLst/>
          </a:prstGeom>
          <a:solidFill>
            <a:srgbClr val="38699C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80383036-80DA-48A9-A3BD-71D630A79280}"/>
              </a:ext>
            </a:extLst>
          </p:cNvPr>
          <p:cNvSpPr>
            <a:spLocks noGrp="1"/>
          </p:cNvSpPr>
          <p:nvPr/>
        </p:nvSpPr>
        <p:spPr>
          <a:xfrm>
            <a:off x="1123950" y="3048000"/>
            <a:ext cx="9620250" cy="523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650">
                <a:solidFill>
                  <a:srgbClr val="17212B"/>
                </a:solidFill>
              </a:defRPr>
            </a:pPr>
            <a:r>
              <a:rPr sz="1650">
                <a:solidFill>
                  <a:srgbClr val="17212B"/>
                </a:solidFill>
              </a:rPr>
              <a:t>Use it when faster delivery matters more than low-level customization.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2E424C39-8E6C-4F66-8111-44E5151BEECC}"/>
              </a:ext>
            </a:extLst>
          </p:cNvPr>
          <p:cNvSpPr>
            <a:spLocks noGrp="1"/>
          </p:cNvSpPr>
          <p:nvPr/>
        </p:nvSpPr>
        <p:spPr>
          <a:xfrm>
            <a:off x="685800" y="4953000"/>
            <a:ext cx="10820400" cy="590550"/>
          </a:xfrm>
          <a:prstGeom prst="rect">
            <a:avLst/>
          </a:prstGeom>
          <a:solidFill>
            <a:srgbClr val="EAF2FA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F394CD13-6C88-4341-9CBB-52631F40C135}"/>
              </a:ext>
            </a:extLst>
          </p:cNvPr>
          <p:cNvSpPr>
            <a:spLocks noGrp="1"/>
          </p:cNvSpPr>
          <p:nvPr/>
        </p:nvSpPr>
        <p:spPr>
          <a:xfrm>
            <a:off x="952500" y="5114925"/>
            <a:ext cx="102870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650" b="1">
                <a:solidFill>
                  <a:srgbClr val="123B6D"/>
                </a:solidFill>
              </a:defRPr>
            </a:pPr>
            <a:r>
              <a:rPr sz="1650" b="1">
                <a:solidFill>
                  <a:srgbClr val="123B6D"/>
                </a:solidFill>
              </a:rPr>
              <a:t>PaaS shifts attention from servers toward application behavior and data.</a:t>
            </a:r>
          </a:p>
        </p:txBody>
      </p:sp>
    </p:spTree>
    <p:extLst>
      <p:ext uri="{BB962C8B-B14F-4D97-AF65-F5344CB8AC3E}">
        <p14:creationId xmlns:p14="http://schemas.microsoft.com/office/powerpoint/2010/main" val="130191831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13">
            <a:extLst>
              <a:ext uri="{FF2B5EF4-FFF2-40B4-BE49-F238E27FC236}">
                <a16:creationId xmlns:a16="http://schemas.microsoft.com/office/drawing/2014/main" id="{74856603-39C7-4461-AC9D-25E4CB9E664A}"/>
              </a:ext>
            </a:extLst>
          </p:cNvPr>
          <p:cNvSpPr>
            <a:spLocks noGrp="1"/>
          </p:cNvSpPr>
          <p:nvPr/>
        </p:nvSpPr>
        <p:spPr>
          <a:xfrm>
            <a:off x="685800" y="400050"/>
            <a:ext cx="10001250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2700" b="1">
                <a:solidFill>
                  <a:srgbClr val="123B6D"/>
                </a:solidFill>
              </a:defRPr>
            </a:pPr>
            <a:r>
              <a:rPr sz="2700" b="1">
                <a:solidFill>
                  <a:srgbClr val="123B6D"/>
                </a:solidFill>
              </a:rPr>
              <a:t>SaaS: software as a service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F3B417DF-2B4F-4244-BA82-F20D8FB2B8B4}"/>
              </a:ext>
            </a:extLst>
          </p:cNvPr>
          <p:cNvSpPr>
            <a:spLocks noGrp="1"/>
          </p:cNvSpPr>
          <p:nvPr/>
        </p:nvSpPr>
        <p:spPr>
          <a:xfrm>
            <a:off x="685800" y="1028700"/>
            <a:ext cx="10820400" cy="38100"/>
          </a:xfrm>
          <a:prstGeom prst="rect">
            <a:avLst/>
          </a:prstGeom>
          <a:solidFill>
            <a:srgbClr val="123B6D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61FA8505-9416-403E-B5E8-A3C94019AE66}"/>
              </a:ext>
            </a:extLst>
          </p:cNvPr>
          <p:cNvSpPr>
            <a:spLocks noGrp="1"/>
          </p:cNvSpPr>
          <p:nvPr/>
        </p:nvSpPr>
        <p:spPr>
          <a:xfrm>
            <a:off x="685800" y="6419850"/>
            <a:ext cx="2143125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975">
                <a:solidFill>
                  <a:srgbClr val="52606D"/>
                </a:solidFill>
              </a:defRPr>
            </a:pPr>
            <a:r>
              <a:rPr sz="975">
                <a:solidFill>
                  <a:srgbClr val="52606D"/>
                </a:solidFill>
              </a:rPr>
              <a:t>Cloud Computing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DAD547D5-95A9-49E9-98B6-F16317481B93}"/>
              </a:ext>
            </a:extLst>
          </p:cNvPr>
          <p:cNvSpPr>
            <a:spLocks noGrp="1"/>
          </p:cNvSpPr>
          <p:nvPr/>
        </p:nvSpPr>
        <p:spPr>
          <a:xfrm>
            <a:off x="3381375" y="6419850"/>
            <a:ext cx="65722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975">
                <a:solidFill>
                  <a:srgbClr val="52606D"/>
                </a:solidFill>
              </a:defRPr>
            </a:pPr>
            <a:r>
              <a:rPr sz="975">
                <a:solidFill>
                  <a:srgbClr val="52606D"/>
                </a:solidFill>
              </a:rPr>
              <a:t>Presented by Gregor von Laszewski (laszewski@gmail.com)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56FC96F7-61F8-48DE-AB0D-31947185FCBB}"/>
              </a:ext>
            </a:extLst>
          </p:cNvPr>
          <p:cNvSpPr>
            <a:spLocks noGrp="1"/>
          </p:cNvSpPr>
          <p:nvPr/>
        </p:nvSpPr>
        <p:spPr>
          <a:xfrm>
            <a:off x="10858500" y="6419850"/>
            <a:ext cx="6477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975">
                <a:solidFill>
                  <a:srgbClr val="52606D"/>
                </a:solidFill>
              </a:defRPr>
            </a:pPr>
            <a:r>
              <a:rPr sz="975">
                <a:solidFill>
                  <a:srgbClr val="52606D"/>
                </a:solidFill>
              </a:rPr>
              <a:t>19</a:t>
            </a:r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D07AC809-FE34-4A63-B213-553CF56348DF}"/>
              </a:ext>
            </a:extLst>
          </p:cNvPr>
          <p:cNvSpPr>
            <a:spLocks noGrp="1"/>
          </p:cNvSpPr>
          <p:nvPr/>
        </p:nvSpPr>
        <p:spPr>
          <a:xfrm>
            <a:off x="838200" y="1676400"/>
            <a:ext cx="95250" cy="95250"/>
          </a:xfrm>
          <a:prstGeom prst="ellipse">
            <a:avLst/>
          </a:prstGeom>
          <a:solidFill>
            <a:srgbClr val="38699C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487CE812-EE8F-4BE9-BCE2-BAE1BF269C62}"/>
              </a:ext>
            </a:extLst>
          </p:cNvPr>
          <p:cNvSpPr>
            <a:spLocks noGrp="1"/>
          </p:cNvSpPr>
          <p:nvPr/>
        </p:nvSpPr>
        <p:spPr>
          <a:xfrm>
            <a:off x="1123950" y="1562100"/>
            <a:ext cx="9620250" cy="523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650">
                <a:solidFill>
                  <a:srgbClr val="17212B"/>
                </a:solidFill>
              </a:defRPr>
            </a:pPr>
            <a:r>
              <a:rPr sz="1650">
                <a:solidFill>
                  <a:srgbClr val="17212B"/>
                </a:solidFill>
              </a:rPr>
              <a:t>Users consume a complete application through a web or client interface.</a:t>
            </a:r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FF66F89C-28F1-41AB-9465-7ED6CE0E52C9}"/>
              </a:ext>
            </a:extLst>
          </p:cNvPr>
          <p:cNvSpPr>
            <a:spLocks noGrp="1"/>
          </p:cNvSpPr>
          <p:nvPr/>
        </p:nvSpPr>
        <p:spPr>
          <a:xfrm>
            <a:off x="838200" y="2419350"/>
            <a:ext cx="95250" cy="95250"/>
          </a:xfrm>
          <a:prstGeom prst="ellipse">
            <a:avLst/>
          </a:prstGeom>
          <a:solidFill>
            <a:srgbClr val="38699C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B6A356A0-50DB-433F-BF2D-77A3608F12F1}"/>
              </a:ext>
            </a:extLst>
          </p:cNvPr>
          <p:cNvSpPr>
            <a:spLocks noGrp="1"/>
          </p:cNvSpPr>
          <p:nvPr/>
        </p:nvSpPr>
        <p:spPr>
          <a:xfrm>
            <a:off x="1123950" y="2305050"/>
            <a:ext cx="9620250" cy="523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650">
                <a:solidFill>
                  <a:srgbClr val="17212B"/>
                </a:solidFill>
              </a:defRPr>
            </a:pPr>
            <a:r>
              <a:rPr sz="1650">
                <a:solidFill>
                  <a:srgbClr val="17212B"/>
                </a:solidFill>
              </a:rPr>
              <a:t>The customer configures users, settings, workflows, and data governance.</a:t>
            </a:r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3BF1E6AC-D9E1-463F-861B-B3FE761D9B00}"/>
              </a:ext>
            </a:extLst>
          </p:cNvPr>
          <p:cNvSpPr>
            <a:spLocks noGrp="1"/>
          </p:cNvSpPr>
          <p:nvPr/>
        </p:nvSpPr>
        <p:spPr>
          <a:xfrm>
            <a:off x="838200" y="3162300"/>
            <a:ext cx="95250" cy="95250"/>
          </a:xfrm>
          <a:prstGeom prst="ellipse">
            <a:avLst/>
          </a:prstGeom>
          <a:solidFill>
            <a:srgbClr val="38699C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CFADE918-FFF7-46DD-9524-290CDC743B5B}"/>
              </a:ext>
            </a:extLst>
          </p:cNvPr>
          <p:cNvSpPr>
            <a:spLocks noGrp="1"/>
          </p:cNvSpPr>
          <p:nvPr/>
        </p:nvSpPr>
        <p:spPr>
          <a:xfrm>
            <a:off x="1123950" y="3048000"/>
            <a:ext cx="9620250" cy="523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650">
                <a:solidFill>
                  <a:srgbClr val="17212B"/>
                </a:solidFill>
              </a:defRPr>
            </a:pPr>
            <a:r>
              <a:rPr sz="1650">
                <a:solidFill>
                  <a:srgbClr val="17212B"/>
                </a:solidFill>
              </a:rPr>
              <a:t>Use it when the business need is common and a packaged application fits.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18623EC8-C31D-469A-BF27-DFE4E3E7D223}"/>
              </a:ext>
            </a:extLst>
          </p:cNvPr>
          <p:cNvSpPr>
            <a:spLocks noGrp="1"/>
          </p:cNvSpPr>
          <p:nvPr/>
        </p:nvSpPr>
        <p:spPr>
          <a:xfrm>
            <a:off x="685800" y="4953000"/>
            <a:ext cx="10820400" cy="590550"/>
          </a:xfrm>
          <a:prstGeom prst="rect">
            <a:avLst/>
          </a:prstGeom>
          <a:solidFill>
            <a:srgbClr val="EAF2FA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992264AB-9244-4FD7-A3B0-58EEC33C381D}"/>
              </a:ext>
            </a:extLst>
          </p:cNvPr>
          <p:cNvSpPr>
            <a:spLocks noGrp="1"/>
          </p:cNvSpPr>
          <p:nvPr/>
        </p:nvSpPr>
        <p:spPr>
          <a:xfrm>
            <a:off x="952500" y="5114925"/>
            <a:ext cx="102870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650" b="1">
                <a:solidFill>
                  <a:srgbClr val="123B6D"/>
                </a:solidFill>
              </a:defRPr>
            </a:pPr>
            <a:r>
              <a:rPr sz="1650" b="1">
                <a:solidFill>
                  <a:srgbClr val="123B6D"/>
                </a:solidFill>
              </a:rPr>
              <a:t>SaaS reduces building work but increases the importance of vendor and data decisions.</a:t>
            </a:r>
          </a:p>
        </p:txBody>
      </p:sp>
    </p:spTree>
    <p:extLst>
      <p:ext uri="{BB962C8B-B14F-4D97-AF65-F5344CB8AC3E}">
        <p14:creationId xmlns:p14="http://schemas.microsoft.com/office/powerpoint/2010/main" val="33472124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13">
            <a:extLst>
              <a:ext uri="{FF2B5EF4-FFF2-40B4-BE49-F238E27FC236}">
                <a16:creationId xmlns:a16="http://schemas.microsoft.com/office/drawing/2014/main" id="{1307B570-1BF5-42D0-BDB9-9267982214FF}"/>
              </a:ext>
            </a:extLst>
          </p:cNvPr>
          <p:cNvSpPr>
            <a:spLocks noGrp="1"/>
          </p:cNvSpPr>
          <p:nvPr/>
        </p:nvSpPr>
        <p:spPr>
          <a:xfrm>
            <a:off x="685800" y="400050"/>
            <a:ext cx="10001250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2700" b="1">
                <a:solidFill>
                  <a:srgbClr val="123B6D"/>
                </a:solidFill>
              </a:defRPr>
            </a:pPr>
            <a:r>
              <a:rPr sz="2700" b="1">
                <a:solidFill>
                  <a:srgbClr val="123B6D"/>
                </a:solidFill>
              </a:rPr>
              <a:t>Serverless and functions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6A55BD88-D479-4060-B5BA-28DEA73FBE9C}"/>
              </a:ext>
            </a:extLst>
          </p:cNvPr>
          <p:cNvSpPr>
            <a:spLocks noGrp="1"/>
          </p:cNvSpPr>
          <p:nvPr/>
        </p:nvSpPr>
        <p:spPr>
          <a:xfrm>
            <a:off x="685800" y="1028700"/>
            <a:ext cx="10820400" cy="38100"/>
          </a:xfrm>
          <a:prstGeom prst="rect">
            <a:avLst/>
          </a:prstGeom>
          <a:solidFill>
            <a:srgbClr val="123B6D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9E72D525-8D82-487B-A447-CB7F51C208BB}"/>
              </a:ext>
            </a:extLst>
          </p:cNvPr>
          <p:cNvSpPr>
            <a:spLocks noGrp="1"/>
          </p:cNvSpPr>
          <p:nvPr/>
        </p:nvSpPr>
        <p:spPr>
          <a:xfrm>
            <a:off x="685800" y="6419850"/>
            <a:ext cx="2143125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975">
                <a:solidFill>
                  <a:srgbClr val="52606D"/>
                </a:solidFill>
              </a:defRPr>
            </a:pPr>
            <a:r>
              <a:rPr sz="975">
                <a:solidFill>
                  <a:srgbClr val="52606D"/>
                </a:solidFill>
              </a:rPr>
              <a:t>Cloud Computing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097353C1-82A8-47E1-B932-7438EB68B4DC}"/>
              </a:ext>
            </a:extLst>
          </p:cNvPr>
          <p:cNvSpPr>
            <a:spLocks noGrp="1"/>
          </p:cNvSpPr>
          <p:nvPr/>
        </p:nvSpPr>
        <p:spPr>
          <a:xfrm>
            <a:off x="3381375" y="6419850"/>
            <a:ext cx="65722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975">
                <a:solidFill>
                  <a:srgbClr val="52606D"/>
                </a:solidFill>
              </a:defRPr>
            </a:pPr>
            <a:r>
              <a:rPr sz="975">
                <a:solidFill>
                  <a:srgbClr val="52606D"/>
                </a:solidFill>
              </a:rPr>
              <a:t>Presented by Gregor von Laszewski (laszewski@gmail.com)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2ABBFBA5-5F48-4418-8CDC-3419B55F30E6}"/>
              </a:ext>
            </a:extLst>
          </p:cNvPr>
          <p:cNvSpPr>
            <a:spLocks noGrp="1"/>
          </p:cNvSpPr>
          <p:nvPr/>
        </p:nvSpPr>
        <p:spPr>
          <a:xfrm>
            <a:off x="10858500" y="6419850"/>
            <a:ext cx="6477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975">
                <a:solidFill>
                  <a:srgbClr val="52606D"/>
                </a:solidFill>
              </a:defRPr>
            </a:pPr>
            <a:r>
              <a:rPr sz="975">
                <a:solidFill>
                  <a:srgbClr val="52606D"/>
                </a:solidFill>
              </a:rPr>
              <a:t>20</a:t>
            </a:r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7F97B90A-7AC0-49B2-9B5A-276A2672235F}"/>
              </a:ext>
            </a:extLst>
          </p:cNvPr>
          <p:cNvSpPr>
            <a:spLocks noGrp="1"/>
          </p:cNvSpPr>
          <p:nvPr/>
        </p:nvSpPr>
        <p:spPr>
          <a:xfrm>
            <a:off x="838200" y="1676400"/>
            <a:ext cx="95250" cy="95250"/>
          </a:xfrm>
          <a:prstGeom prst="ellipse">
            <a:avLst/>
          </a:prstGeom>
          <a:solidFill>
            <a:srgbClr val="38699C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D50FD731-938B-49A8-B64A-38ADC2EB23A6}"/>
              </a:ext>
            </a:extLst>
          </p:cNvPr>
          <p:cNvSpPr>
            <a:spLocks noGrp="1"/>
          </p:cNvSpPr>
          <p:nvPr/>
        </p:nvSpPr>
        <p:spPr>
          <a:xfrm>
            <a:off x="1123950" y="1562100"/>
            <a:ext cx="9620250" cy="523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650">
                <a:solidFill>
                  <a:srgbClr val="17212B"/>
                </a:solidFill>
              </a:defRPr>
            </a:pPr>
            <a:r>
              <a:rPr sz="1650">
                <a:solidFill>
                  <a:srgbClr val="17212B"/>
                </a:solidFill>
              </a:rPr>
              <a:t>A function runs in response to an event, request, or schedule.</a:t>
            </a:r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3A25A01E-9C05-4813-AECF-63824E7E070C}"/>
              </a:ext>
            </a:extLst>
          </p:cNvPr>
          <p:cNvSpPr>
            <a:spLocks noGrp="1"/>
          </p:cNvSpPr>
          <p:nvPr/>
        </p:nvSpPr>
        <p:spPr>
          <a:xfrm>
            <a:off x="838200" y="2419350"/>
            <a:ext cx="95250" cy="95250"/>
          </a:xfrm>
          <a:prstGeom prst="ellipse">
            <a:avLst/>
          </a:prstGeom>
          <a:solidFill>
            <a:srgbClr val="38699C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0EAD0E0C-B4F8-4901-BB4D-E5B907971F9F}"/>
              </a:ext>
            </a:extLst>
          </p:cNvPr>
          <p:cNvSpPr>
            <a:spLocks noGrp="1"/>
          </p:cNvSpPr>
          <p:nvPr/>
        </p:nvSpPr>
        <p:spPr>
          <a:xfrm>
            <a:off x="1123950" y="2305050"/>
            <a:ext cx="9620250" cy="523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650">
                <a:solidFill>
                  <a:srgbClr val="17212B"/>
                </a:solidFill>
              </a:defRPr>
            </a:pPr>
            <a:r>
              <a:rPr sz="1650">
                <a:solidFill>
                  <a:srgbClr val="17212B"/>
                </a:solidFill>
              </a:rPr>
              <a:t>Teams deploy small units of code and pay for execution behavior.</a:t>
            </a:r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67805BA6-6572-4435-9DCD-654A53DBB9B1}"/>
              </a:ext>
            </a:extLst>
          </p:cNvPr>
          <p:cNvSpPr>
            <a:spLocks noGrp="1"/>
          </p:cNvSpPr>
          <p:nvPr/>
        </p:nvSpPr>
        <p:spPr>
          <a:xfrm>
            <a:off x="838200" y="3162300"/>
            <a:ext cx="95250" cy="95250"/>
          </a:xfrm>
          <a:prstGeom prst="ellipse">
            <a:avLst/>
          </a:prstGeom>
          <a:solidFill>
            <a:srgbClr val="38699C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1DDC3A1D-B207-4D58-84B4-0B72C409929A}"/>
              </a:ext>
            </a:extLst>
          </p:cNvPr>
          <p:cNvSpPr>
            <a:spLocks noGrp="1"/>
          </p:cNvSpPr>
          <p:nvPr/>
        </p:nvSpPr>
        <p:spPr>
          <a:xfrm>
            <a:off x="1123950" y="3048000"/>
            <a:ext cx="9620250" cy="523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650">
                <a:solidFill>
                  <a:srgbClr val="17212B"/>
                </a:solidFill>
              </a:defRPr>
            </a:pPr>
            <a:r>
              <a:rPr sz="1650">
                <a:solidFill>
                  <a:srgbClr val="17212B"/>
                </a:solidFill>
              </a:rPr>
              <a:t>Design still needs attention to permissions, state, observability, and limits.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5B051FDB-66C6-4C3C-A46E-51D76ABDC008}"/>
              </a:ext>
            </a:extLst>
          </p:cNvPr>
          <p:cNvSpPr>
            <a:spLocks noGrp="1"/>
          </p:cNvSpPr>
          <p:nvPr/>
        </p:nvSpPr>
        <p:spPr>
          <a:xfrm>
            <a:off x="685800" y="4953000"/>
            <a:ext cx="10820400" cy="590550"/>
          </a:xfrm>
          <a:prstGeom prst="rect">
            <a:avLst/>
          </a:prstGeom>
          <a:solidFill>
            <a:srgbClr val="EAF2FA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F8386127-ECAD-4F29-BF09-52DE582DAE55}"/>
              </a:ext>
            </a:extLst>
          </p:cNvPr>
          <p:cNvSpPr>
            <a:spLocks noGrp="1"/>
          </p:cNvSpPr>
          <p:nvPr/>
        </p:nvSpPr>
        <p:spPr>
          <a:xfrm>
            <a:off x="952500" y="5114925"/>
            <a:ext cx="102870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650" b="1">
                <a:solidFill>
                  <a:srgbClr val="123B6D"/>
                </a:solidFill>
              </a:defRPr>
            </a:pPr>
            <a:r>
              <a:rPr sz="1650" b="1">
                <a:solidFill>
                  <a:srgbClr val="123B6D"/>
                </a:solidFill>
              </a:rPr>
              <a:t>Serverless removes server management—not the need for engineering judgment.</a:t>
            </a:r>
          </a:p>
        </p:txBody>
      </p:sp>
    </p:spTree>
    <p:extLst>
      <p:ext uri="{BB962C8B-B14F-4D97-AF65-F5344CB8AC3E}">
        <p14:creationId xmlns:p14="http://schemas.microsoft.com/office/powerpoint/2010/main" val="706620136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15">
            <a:extLst>
              <a:ext uri="{FF2B5EF4-FFF2-40B4-BE49-F238E27FC236}">
                <a16:creationId xmlns:a16="http://schemas.microsoft.com/office/drawing/2014/main" id="{276F6B46-7641-4A54-8EDC-4105453E9AA9}"/>
              </a:ext>
            </a:extLst>
          </p:cNvPr>
          <p:cNvSpPr>
            <a:spLocks noGrp="1"/>
          </p:cNvSpPr>
          <p:nvPr/>
        </p:nvSpPr>
        <p:spPr>
          <a:xfrm>
            <a:off x="685800" y="400050"/>
            <a:ext cx="10001250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2700" b="1">
                <a:solidFill>
                  <a:srgbClr val="123B6D"/>
                </a:solidFill>
              </a:defRPr>
            </a:pPr>
            <a:r>
              <a:rPr sz="2700" b="1">
                <a:solidFill>
                  <a:srgbClr val="123B6D"/>
                </a:solidFill>
              </a:rPr>
              <a:t>Service-model decision exercise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475FF22D-0229-4F26-92BC-8459F00664C7}"/>
              </a:ext>
            </a:extLst>
          </p:cNvPr>
          <p:cNvSpPr>
            <a:spLocks noGrp="1"/>
          </p:cNvSpPr>
          <p:nvPr/>
        </p:nvSpPr>
        <p:spPr>
          <a:xfrm>
            <a:off x="685800" y="1028700"/>
            <a:ext cx="10820400" cy="38100"/>
          </a:xfrm>
          <a:prstGeom prst="rect">
            <a:avLst/>
          </a:prstGeom>
          <a:solidFill>
            <a:srgbClr val="123B6D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029E2D21-B674-4247-B320-5FA4A24F3330}"/>
              </a:ext>
            </a:extLst>
          </p:cNvPr>
          <p:cNvSpPr>
            <a:spLocks noGrp="1"/>
          </p:cNvSpPr>
          <p:nvPr/>
        </p:nvSpPr>
        <p:spPr>
          <a:xfrm>
            <a:off x="685800" y="6419850"/>
            <a:ext cx="2143125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975">
                <a:solidFill>
                  <a:srgbClr val="52606D"/>
                </a:solidFill>
              </a:defRPr>
            </a:pPr>
            <a:r>
              <a:rPr sz="975">
                <a:solidFill>
                  <a:srgbClr val="52606D"/>
                </a:solidFill>
              </a:rPr>
              <a:t>Cloud Computing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AB97573F-4AA8-4656-ADE9-05CEEF835369}"/>
              </a:ext>
            </a:extLst>
          </p:cNvPr>
          <p:cNvSpPr>
            <a:spLocks noGrp="1"/>
          </p:cNvSpPr>
          <p:nvPr/>
        </p:nvSpPr>
        <p:spPr>
          <a:xfrm>
            <a:off x="3381375" y="6419850"/>
            <a:ext cx="65722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975">
                <a:solidFill>
                  <a:srgbClr val="52606D"/>
                </a:solidFill>
              </a:defRPr>
            </a:pPr>
            <a:r>
              <a:rPr sz="975">
                <a:solidFill>
                  <a:srgbClr val="52606D"/>
                </a:solidFill>
              </a:rPr>
              <a:t>Presented by Gregor von Laszewski (laszewski@gmail.com)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58E552DC-7A38-45E8-8703-77B6FC341D47}"/>
              </a:ext>
            </a:extLst>
          </p:cNvPr>
          <p:cNvSpPr>
            <a:spLocks noGrp="1"/>
          </p:cNvSpPr>
          <p:nvPr/>
        </p:nvSpPr>
        <p:spPr>
          <a:xfrm>
            <a:off x="10858500" y="6419850"/>
            <a:ext cx="6477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975">
                <a:solidFill>
                  <a:srgbClr val="52606D"/>
                </a:solidFill>
              </a:defRPr>
            </a:pPr>
            <a:r>
              <a:rPr sz="975">
                <a:solidFill>
                  <a:srgbClr val="52606D"/>
                </a:solidFill>
              </a:rPr>
              <a:t>21</a:t>
            </a:r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45D09421-98A6-4DBC-9BA5-0247E0685ACD}"/>
              </a:ext>
            </a:extLst>
          </p:cNvPr>
          <p:cNvSpPr>
            <a:spLocks noGrp="1"/>
          </p:cNvSpPr>
          <p:nvPr/>
        </p:nvSpPr>
        <p:spPr>
          <a:xfrm>
            <a:off x="838200" y="1676400"/>
            <a:ext cx="95250" cy="95250"/>
          </a:xfrm>
          <a:prstGeom prst="ellipse">
            <a:avLst/>
          </a:prstGeom>
          <a:solidFill>
            <a:srgbClr val="38699C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84DC2E2F-88A4-42F7-B995-A2653EC65096}"/>
              </a:ext>
            </a:extLst>
          </p:cNvPr>
          <p:cNvSpPr>
            <a:spLocks noGrp="1"/>
          </p:cNvSpPr>
          <p:nvPr/>
        </p:nvSpPr>
        <p:spPr>
          <a:xfrm>
            <a:off x="1123950" y="1562100"/>
            <a:ext cx="9620250" cy="523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650">
                <a:solidFill>
                  <a:srgbClr val="17212B"/>
                </a:solidFill>
              </a:defRPr>
            </a:pPr>
            <a:r>
              <a:rPr sz="1650">
                <a:solidFill>
                  <a:srgbClr val="17212B"/>
                </a:solidFill>
              </a:rPr>
              <a:t>A custom research portal needs a specialized runtime.</a:t>
            </a:r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96A9A5DA-7480-4C15-B75F-68620A4337BC}"/>
              </a:ext>
            </a:extLst>
          </p:cNvPr>
          <p:cNvSpPr>
            <a:spLocks noGrp="1"/>
          </p:cNvSpPr>
          <p:nvPr/>
        </p:nvSpPr>
        <p:spPr>
          <a:xfrm>
            <a:off x="838200" y="2419350"/>
            <a:ext cx="95250" cy="95250"/>
          </a:xfrm>
          <a:prstGeom prst="ellipse">
            <a:avLst/>
          </a:prstGeom>
          <a:solidFill>
            <a:srgbClr val="38699C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48ADB683-2962-4578-A53D-5015FBA716EF}"/>
              </a:ext>
            </a:extLst>
          </p:cNvPr>
          <p:cNvSpPr>
            <a:spLocks noGrp="1"/>
          </p:cNvSpPr>
          <p:nvPr/>
        </p:nvSpPr>
        <p:spPr>
          <a:xfrm>
            <a:off x="1123950" y="2305050"/>
            <a:ext cx="9620250" cy="523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650">
                <a:solidFill>
                  <a:srgbClr val="17212B"/>
                </a:solidFill>
              </a:defRPr>
            </a:pPr>
            <a:r>
              <a:rPr sz="1650">
                <a:solidFill>
                  <a:srgbClr val="17212B"/>
                </a:solidFill>
              </a:rPr>
              <a:t>A departmental form needs a secure workflow quickly.</a:t>
            </a:r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96D43D78-49A2-45FC-B16D-4560383DDEA3}"/>
              </a:ext>
            </a:extLst>
          </p:cNvPr>
          <p:cNvSpPr>
            <a:spLocks noGrp="1"/>
          </p:cNvSpPr>
          <p:nvPr/>
        </p:nvSpPr>
        <p:spPr>
          <a:xfrm>
            <a:off x="838200" y="3162300"/>
            <a:ext cx="95250" cy="95250"/>
          </a:xfrm>
          <a:prstGeom prst="ellipse">
            <a:avLst/>
          </a:prstGeom>
          <a:solidFill>
            <a:srgbClr val="38699C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AB3A4FCA-0FEE-4B1C-AFB9-16E624190135}"/>
              </a:ext>
            </a:extLst>
          </p:cNvPr>
          <p:cNvSpPr>
            <a:spLocks noGrp="1"/>
          </p:cNvSpPr>
          <p:nvPr/>
        </p:nvSpPr>
        <p:spPr>
          <a:xfrm>
            <a:off x="1123950" y="3048000"/>
            <a:ext cx="9620250" cy="523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650">
                <a:solidFill>
                  <a:srgbClr val="17212B"/>
                </a:solidFill>
              </a:defRPr>
            </a:pPr>
            <a:r>
              <a:rPr sz="1650">
                <a:solidFill>
                  <a:srgbClr val="17212B"/>
                </a:solidFill>
              </a:rPr>
              <a:t>A team needs email, calendars, and document collaboration.</a:t>
            </a:r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FB384E44-0DE5-4280-9090-70E95FF104F2}"/>
              </a:ext>
            </a:extLst>
          </p:cNvPr>
          <p:cNvSpPr>
            <a:spLocks noGrp="1"/>
          </p:cNvSpPr>
          <p:nvPr/>
        </p:nvSpPr>
        <p:spPr>
          <a:xfrm>
            <a:off x="838200" y="3905250"/>
            <a:ext cx="95250" cy="95250"/>
          </a:xfrm>
          <a:prstGeom prst="ellipse">
            <a:avLst/>
          </a:prstGeom>
          <a:solidFill>
            <a:srgbClr val="38699C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132CAF04-69FB-4C3D-92B8-1D0D17BCBBBD}"/>
              </a:ext>
            </a:extLst>
          </p:cNvPr>
          <p:cNvSpPr>
            <a:spLocks noGrp="1"/>
          </p:cNvSpPr>
          <p:nvPr/>
        </p:nvSpPr>
        <p:spPr>
          <a:xfrm>
            <a:off x="1123950" y="3790950"/>
            <a:ext cx="9620250" cy="523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650">
                <a:solidFill>
                  <a:srgbClr val="17212B"/>
                </a:solidFill>
              </a:defRPr>
            </a:pPr>
            <a:r>
              <a:rPr sz="1650">
                <a:solidFill>
                  <a:srgbClr val="17212B"/>
                </a:solidFill>
              </a:rPr>
              <a:t>Which model is most plausible, and what would change your answer?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7305D05E-5A61-43C0-8658-5F50B6B0C4FB}"/>
              </a:ext>
            </a:extLst>
          </p:cNvPr>
          <p:cNvSpPr>
            <a:spLocks noGrp="1"/>
          </p:cNvSpPr>
          <p:nvPr/>
        </p:nvSpPr>
        <p:spPr>
          <a:xfrm>
            <a:off x="685800" y="4953000"/>
            <a:ext cx="10820400" cy="590550"/>
          </a:xfrm>
          <a:prstGeom prst="rect">
            <a:avLst/>
          </a:prstGeom>
          <a:solidFill>
            <a:srgbClr val="EAF2FA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DD6BFECF-556B-4A4C-AED7-0B9278F4FE9D}"/>
              </a:ext>
            </a:extLst>
          </p:cNvPr>
          <p:cNvSpPr>
            <a:spLocks noGrp="1"/>
          </p:cNvSpPr>
          <p:nvPr/>
        </p:nvSpPr>
        <p:spPr>
          <a:xfrm>
            <a:off x="952500" y="5114925"/>
            <a:ext cx="102870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650" b="1">
                <a:solidFill>
                  <a:srgbClr val="123B6D"/>
                </a:solidFill>
              </a:defRPr>
            </a:pPr>
            <a:r>
              <a:rPr sz="1650" b="1">
                <a:solidFill>
                  <a:srgbClr val="123B6D"/>
                </a:solidFill>
              </a:rPr>
              <a:t>Use control, speed, compliance, and skills as your decision criteria.</a:t>
            </a:r>
          </a:p>
        </p:txBody>
      </p:sp>
    </p:spTree>
    <p:extLst>
      <p:ext uri="{BB962C8B-B14F-4D97-AF65-F5344CB8AC3E}">
        <p14:creationId xmlns:p14="http://schemas.microsoft.com/office/powerpoint/2010/main" val="586925621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13">
            <a:extLst>
              <a:ext uri="{FF2B5EF4-FFF2-40B4-BE49-F238E27FC236}">
                <a16:creationId xmlns:a16="http://schemas.microsoft.com/office/drawing/2014/main" id="{CCC9C321-5E66-40E6-AF9B-9DF584E2108A}"/>
              </a:ext>
            </a:extLst>
          </p:cNvPr>
          <p:cNvSpPr>
            <a:spLocks noGrp="1"/>
          </p:cNvSpPr>
          <p:nvPr/>
        </p:nvSpPr>
        <p:spPr>
          <a:xfrm>
            <a:off x="685800" y="400050"/>
            <a:ext cx="10001250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2700" b="1">
                <a:solidFill>
                  <a:srgbClr val="123B6D"/>
                </a:solidFill>
              </a:defRPr>
            </a:pPr>
            <a:r>
              <a:rPr sz="2700" b="1">
                <a:solidFill>
                  <a:srgbClr val="123B6D"/>
                </a:solidFill>
              </a:rPr>
              <a:t>Deployment models answer a different question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54014683-FA6C-4788-8714-DE32425FA3F0}"/>
              </a:ext>
            </a:extLst>
          </p:cNvPr>
          <p:cNvSpPr>
            <a:spLocks noGrp="1"/>
          </p:cNvSpPr>
          <p:nvPr/>
        </p:nvSpPr>
        <p:spPr>
          <a:xfrm>
            <a:off x="685800" y="1028700"/>
            <a:ext cx="10820400" cy="38100"/>
          </a:xfrm>
          <a:prstGeom prst="rect">
            <a:avLst/>
          </a:prstGeom>
          <a:solidFill>
            <a:srgbClr val="123B6D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48611B5B-1CDF-42D6-ABA4-89623A71FC19}"/>
              </a:ext>
            </a:extLst>
          </p:cNvPr>
          <p:cNvSpPr>
            <a:spLocks noGrp="1"/>
          </p:cNvSpPr>
          <p:nvPr/>
        </p:nvSpPr>
        <p:spPr>
          <a:xfrm>
            <a:off x="685800" y="6419850"/>
            <a:ext cx="2143125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975">
                <a:solidFill>
                  <a:srgbClr val="52606D"/>
                </a:solidFill>
              </a:defRPr>
            </a:pPr>
            <a:r>
              <a:rPr sz="975">
                <a:solidFill>
                  <a:srgbClr val="52606D"/>
                </a:solidFill>
              </a:rPr>
              <a:t>Cloud Computing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0D38DAE7-F260-4F3B-96A6-5EA3740DC6F8}"/>
              </a:ext>
            </a:extLst>
          </p:cNvPr>
          <p:cNvSpPr>
            <a:spLocks noGrp="1"/>
          </p:cNvSpPr>
          <p:nvPr/>
        </p:nvSpPr>
        <p:spPr>
          <a:xfrm>
            <a:off x="3381375" y="6419850"/>
            <a:ext cx="65722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975">
                <a:solidFill>
                  <a:srgbClr val="52606D"/>
                </a:solidFill>
              </a:defRPr>
            </a:pPr>
            <a:r>
              <a:rPr sz="975">
                <a:solidFill>
                  <a:srgbClr val="52606D"/>
                </a:solidFill>
              </a:rPr>
              <a:t>Presented by Gregor von Laszewski (laszewski@gmail.com)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39C5EAD5-697F-4B60-87C8-0539D6347129}"/>
              </a:ext>
            </a:extLst>
          </p:cNvPr>
          <p:cNvSpPr>
            <a:spLocks noGrp="1"/>
          </p:cNvSpPr>
          <p:nvPr/>
        </p:nvSpPr>
        <p:spPr>
          <a:xfrm>
            <a:off x="10858500" y="6419850"/>
            <a:ext cx="6477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975">
                <a:solidFill>
                  <a:srgbClr val="52606D"/>
                </a:solidFill>
              </a:defRPr>
            </a:pPr>
            <a:r>
              <a:rPr sz="975">
                <a:solidFill>
                  <a:srgbClr val="52606D"/>
                </a:solidFill>
              </a:rPr>
              <a:t>22</a:t>
            </a:r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902AE81E-547E-48C5-AE4D-F3FA36415626}"/>
              </a:ext>
            </a:extLst>
          </p:cNvPr>
          <p:cNvSpPr>
            <a:spLocks noGrp="1"/>
          </p:cNvSpPr>
          <p:nvPr/>
        </p:nvSpPr>
        <p:spPr>
          <a:xfrm>
            <a:off x="838200" y="1676400"/>
            <a:ext cx="95250" cy="95250"/>
          </a:xfrm>
          <a:prstGeom prst="ellipse">
            <a:avLst/>
          </a:prstGeom>
          <a:solidFill>
            <a:srgbClr val="38699C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D925EE7A-C075-4BE0-9E22-37144724893D}"/>
              </a:ext>
            </a:extLst>
          </p:cNvPr>
          <p:cNvSpPr>
            <a:spLocks noGrp="1"/>
          </p:cNvSpPr>
          <p:nvPr/>
        </p:nvSpPr>
        <p:spPr>
          <a:xfrm>
            <a:off x="1123950" y="1562100"/>
            <a:ext cx="9620250" cy="523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650">
                <a:solidFill>
                  <a:srgbClr val="17212B"/>
                </a:solidFill>
              </a:defRPr>
            </a:pPr>
            <a:r>
              <a:rPr sz="1650">
                <a:solidFill>
                  <a:srgbClr val="17212B"/>
                </a:solidFill>
              </a:rPr>
              <a:t>Service model asks: what level of abstraction do we consume?</a:t>
            </a:r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5CBE9E54-A87F-4C00-9DDA-8CDE0B7D66AF}"/>
              </a:ext>
            </a:extLst>
          </p:cNvPr>
          <p:cNvSpPr>
            <a:spLocks noGrp="1"/>
          </p:cNvSpPr>
          <p:nvPr/>
        </p:nvSpPr>
        <p:spPr>
          <a:xfrm>
            <a:off x="838200" y="2419350"/>
            <a:ext cx="95250" cy="95250"/>
          </a:xfrm>
          <a:prstGeom prst="ellipse">
            <a:avLst/>
          </a:prstGeom>
          <a:solidFill>
            <a:srgbClr val="38699C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98528C15-C02D-4F00-B033-62B721218714}"/>
              </a:ext>
            </a:extLst>
          </p:cNvPr>
          <p:cNvSpPr>
            <a:spLocks noGrp="1"/>
          </p:cNvSpPr>
          <p:nvPr/>
        </p:nvSpPr>
        <p:spPr>
          <a:xfrm>
            <a:off x="1123950" y="2305050"/>
            <a:ext cx="9620250" cy="523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650">
                <a:solidFill>
                  <a:srgbClr val="17212B"/>
                </a:solidFill>
              </a:defRPr>
            </a:pPr>
            <a:r>
              <a:rPr sz="1650">
                <a:solidFill>
                  <a:srgbClr val="17212B"/>
                </a:solidFill>
              </a:rPr>
              <a:t>Deployment model asks: how is the cloud environment organized and used?</a:t>
            </a:r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8A9DE7FD-F2CE-44E4-BBD6-A4A8DC9BDF21}"/>
              </a:ext>
            </a:extLst>
          </p:cNvPr>
          <p:cNvSpPr>
            <a:spLocks noGrp="1"/>
          </p:cNvSpPr>
          <p:nvPr/>
        </p:nvSpPr>
        <p:spPr>
          <a:xfrm>
            <a:off x="838200" y="3162300"/>
            <a:ext cx="95250" cy="95250"/>
          </a:xfrm>
          <a:prstGeom prst="ellipse">
            <a:avLst/>
          </a:prstGeom>
          <a:solidFill>
            <a:srgbClr val="38699C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D6F4362B-81B2-4B6D-BC84-CE6DF5D58963}"/>
              </a:ext>
            </a:extLst>
          </p:cNvPr>
          <p:cNvSpPr>
            <a:spLocks noGrp="1"/>
          </p:cNvSpPr>
          <p:nvPr/>
        </p:nvSpPr>
        <p:spPr>
          <a:xfrm>
            <a:off x="1123950" y="3048000"/>
            <a:ext cx="9620250" cy="523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650">
                <a:solidFill>
                  <a:srgbClr val="17212B"/>
                </a:solidFill>
              </a:defRPr>
            </a:pPr>
            <a:r>
              <a:rPr sz="1650">
                <a:solidFill>
                  <a:srgbClr val="17212B"/>
                </a:solidFill>
              </a:rPr>
              <a:t>These choices interact, but they should not be confused.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189D1D49-7AB7-4F21-B5FC-19CC5DF7C688}"/>
              </a:ext>
            </a:extLst>
          </p:cNvPr>
          <p:cNvSpPr>
            <a:spLocks noGrp="1"/>
          </p:cNvSpPr>
          <p:nvPr/>
        </p:nvSpPr>
        <p:spPr>
          <a:xfrm>
            <a:off x="685800" y="4953000"/>
            <a:ext cx="10820400" cy="590550"/>
          </a:xfrm>
          <a:prstGeom prst="rect">
            <a:avLst/>
          </a:prstGeom>
          <a:solidFill>
            <a:srgbClr val="EAF2FA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250A47A3-3AA5-4195-A3EF-5F87FB9FCF81}"/>
              </a:ext>
            </a:extLst>
          </p:cNvPr>
          <p:cNvSpPr>
            <a:spLocks noGrp="1"/>
          </p:cNvSpPr>
          <p:nvPr/>
        </p:nvSpPr>
        <p:spPr>
          <a:xfrm>
            <a:off x="952500" y="5114925"/>
            <a:ext cx="102870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650" b="1">
                <a:solidFill>
                  <a:srgbClr val="123B6D"/>
                </a:solidFill>
              </a:defRPr>
            </a:pPr>
            <a:r>
              <a:rPr sz="1650" b="1">
                <a:solidFill>
                  <a:srgbClr val="123B6D"/>
                </a:solidFill>
              </a:rPr>
              <a:t>A PaaS service can appear in more than one deployment strategy.</a:t>
            </a:r>
          </a:p>
        </p:txBody>
      </p:sp>
    </p:spTree>
    <p:extLst>
      <p:ext uri="{BB962C8B-B14F-4D97-AF65-F5344CB8AC3E}">
        <p14:creationId xmlns:p14="http://schemas.microsoft.com/office/powerpoint/2010/main" val="1624661711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13">
            <a:extLst>
              <a:ext uri="{FF2B5EF4-FFF2-40B4-BE49-F238E27FC236}">
                <a16:creationId xmlns:a16="http://schemas.microsoft.com/office/drawing/2014/main" id="{63320D28-23CD-41F0-8425-4F10E014A545}"/>
              </a:ext>
            </a:extLst>
          </p:cNvPr>
          <p:cNvSpPr>
            <a:spLocks noGrp="1"/>
          </p:cNvSpPr>
          <p:nvPr/>
        </p:nvSpPr>
        <p:spPr>
          <a:xfrm>
            <a:off x="685800" y="400050"/>
            <a:ext cx="10001250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2700" b="1">
                <a:solidFill>
                  <a:srgbClr val="123B6D"/>
                </a:solidFill>
              </a:defRPr>
            </a:pPr>
            <a:r>
              <a:rPr sz="2700" b="1">
                <a:solidFill>
                  <a:srgbClr val="123B6D"/>
                </a:solidFill>
              </a:rPr>
              <a:t>Public cloud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243A9946-9419-403D-A03A-3B7033F4694C}"/>
              </a:ext>
            </a:extLst>
          </p:cNvPr>
          <p:cNvSpPr>
            <a:spLocks noGrp="1"/>
          </p:cNvSpPr>
          <p:nvPr/>
        </p:nvSpPr>
        <p:spPr>
          <a:xfrm>
            <a:off x="685800" y="1028700"/>
            <a:ext cx="10820400" cy="38100"/>
          </a:xfrm>
          <a:prstGeom prst="rect">
            <a:avLst/>
          </a:prstGeom>
          <a:solidFill>
            <a:srgbClr val="123B6D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CB776854-FE28-4290-9730-6098BABDC59B}"/>
              </a:ext>
            </a:extLst>
          </p:cNvPr>
          <p:cNvSpPr>
            <a:spLocks noGrp="1"/>
          </p:cNvSpPr>
          <p:nvPr/>
        </p:nvSpPr>
        <p:spPr>
          <a:xfrm>
            <a:off x="685800" y="6419850"/>
            <a:ext cx="2143125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975">
                <a:solidFill>
                  <a:srgbClr val="52606D"/>
                </a:solidFill>
              </a:defRPr>
            </a:pPr>
            <a:r>
              <a:rPr sz="975">
                <a:solidFill>
                  <a:srgbClr val="52606D"/>
                </a:solidFill>
              </a:rPr>
              <a:t>Cloud Computing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B5F2C949-3571-4C9B-A924-34EC464BBB23}"/>
              </a:ext>
            </a:extLst>
          </p:cNvPr>
          <p:cNvSpPr>
            <a:spLocks noGrp="1"/>
          </p:cNvSpPr>
          <p:nvPr/>
        </p:nvSpPr>
        <p:spPr>
          <a:xfrm>
            <a:off x="3381375" y="6419850"/>
            <a:ext cx="65722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975">
                <a:solidFill>
                  <a:srgbClr val="52606D"/>
                </a:solidFill>
              </a:defRPr>
            </a:pPr>
            <a:r>
              <a:rPr sz="975">
                <a:solidFill>
                  <a:srgbClr val="52606D"/>
                </a:solidFill>
              </a:rPr>
              <a:t>Presented by Gregor von Laszewski (laszewski@gmail.com)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5C7B6A27-BD98-4CE0-96D0-CB5E3D46AEF0}"/>
              </a:ext>
            </a:extLst>
          </p:cNvPr>
          <p:cNvSpPr>
            <a:spLocks noGrp="1"/>
          </p:cNvSpPr>
          <p:nvPr/>
        </p:nvSpPr>
        <p:spPr>
          <a:xfrm>
            <a:off x="10858500" y="6419850"/>
            <a:ext cx="6477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975">
                <a:solidFill>
                  <a:srgbClr val="52606D"/>
                </a:solidFill>
              </a:defRPr>
            </a:pPr>
            <a:r>
              <a:rPr sz="975">
                <a:solidFill>
                  <a:srgbClr val="52606D"/>
                </a:solidFill>
              </a:rPr>
              <a:t>23</a:t>
            </a:r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658772E3-075C-40E2-AEAE-4856E86075D2}"/>
              </a:ext>
            </a:extLst>
          </p:cNvPr>
          <p:cNvSpPr>
            <a:spLocks noGrp="1"/>
          </p:cNvSpPr>
          <p:nvPr/>
        </p:nvSpPr>
        <p:spPr>
          <a:xfrm>
            <a:off x="838200" y="1676400"/>
            <a:ext cx="95250" cy="95250"/>
          </a:xfrm>
          <a:prstGeom prst="ellipse">
            <a:avLst/>
          </a:prstGeom>
          <a:solidFill>
            <a:srgbClr val="38699C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98948178-DD3C-4E0C-8293-DADF13453332}"/>
              </a:ext>
            </a:extLst>
          </p:cNvPr>
          <p:cNvSpPr>
            <a:spLocks noGrp="1"/>
          </p:cNvSpPr>
          <p:nvPr/>
        </p:nvSpPr>
        <p:spPr>
          <a:xfrm>
            <a:off x="1123950" y="1562100"/>
            <a:ext cx="9620250" cy="523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650">
                <a:solidFill>
                  <a:srgbClr val="17212B"/>
                </a:solidFill>
              </a:defRPr>
            </a:pPr>
            <a:r>
              <a:rPr sz="1650">
                <a:solidFill>
                  <a:srgbClr val="17212B"/>
                </a:solidFill>
              </a:rPr>
              <a:t>Infrastructure is operated for broad customer use by a provider.</a:t>
            </a:r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E91DD3D6-28A0-48C7-B155-FC6611FAE343}"/>
              </a:ext>
            </a:extLst>
          </p:cNvPr>
          <p:cNvSpPr>
            <a:spLocks noGrp="1"/>
          </p:cNvSpPr>
          <p:nvPr/>
        </p:nvSpPr>
        <p:spPr>
          <a:xfrm>
            <a:off x="838200" y="2419350"/>
            <a:ext cx="95250" cy="95250"/>
          </a:xfrm>
          <a:prstGeom prst="ellipse">
            <a:avLst/>
          </a:prstGeom>
          <a:solidFill>
            <a:srgbClr val="38699C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461ACC8F-23ED-4F1D-8214-057B7602BD83}"/>
              </a:ext>
            </a:extLst>
          </p:cNvPr>
          <p:cNvSpPr>
            <a:spLocks noGrp="1"/>
          </p:cNvSpPr>
          <p:nvPr/>
        </p:nvSpPr>
        <p:spPr>
          <a:xfrm>
            <a:off x="1123950" y="2305050"/>
            <a:ext cx="9620250" cy="523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650">
                <a:solidFill>
                  <a:srgbClr val="17212B"/>
                </a:solidFill>
              </a:defRPr>
            </a:pPr>
            <a:r>
              <a:rPr sz="1650">
                <a:solidFill>
                  <a:srgbClr val="17212B"/>
                </a:solidFill>
              </a:rPr>
              <a:t>It offers a wide catalogue of services and global reach.</a:t>
            </a:r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4C07EB65-3537-4E70-9BA4-3B8DFBD3FD79}"/>
              </a:ext>
            </a:extLst>
          </p:cNvPr>
          <p:cNvSpPr>
            <a:spLocks noGrp="1"/>
          </p:cNvSpPr>
          <p:nvPr/>
        </p:nvSpPr>
        <p:spPr>
          <a:xfrm>
            <a:off x="838200" y="3162300"/>
            <a:ext cx="95250" cy="95250"/>
          </a:xfrm>
          <a:prstGeom prst="ellipse">
            <a:avLst/>
          </a:prstGeom>
          <a:solidFill>
            <a:srgbClr val="38699C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8E12ADBE-545A-44AD-9C4C-0C433684A75F}"/>
              </a:ext>
            </a:extLst>
          </p:cNvPr>
          <p:cNvSpPr>
            <a:spLocks noGrp="1"/>
          </p:cNvSpPr>
          <p:nvPr/>
        </p:nvSpPr>
        <p:spPr>
          <a:xfrm>
            <a:off x="1123950" y="3048000"/>
            <a:ext cx="9620250" cy="523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650">
                <a:solidFill>
                  <a:srgbClr val="17212B"/>
                </a:solidFill>
              </a:defRPr>
            </a:pPr>
            <a:r>
              <a:rPr sz="1650">
                <a:solidFill>
                  <a:srgbClr val="17212B"/>
                </a:solidFill>
              </a:rPr>
              <a:t>The key work is safe tenancy: identity, configuration, network boundaries, and governance.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AF0CD44D-3AE8-431E-BCB4-8D875168EA96}"/>
              </a:ext>
            </a:extLst>
          </p:cNvPr>
          <p:cNvSpPr>
            <a:spLocks noGrp="1"/>
          </p:cNvSpPr>
          <p:nvPr/>
        </p:nvSpPr>
        <p:spPr>
          <a:xfrm>
            <a:off x="685800" y="4953000"/>
            <a:ext cx="10820400" cy="590550"/>
          </a:xfrm>
          <a:prstGeom prst="rect">
            <a:avLst/>
          </a:prstGeom>
          <a:solidFill>
            <a:srgbClr val="EAF2FA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F402BF75-7449-4377-A3EF-8B2E902B7925}"/>
              </a:ext>
            </a:extLst>
          </p:cNvPr>
          <p:cNvSpPr>
            <a:spLocks noGrp="1"/>
          </p:cNvSpPr>
          <p:nvPr/>
        </p:nvSpPr>
        <p:spPr>
          <a:xfrm>
            <a:off x="952500" y="5114925"/>
            <a:ext cx="102870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650" b="1">
                <a:solidFill>
                  <a:srgbClr val="123B6D"/>
                </a:solidFill>
              </a:defRPr>
            </a:pPr>
            <a:r>
              <a:rPr sz="1650" b="1">
                <a:solidFill>
                  <a:srgbClr val="123B6D"/>
                </a:solidFill>
              </a:rPr>
              <a:t>Public does not mean your data or workloads are publicly accessible.</a:t>
            </a:r>
          </a:p>
        </p:txBody>
      </p:sp>
    </p:spTree>
    <p:extLst>
      <p:ext uri="{BB962C8B-B14F-4D97-AF65-F5344CB8AC3E}">
        <p14:creationId xmlns:p14="http://schemas.microsoft.com/office/powerpoint/2010/main" val="167788176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13">
            <a:extLst>
              <a:ext uri="{FF2B5EF4-FFF2-40B4-BE49-F238E27FC236}">
                <a16:creationId xmlns:a16="http://schemas.microsoft.com/office/drawing/2014/main" id="{E4B5386D-A596-4256-AE6C-9D46C3AD7CB7}"/>
              </a:ext>
            </a:extLst>
          </p:cNvPr>
          <p:cNvSpPr>
            <a:spLocks noGrp="1"/>
          </p:cNvSpPr>
          <p:nvPr/>
        </p:nvSpPr>
        <p:spPr>
          <a:xfrm>
            <a:off x="685800" y="400050"/>
            <a:ext cx="10001250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2700" b="1">
                <a:solidFill>
                  <a:srgbClr val="123B6D"/>
                </a:solidFill>
              </a:defRPr>
            </a:pPr>
            <a:r>
              <a:rPr sz="2700" b="1">
                <a:solidFill>
                  <a:srgbClr val="123B6D"/>
                </a:solidFill>
              </a:rPr>
              <a:t>Private cloud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0E994B46-638D-451B-BE49-97BE84C86685}"/>
              </a:ext>
            </a:extLst>
          </p:cNvPr>
          <p:cNvSpPr>
            <a:spLocks noGrp="1"/>
          </p:cNvSpPr>
          <p:nvPr/>
        </p:nvSpPr>
        <p:spPr>
          <a:xfrm>
            <a:off x="685800" y="1028700"/>
            <a:ext cx="10820400" cy="38100"/>
          </a:xfrm>
          <a:prstGeom prst="rect">
            <a:avLst/>
          </a:prstGeom>
          <a:solidFill>
            <a:srgbClr val="123B6D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E0BDB8B6-9DB0-4E39-8779-A7C97191B92A}"/>
              </a:ext>
            </a:extLst>
          </p:cNvPr>
          <p:cNvSpPr>
            <a:spLocks noGrp="1"/>
          </p:cNvSpPr>
          <p:nvPr/>
        </p:nvSpPr>
        <p:spPr>
          <a:xfrm>
            <a:off x="685800" y="6419850"/>
            <a:ext cx="2143125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975">
                <a:solidFill>
                  <a:srgbClr val="52606D"/>
                </a:solidFill>
              </a:defRPr>
            </a:pPr>
            <a:r>
              <a:rPr sz="975">
                <a:solidFill>
                  <a:srgbClr val="52606D"/>
                </a:solidFill>
              </a:rPr>
              <a:t>Cloud Computing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8BA42805-F30B-423D-8FB2-AC9B70C1F90B}"/>
              </a:ext>
            </a:extLst>
          </p:cNvPr>
          <p:cNvSpPr>
            <a:spLocks noGrp="1"/>
          </p:cNvSpPr>
          <p:nvPr/>
        </p:nvSpPr>
        <p:spPr>
          <a:xfrm>
            <a:off x="3381375" y="6419850"/>
            <a:ext cx="65722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975">
                <a:solidFill>
                  <a:srgbClr val="52606D"/>
                </a:solidFill>
              </a:defRPr>
            </a:pPr>
            <a:r>
              <a:rPr sz="975">
                <a:solidFill>
                  <a:srgbClr val="52606D"/>
                </a:solidFill>
              </a:rPr>
              <a:t>Presented by Gregor von Laszewski (laszewski@gmail.com)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9FEA5D4D-39BC-47CD-BF5B-0EDC5B927B65}"/>
              </a:ext>
            </a:extLst>
          </p:cNvPr>
          <p:cNvSpPr>
            <a:spLocks noGrp="1"/>
          </p:cNvSpPr>
          <p:nvPr/>
        </p:nvSpPr>
        <p:spPr>
          <a:xfrm>
            <a:off x="10858500" y="6419850"/>
            <a:ext cx="6477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975">
                <a:solidFill>
                  <a:srgbClr val="52606D"/>
                </a:solidFill>
              </a:defRPr>
            </a:pPr>
            <a:r>
              <a:rPr sz="975">
                <a:solidFill>
                  <a:srgbClr val="52606D"/>
                </a:solidFill>
              </a:rPr>
              <a:t>24</a:t>
            </a:r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F746544E-2EC0-4EDB-9F5F-A9253C9A6C2A}"/>
              </a:ext>
            </a:extLst>
          </p:cNvPr>
          <p:cNvSpPr>
            <a:spLocks noGrp="1"/>
          </p:cNvSpPr>
          <p:nvPr/>
        </p:nvSpPr>
        <p:spPr>
          <a:xfrm>
            <a:off x="838200" y="1676400"/>
            <a:ext cx="95250" cy="95250"/>
          </a:xfrm>
          <a:prstGeom prst="ellipse">
            <a:avLst/>
          </a:prstGeom>
          <a:solidFill>
            <a:srgbClr val="38699C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3010F945-F2CA-4F34-A682-4FED11FE45CE}"/>
              </a:ext>
            </a:extLst>
          </p:cNvPr>
          <p:cNvSpPr>
            <a:spLocks noGrp="1"/>
          </p:cNvSpPr>
          <p:nvPr/>
        </p:nvSpPr>
        <p:spPr>
          <a:xfrm>
            <a:off x="1123950" y="1562100"/>
            <a:ext cx="9620250" cy="523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650">
                <a:solidFill>
                  <a:srgbClr val="17212B"/>
                </a:solidFill>
              </a:defRPr>
            </a:pPr>
            <a:r>
              <a:rPr sz="1650">
                <a:solidFill>
                  <a:srgbClr val="17212B"/>
                </a:solidFill>
              </a:rPr>
              <a:t>Infrastructure is dedicated to a single organization’s use.</a:t>
            </a:r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0BD1A7E0-6817-4462-8A53-CD93DFF008A0}"/>
              </a:ext>
            </a:extLst>
          </p:cNvPr>
          <p:cNvSpPr>
            <a:spLocks noGrp="1"/>
          </p:cNvSpPr>
          <p:nvPr/>
        </p:nvSpPr>
        <p:spPr>
          <a:xfrm>
            <a:off x="838200" y="2419350"/>
            <a:ext cx="95250" cy="95250"/>
          </a:xfrm>
          <a:prstGeom prst="ellipse">
            <a:avLst/>
          </a:prstGeom>
          <a:solidFill>
            <a:srgbClr val="38699C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429F190B-9BA7-433E-A4E6-105AA2179B3E}"/>
              </a:ext>
            </a:extLst>
          </p:cNvPr>
          <p:cNvSpPr>
            <a:spLocks noGrp="1"/>
          </p:cNvSpPr>
          <p:nvPr/>
        </p:nvSpPr>
        <p:spPr>
          <a:xfrm>
            <a:off x="1123950" y="2305050"/>
            <a:ext cx="9620250" cy="523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650">
                <a:solidFill>
                  <a:srgbClr val="17212B"/>
                </a:solidFill>
              </a:defRPr>
            </a:pPr>
            <a:r>
              <a:rPr sz="1650">
                <a:solidFill>
                  <a:srgbClr val="17212B"/>
                </a:solidFill>
              </a:rPr>
              <a:t>It may be run on premises or by a third party.</a:t>
            </a:r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4A77816E-204A-49CF-975A-BB7ED6614759}"/>
              </a:ext>
            </a:extLst>
          </p:cNvPr>
          <p:cNvSpPr>
            <a:spLocks noGrp="1"/>
          </p:cNvSpPr>
          <p:nvPr/>
        </p:nvSpPr>
        <p:spPr>
          <a:xfrm>
            <a:off x="838200" y="3162300"/>
            <a:ext cx="95250" cy="95250"/>
          </a:xfrm>
          <a:prstGeom prst="ellipse">
            <a:avLst/>
          </a:prstGeom>
          <a:solidFill>
            <a:srgbClr val="38699C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5EC2A0B9-B3E4-444E-B87B-2CD2661871A9}"/>
              </a:ext>
            </a:extLst>
          </p:cNvPr>
          <p:cNvSpPr>
            <a:spLocks noGrp="1"/>
          </p:cNvSpPr>
          <p:nvPr/>
        </p:nvSpPr>
        <p:spPr>
          <a:xfrm>
            <a:off x="1123950" y="3048000"/>
            <a:ext cx="9620250" cy="523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650">
                <a:solidFill>
                  <a:srgbClr val="17212B"/>
                </a:solidFill>
              </a:defRPr>
            </a:pPr>
            <a:r>
              <a:rPr sz="1650">
                <a:solidFill>
                  <a:srgbClr val="17212B"/>
                </a:solidFill>
              </a:rPr>
              <a:t>It can support specific control, integration, or policy requirements.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472B21C2-2909-416D-81DE-B236E3F94A6B}"/>
              </a:ext>
            </a:extLst>
          </p:cNvPr>
          <p:cNvSpPr>
            <a:spLocks noGrp="1"/>
          </p:cNvSpPr>
          <p:nvPr/>
        </p:nvSpPr>
        <p:spPr>
          <a:xfrm>
            <a:off x="685800" y="4953000"/>
            <a:ext cx="10820400" cy="590550"/>
          </a:xfrm>
          <a:prstGeom prst="rect">
            <a:avLst/>
          </a:prstGeom>
          <a:solidFill>
            <a:srgbClr val="EAF2FA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B6AEE297-EA15-4F84-9354-6CBD2F2971FA}"/>
              </a:ext>
            </a:extLst>
          </p:cNvPr>
          <p:cNvSpPr>
            <a:spLocks noGrp="1"/>
          </p:cNvSpPr>
          <p:nvPr/>
        </p:nvSpPr>
        <p:spPr>
          <a:xfrm>
            <a:off x="952500" y="5114925"/>
            <a:ext cx="102870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650" b="1">
                <a:solidFill>
                  <a:srgbClr val="123B6D"/>
                </a:solidFill>
              </a:defRPr>
            </a:pPr>
            <a:r>
              <a:rPr sz="1650" b="1">
                <a:solidFill>
                  <a:srgbClr val="123B6D"/>
                </a:solidFill>
              </a:rPr>
              <a:t>Private cloud still needs self-service, pooling, automation, and measurement to act cloud-like.</a:t>
            </a:r>
          </a:p>
        </p:txBody>
      </p:sp>
    </p:spTree>
    <p:extLst>
      <p:ext uri="{BB962C8B-B14F-4D97-AF65-F5344CB8AC3E}">
        <p14:creationId xmlns:p14="http://schemas.microsoft.com/office/powerpoint/2010/main" val="600770961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13">
            <a:extLst>
              <a:ext uri="{FF2B5EF4-FFF2-40B4-BE49-F238E27FC236}">
                <a16:creationId xmlns:a16="http://schemas.microsoft.com/office/drawing/2014/main" id="{5BF5296A-C4CB-4035-8049-5BA0A49D67CD}"/>
              </a:ext>
            </a:extLst>
          </p:cNvPr>
          <p:cNvSpPr>
            <a:spLocks noGrp="1"/>
          </p:cNvSpPr>
          <p:nvPr/>
        </p:nvSpPr>
        <p:spPr>
          <a:xfrm>
            <a:off x="685800" y="400050"/>
            <a:ext cx="10001250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2700" b="1">
                <a:solidFill>
                  <a:srgbClr val="123B6D"/>
                </a:solidFill>
              </a:defRPr>
            </a:pPr>
            <a:r>
              <a:rPr sz="2700" b="1">
                <a:solidFill>
                  <a:srgbClr val="123B6D"/>
                </a:solidFill>
              </a:rPr>
              <a:t>Hybrid cloud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EE425EEA-002A-4A56-B17B-65DB59A81036}"/>
              </a:ext>
            </a:extLst>
          </p:cNvPr>
          <p:cNvSpPr>
            <a:spLocks noGrp="1"/>
          </p:cNvSpPr>
          <p:nvPr/>
        </p:nvSpPr>
        <p:spPr>
          <a:xfrm>
            <a:off x="685800" y="1028700"/>
            <a:ext cx="10820400" cy="38100"/>
          </a:xfrm>
          <a:prstGeom prst="rect">
            <a:avLst/>
          </a:prstGeom>
          <a:solidFill>
            <a:srgbClr val="123B6D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B46F10BB-0557-4A5F-93E5-FE762F4258E5}"/>
              </a:ext>
            </a:extLst>
          </p:cNvPr>
          <p:cNvSpPr>
            <a:spLocks noGrp="1"/>
          </p:cNvSpPr>
          <p:nvPr/>
        </p:nvSpPr>
        <p:spPr>
          <a:xfrm>
            <a:off x="685800" y="6419850"/>
            <a:ext cx="2143125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975">
                <a:solidFill>
                  <a:srgbClr val="52606D"/>
                </a:solidFill>
              </a:defRPr>
            </a:pPr>
            <a:r>
              <a:rPr sz="975">
                <a:solidFill>
                  <a:srgbClr val="52606D"/>
                </a:solidFill>
              </a:rPr>
              <a:t>Cloud Computing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8D8FA51C-634F-4807-906E-A85FF1918077}"/>
              </a:ext>
            </a:extLst>
          </p:cNvPr>
          <p:cNvSpPr>
            <a:spLocks noGrp="1"/>
          </p:cNvSpPr>
          <p:nvPr/>
        </p:nvSpPr>
        <p:spPr>
          <a:xfrm>
            <a:off x="3381375" y="6419850"/>
            <a:ext cx="65722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975">
                <a:solidFill>
                  <a:srgbClr val="52606D"/>
                </a:solidFill>
              </a:defRPr>
            </a:pPr>
            <a:r>
              <a:rPr sz="975">
                <a:solidFill>
                  <a:srgbClr val="52606D"/>
                </a:solidFill>
              </a:rPr>
              <a:t>Presented by Gregor von Laszewski (laszewski@gmail.com)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AE7DA101-A2FE-433A-A081-F0BE73C92B80}"/>
              </a:ext>
            </a:extLst>
          </p:cNvPr>
          <p:cNvSpPr>
            <a:spLocks noGrp="1"/>
          </p:cNvSpPr>
          <p:nvPr/>
        </p:nvSpPr>
        <p:spPr>
          <a:xfrm>
            <a:off x="10858500" y="6419850"/>
            <a:ext cx="6477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975">
                <a:solidFill>
                  <a:srgbClr val="52606D"/>
                </a:solidFill>
              </a:defRPr>
            </a:pPr>
            <a:r>
              <a:rPr sz="975">
                <a:solidFill>
                  <a:srgbClr val="52606D"/>
                </a:solidFill>
              </a:rPr>
              <a:t>25</a:t>
            </a:r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20AF6942-3B6A-4161-91BD-28CC249B6F4E}"/>
              </a:ext>
            </a:extLst>
          </p:cNvPr>
          <p:cNvSpPr>
            <a:spLocks noGrp="1"/>
          </p:cNvSpPr>
          <p:nvPr/>
        </p:nvSpPr>
        <p:spPr>
          <a:xfrm>
            <a:off x="838200" y="1676400"/>
            <a:ext cx="95250" cy="95250"/>
          </a:xfrm>
          <a:prstGeom prst="ellipse">
            <a:avLst/>
          </a:prstGeom>
          <a:solidFill>
            <a:srgbClr val="38699C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F08D6C12-A7DB-40E1-916C-BCCD28E848DF}"/>
              </a:ext>
            </a:extLst>
          </p:cNvPr>
          <p:cNvSpPr>
            <a:spLocks noGrp="1"/>
          </p:cNvSpPr>
          <p:nvPr/>
        </p:nvSpPr>
        <p:spPr>
          <a:xfrm>
            <a:off x="1123950" y="1562100"/>
            <a:ext cx="9620250" cy="523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650">
                <a:solidFill>
                  <a:srgbClr val="17212B"/>
                </a:solidFill>
              </a:defRPr>
            </a:pPr>
            <a:r>
              <a:rPr sz="1650">
                <a:solidFill>
                  <a:srgbClr val="17212B"/>
                </a:solidFill>
              </a:rPr>
              <a:t>Hybrid designs intentionally connect more than one cloud environment.</a:t>
            </a:r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335402D5-5BC3-4491-9D53-D3803DE574F8}"/>
              </a:ext>
            </a:extLst>
          </p:cNvPr>
          <p:cNvSpPr>
            <a:spLocks noGrp="1"/>
          </p:cNvSpPr>
          <p:nvPr/>
        </p:nvSpPr>
        <p:spPr>
          <a:xfrm>
            <a:off x="838200" y="2419350"/>
            <a:ext cx="95250" cy="95250"/>
          </a:xfrm>
          <a:prstGeom prst="ellipse">
            <a:avLst/>
          </a:prstGeom>
          <a:solidFill>
            <a:srgbClr val="38699C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D5ADBB92-7414-48B4-8798-9C350B4378F6}"/>
              </a:ext>
            </a:extLst>
          </p:cNvPr>
          <p:cNvSpPr>
            <a:spLocks noGrp="1"/>
          </p:cNvSpPr>
          <p:nvPr/>
        </p:nvSpPr>
        <p:spPr>
          <a:xfrm>
            <a:off x="1123950" y="2305050"/>
            <a:ext cx="9620250" cy="523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650">
                <a:solidFill>
                  <a:srgbClr val="17212B"/>
                </a:solidFill>
              </a:defRPr>
            </a:pPr>
            <a:r>
              <a:rPr sz="1650">
                <a:solidFill>
                  <a:srgbClr val="17212B"/>
                </a:solidFill>
              </a:rPr>
              <a:t>They are often driven by legacy systems, data location, latency, or regulation.</a:t>
            </a:r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631D3FA6-AED4-4E17-BC3F-13563F5C3F9A}"/>
              </a:ext>
            </a:extLst>
          </p:cNvPr>
          <p:cNvSpPr>
            <a:spLocks noGrp="1"/>
          </p:cNvSpPr>
          <p:nvPr/>
        </p:nvSpPr>
        <p:spPr>
          <a:xfrm>
            <a:off x="838200" y="3162300"/>
            <a:ext cx="95250" cy="95250"/>
          </a:xfrm>
          <a:prstGeom prst="ellipse">
            <a:avLst/>
          </a:prstGeom>
          <a:solidFill>
            <a:srgbClr val="38699C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82AC35BD-AEFF-48C4-AE52-BF9525B69E75}"/>
              </a:ext>
            </a:extLst>
          </p:cNvPr>
          <p:cNvSpPr>
            <a:spLocks noGrp="1"/>
          </p:cNvSpPr>
          <p:nvPr/>
        </p:nvSpPr>
        <p:spPr>
          <a:xfrm>
            <a:off x="1123950" y="3048000"/>
            <a:ext cx="9620250" cy="523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650">
                <a:solidFill>
                  <a:srgbClr val="17212B"/>
                </a:solidFill>
              </a:defRPr>
            </a:pPr>
            <a:r>
              <a:rPr sz="1650">
                <a:solidFill>
                  <a:srgbClr val="17212B"/>
                </a:solidFill>
              </a:rPr>
              <a:t>Integration, identity, networking, and operations become critical design concerns.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F7868ADC-3096-42B5-ACC0-F555AFBBBCE1}"/>
              </a:ext>
            </a:extLst>
          </p:cNvPr>
          <p:cNvSpPr>
            <a:spLocks noGrp="1"/>
          </p:cNvSpPr>
          <p:nvPr/>
        </p:nvSpPr>
        <p:spPr>
          <a:xfrm>
            <a:off x="685800" y="4953000"/>
            <a:ext cx="10820400" cy="590550"/>
          </a:xfrm>
          <a:prstGeom prst="rect">
            <a:avLst/>
          </a:prstGeom>
          <a:solidFill>
            <a:srgbClr val="EAF2FA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888177F8-72A0-4457-AA4B-C83675E0D627}"/>
              </a:ext>
            </a:extLst>
          </p:cNvPr>
          <p:cNvSpPr>
            <a:spLocks noGrp="1"/>
          </p:cNvSpPr>
          <p:nvPr/>
        </p:nvSpPr>
        <p:spPr>
          <a:xfrm>
            <a:off x="952500" y="5114925"/>
            <a:ext cx="102870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650" b="1">
                <a:solidFill>
                  <a:srgbClr val="123B6D"/>
                </a:solidFill>
              </a:defRPr>
            </a:pPr>
            <a:r>
              <a:rPr sz="1650" b="1">
                <a:solidFill>
                  <a:srgbClr val="123B6D"/>
                </a:solidFill>
              </a:rPr>
              <a:t>Hybrid is a strategy with integration costs—not a free compatibility label.</a:t>
            </a:r>
          </a:p>
        </p:txBody>
      </p:sp>
    </p:spTree>
    <p:extLst>
      <p:ext uri="{BB962C8B-B14F-4D97-AF65-F5344CB8AC3E}">
        <p14:creationId xmlns:p14="http://schemas.microsoft.com/office/powerpoint/2010/main" val="112689758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13">
            <a:extLst>
              <a:ext uri="{FF2B5EF4-FFF2-40B4-BE49-F238E27FC236}">
                <a16:creationId xmlns:a16="http://schemas.microsoft.com/office/drawing/2014/main" id="{DA39C34E-18C9-4DD5-BC85-3FACAD4E3538}"/>
              </a:ext>
            </a:extLst>
          </p:cNvPr>
          <p:cNvSpPr>
            <a:spLocks noGrp="1"/>
          </p:cNvSpPr>
          <p:nvPr/>
        </p:nvSpPr>
        <p:spPr>
          <a:xfrm>
            <a:off x="685800" y="400050"/>
            <a:ext cx="10001250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2700" b="1">
                <a:solidFill>
                  <a:srgbClr val="123B6D"/>
                </a:solidFill>
              </a:defRPr>
            </a:pPr>
            <a:r>
              <a:rPr sz="2700" b="1">
                <a:solidFill>
                  <a:srgbClr val="123B6D"/>
                </a:solidFill>
              </a:rPr>
              <a:t>Multicloud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5249FD14-E023-4EBB-BCB5-0C204F928600}"/>
              </a:ext>
            </a:extLst>
          </p:cNvPr>
          <p:cNvSpPr>
            <a:spLocks noGrp="1"/>
          </p:cNvSpPr>
          <p:nvPr/>
        </p:nvSpPr>
        <p:spPr>
          <a:xfrm>
            <a:off x="685800" y="1028700"/>
            <a:ext cx="10820400" cy="38100"/>
          </a:xfrm>
          <a:prstGeom prst="rect">
            <a:avLst/>
          </a:prstGeom>
          <a:solidFill>
            <a:srgbClr val="123B6D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7B57DAC0-B35B-476E-9A59-5E47CCF1793F}"/>
              </a:ext>
            </a:extLst>
          </p:cNvPr>
          <p:cNvSpPr>
            <a:spLocks noGrp="1"/>
          </p:cNvSpPr>
          <p:nvPr/>
        </p:nvSpPr>
        <p:spPr>
          <a:xfrm>
            <a:off x="685800" y="6419850"/>
            <a:ext cx="2143125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975">
                <a:solidFill>
                  <a:srgbClr val="52606D"/>
                </a:solidFill>
              </a:defRPr>
            </a:pPr>
            <a:r>
              <a:rPr sz="975">
                <a:solidFill>
                  <a:srgbClr val="52606D"/>
                </a:solidFill>
              </a:rPr>
              <a:t>Cloud Computing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91BCFAAA-3F26-4FDD-B180-124DDB3EE093}"/>
              </a:ext>
            </a:extLst>
          </p:cNvPr>
          <p:cNvSpPr>
            <a:spLocks noGrp="1"/>
          </p:cNvSpPr>
          <p:nvPr/>
        </p:nvSpPr>
        <p:spPr>
          <a:xfrm>
            <a:off x="3381375" y="6419850"/>
            <a:ext cx="65722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975">
                <a:solidFill>
                  <a:srgbClr val="52606D"/>
                </a:solidFill>
              </a:defRPr>
            </a:pPr>
            <a:r>
              <a:rPr sz="975">
                <a:solidFill>
                  <a:srgbClr val="52606D"/>
                </a:solidFill>
              </a:rPr>
              <a:t>Presented by Gregor von Laszewski (laszewski@gmail.com)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4EABAA67-49D8-4A04-B548-74E5A6B3CC39}"/>
              </a:ext>
            </a:extLst>
          </p:cNvPr>
          <p:cNvSpPr>
            <a:spLocks noGrp="1"/>
          </p:cNvSpPr>
          <p:nvPr/>
        </p:nvSpPr>
        <p:spPr>
          <a:xfrm>
            <a:off x="10858500" y="6419850"/>
            <a:ext cx="6477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975">
                <a:solidFill>
                  <a:srgbClr val="52606D"/>
                </a:solidFill>
              </a:defRPr>
            </a:pPr>
            <a:r>
              <a:rPr sz="975">
                <a:solidFill>
                  <a:srgbClr val="52606D"/>
                </a:solidFill>
              </a:rPr>
              <a:t>26</a:t>
            </a:r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FECFA71D-882A-4082-B8D6-C73F8F12FCDD}"/>
              </a:ext>
            </a:extLst>
          </p:cNvPr>
          <p:cNvSpPr>
            <a:spLocks noGrp="1"/>
          </p:cNvSpPr>
          <p:nvPr/>
        </p:nvSpPr>
        <p:spPr>
          <a:xfrm>
            <a:off x="838200" y="1676400"/>
            <a:ext cx="95250" cy="95250"/>
          </a:xfrm>
          <a:prstGeom prst="ellipse">
            <a:avLst/>
          </a:prstGeom>
          <a:solidFill>
            <a:srgbClr val="38699C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D011E414-BAF2-4443-A40B-2BA1D6969216}"/>
              </a:ext>
            </a:extLst>
          </p:cNvPr>
          <p:cNvSpPr>
            <a:spLocks noGrp="1"/>
          </p:cNvSpPr>
          <p:nvPr/>
        </p:nvSpPr>
        <p:spPr>
          <a:xfrm>
            <a:off x="1123950" y="1562100"/>
            <a:ext cx="9620250" cy="523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650">
                <a:solidFill>
                  <a:srgbClr val="17212B"/>
                </a:solidFill>
              </a:defRPr>
            </a:pPr>
            <a:r>
              <a:rPr sz="1650">
                <a:solidFill>
                  <a:srgbClr val="17212B"/>
                </a:solidFill>
              </a:rPr>
              <a:t>Multicloud uses services from more than one cloud provider.</a:t>
            </a:r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6A266D35-5B26-4C21-B598-257D26797644}"/>
              </a:ext>
            </a:extLst>
          </p:cNvPr>
          <p:cNvSpPr>
            <a:spLocks noGrp="1"/>
          </p:cNvSpPr>
          <p:nvPr/>
        </p:nvSpPr>
        <p:spPr>
          <a:xfrm>
            <a:off x="838200" y="2419350"/>
            <a:ext cx="95250" cy="95250"/>
          </a:xfrm>
          <a:prstGeom prst="ellipse">
            <a:avLst/>
          </a:prstGeom>
          <a:solidFill>
            <a:srgbClr val="38699C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CC9E0698-638D-48A0-B280-0DBE3336542F}"/>
              </a:ext>
            </a:extLst>
          </p:cNvPr>
          <p:cNvSpPr>
            <a:spLocks noGrp="1"/>
          </p:cNvSpPr>
          <p:nvPr/>
        </p:nvSpPr>
        <p:spPr>
          <a:xfrm>
            <a:off x="1123950" y="2305050"/>
            <a:ext cx="9620250" cy="523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650">
                <a:solidFill>
                  <a:srgbClr val="17212B"/>
                </a:solidFill>
              </a:defRPr>
            </a:pPr>
            <a:r>
              <a:rPr sz="1650">
                <a:solidFill>
                  <a:srgbClr val="17212B"/>
                </a:solidFill>
              </a:rPr>
              <a:t>It can support acquisition history, specialized services, or risk decisions.</a:t>
            </a:r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967DC3CC-1E38-42BB-8B28-644698A91BCC}"/>
              </a:ext>
            </a:extLst>
          </p:cNvPr>
          <p:cNvSpPr>
            <a:spLocks noGrp="1"/>
          </p:cNvSpPr>
          <p:nvPr/>
        </p:nvSpPr>
        <p:spPr>
          <a:xfrm>
            <a:off x="838200" y="3162300"/>
            <a:ext cx="95250" cy="95250"/>
          </a:xfrm>
          <a:prstGeom prst="ellipse">
            <a:avLst/>
          </a:prstGeom>
          <a:solidFill>
            <a:srgbClr val="38699C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C4D162FE-EFCA-48C1-A53A-4FACC8A84F48}"/>
              </a:ext>
            </a:extLst>
          </p:cNvPr>
          <p:cNvSpPr>
            <a:spLocks noGrp="1"/>
          </p:cNvSpPr>
          <p:nvPr/>
        </p:nvSpPr>
        <p:spPr>
          <a:xfrm>
            <a:off x="1123950" y="3048000"/>
            <a:ext cx="9620250" cy="523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650">
                <a:solidFill>
                  <a:srgbClr val="17212B"/>
                </a:solidFill>
              </a:defRPr>
            </a:pPr>
            <a:r>
              <a:rPr sz="1650">
                <a:solidFill>
                  <a:srgbClr val="17212B"/>
                </a:solidFill>
              </a:rPr>
              <a:t>It also increases skills, integration, governance, and operational complexity.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9DDE1544-43E4-426D-B49F-75D382D7D0EC}"/>
              </a:ext>
            </a:extLst>
          </p:cNvPr>
          <p:cNvSpPr>
            <a:spLocks noGrp="1"/>
          </p:cNvSpPr>
          <p:nvPr/>
        </p:nvSpPr>
        <p:spPr>
          <a:xfrm>
            <a:off x="685800" y="4953000"/>
            <a:ext cx="10820400" cy="590550"/>
          </a:xfrm>
          <a:prstGeom prst="rect">
            <a:avLst/>
          </a:prstGeom>
          <a:solidFill>
            <a:srgbClr val="EAF2FA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71F9BBBA-F392-45ED-A5FC-A02EA4FECE76}"/>
              </a:ext>
            </a:extLst>
          </p:cNvPr>
          <p:cNvSpPr>
            <a:spLocks noGrp="1"/>
          </p:cNvSpPr>
          <p:nvPr/>
        </p:nvSpPr>
        <p:spPr>
          <a:xfrm>
            <a:off x="952500" y="5114925"/>
            <a:ext cx="102870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650" b="1">
                <a:solidFill>
                  <a:srgbClr val="123B6D"/>
                </a:solidFill>
              </a:defRPr>
            </a:pPr>
            <a:r>
              <a:rPr sz="1650" b="1">
                <a:solidFill>
                  <a:srgbClr val="123B6D"/>
                </a:solidFill>
              </a:rPr>
              <a:t>Use multiple providers for a clear reason; complexity is a real cost.</a:t>
            </a:r>
          </a:p>
        </p:txBody>
      </p:sp>
    </p:spTree>
    <p:extLst>
      <p:ext uri="{BB962C8B-B14F-4D97-AF65-F5344CB8AC3E}">
        <p14:creationId xmlns:p14="http://schemas.microsoft.com/office/powerpoint/2010/main" val="410896505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15">
            <a:extLst>
              <a:ext uri="{FF2B5EF4-FFF2-40B4-BE49-F238E27FC236}">
                <a16:creationId xmlns:a16="http://schemas.microsoft.com/office/drawing/2014/main" id="{C0352D3A-506B-45C9-96AF-647773A83F58}"/>
              </a:ext>
            </a:extLst>
          </p:cNvPr>
          <p:cNvSpPr>
            <a:spLocks noGrp="1"/>
          </p:cNvSpPr>
          <p:nvPr/>
        </p:nvSpPr>
        <p:spPr>
          <a:xfrm>
            <a:off x="685800" y="400050"/>
            <a:ext cx="10001250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2700" b="1">
                <a:solidFill>
                  <a:srgbClr val="123B6D"/>
                </a:solidFill>
              </a:defRPr>
            </a:pPr>
            <a:r>
              <a:rPr sz="2700" b="1">
                <a:solidFill>
                  <a:srgbClr val="123B6D"/>
                </a:solidFill>
              </a:rPr>
              <a:t>A practical decision framework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A0C847FD-9878-40FF-A6AA-E4399E220D3D}"/>
              </a:ext>
            </a:extLst>
          </p:cNvPr>
          <p:cNvSpPr>
            <a:spLocks noGrp="1"/>
          </p:cNvSpPr>
          <p:nvPr/>
        </p:nvSpPr>
        <p:spPr>
          <a:xfrm>
            <a:off x="685800" y="1028700"/>
            <a:ext cx="10820400" cy="38100"/>
          </a:xfrm>
          <a:prstGeom prst="rect">
            <a:avLst/>
          </a:prstGeom>
          <a:solidFill>
            <a:srgbClr val="123B6D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EB264570-6545-4458-9689-3BE50AE0AA6A}"/>
              </a:ext>
            </a:extLst>
          </p:cNvPr>
          <p:cNvSpPr>
            <a:spLocks noGrp="1"/>
          </p:cNvSpPr>
          <p:nvPr/>
        </p:nvSpPr>
        <p:spPr>
          <a:xfrm>
            <a:off x="685800" y="6419850"/>
            <a:ext cx="2143125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975">
                <a:solidFill>
                  <a:srgbClr val="52606D"/>
                </a:solidFill>
              </a:defRPr>
            </a:pPr>
            <a:r>
              <a:rPr sz="975">
                <a:solidFill>
                  <a:srgbClr val="52606D"/>
                </a:solidFill>
              </a:rPr>
              <a:t>Cloud Computing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6D95DE05-5220-41B1-9086-174CE9110F75}"/>
              </a:ext>
            </a:extLst>
          </p:cNvPr>
          <p:cNvSpPr>
            <a:spLocks noGrp="1"/>
          </p:cNvSpPr>
          <p:nvPr/>
        </p:nvSpPr>
        <p:spPr>
          <a:xfrm>
            <a:off x="3381375" y="6419850"/>
            <a:ext cx="65722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975">
                <a:solidFill>
                  <a:srgbClr val="52606D"/>
                </a:solidFill>
              </a:defRPr>
            </a:pPr>
            <a:r>
              <a:rPr sz="975">
                <a:solidFill>
                  <a:srgbClr val="52606D"/>
                </a:solidFill>
              </a:rPr>
              <a:t>Presented by Gregor von Laszewski (laszewski@gmail.com)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EA5BBF5D-7166-4E29-987D-6244F31718E2}"/>
              </a:ext>
            </a:extLst>
          </p:cNvPr>
          <p:cNvSpPr>
            <a:spLocks noGrp="1"/>
          </p:cNvSpPr>
          <p:nvPr/>
        </p:nvSpPr>
        <p:spPr>
          <a:xfrm>
            <a:off x="10858500" y="6419850"/>
            <a:ext cx="6477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975">
                <a:solidFill>
                  <a:srgbClr val="52606D"/>
                </a:solidFill>
              </a:defRPr>
            </a:pPr>
            <a:r>
              <a:rPr sz="975">
                <a:solidFill>
                  <a:srgbClr val="52606D"/>
                </a:solidFill>
              </a:rPr>
              <a:t>27</a:t>
            </a:r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9D6BBA53-FEC1-49EF-8533-FA04CE285A7A}"/>
              </a:ext>
            </a:extLst>
          </p:cNvPr>
          <p:cNvSpPr>
            <a:spLocks noGrp="1"/>
          </p:cNvSpPr>
          <p:nvPr/>
        </p:nvSpPr>
        <p:spPr>
          <a:xfrm>
            <a:off x="838200" y="1676400"/>
            <a:ext cx="95250" cy="95250"/>
          </a:xfrm>
          <a:prstGeom prst="ellipse">
            <a:avLst/>
          </a:prstGeom>
          <a:solidFill>
            <a:srgbClr val="38699C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E807A2E7-6500-477C-A00D-146405F0C6A5}"/>
              </a:ext>
            </a:extLst>
          </p:cNvPr>
          <p:cNvSpPr>
            <a:spLocks noGrp="1"/>
          </p:cNvSpPr>
          <p:nvPr/>
        </p:nvSpPr>
        <p:spPr>
          <a:xfrm>
            <a:off x="1123950" y="1562100"/>
            <a:ext cx="9620250" cy="523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650">
                <a:solidFill>
                  <a:srgbClr val="17212B"/>
                </a:solidFill>
              </a:defRPr>
            </a:pPr>
            <a:r>
              <a:rPr sz="1650">
                <a:solidFill>
                  <a:srgbClr val="17212B"/>
                </a:solidFill>
              </a:rPr>
              <a:t>What capabilities are required?</a:t>
            </a:r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489B194F-67B6-4FCB-82FD-89E535282C0B}"/>
              </a:ext>
            </a:extLst>
          </p:cNvPr>
          <p:cNvSpPr>
            <a:spLocks noGrp="1"/>
          </p:cNvSpPr>
          <p:nvPr/>
        </p:nvSpPr>
        <p:spPr>
          <a:xfrm>
            <a:off x="838200" y="2419350"/>
            <a:ext cx="95250" cy="95250"/>
          </a:xfrm>
          <a:prstGeom prst="ellipse">
            <a:avLst/>
          </a:prstGeom>
          <a:solidFill>
            <a:srgbClr val="38699C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7AE65108-8F60-434D-95BF-1CB9DF91E804}"/>
              </a:ext>
            </a:extLst>
          </p:cNvPr>
          <p:cNvSpPr>
            <a:spLocks noGrp="1"/>
          </p:cNvSpPr>
          <p:nvPr/>
        </p:nvSpPr>
        <p:spPr>
          <a:xfrm>
            <a:off x="1123950" y="2305050"/>
            <a:ext cx="9620250" cy="523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650">
                <a:solidFill>
                  <a:srgbClr val="17212B"/>
                </a:solidFill>
              </a:defRPr>
            </a:pPr>
            <a:r>
              <a:rPr sz="1650">
                <a:solidFill>
                  <a:srgbClr val="17212B"/>
                </a:solidFill>
              </a:rPr>
              <a:t>What data, regulatory, latency, or integration constraints apply?</a:t>
            </a:r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1D397A01-B927-437E-B21E-3DB0BD8CC08A}"/>
              </a:ext>
            </a:extLst>
          </p:cNvPr>
          <p:cNvSpPr>
            <a:spLocks noGrp="1"/>
          </p:cNvSpPr>
          <p:nvPr/>
        </p:nvSpPr>
        <p:spPr>
          <a:xfrm>
            <a:off x="838200" y="3162300"/>
            <a:ext cx="95250" cy="95250"/>
          </a:xfrm>
          <a:prstGeom prst="ellipse">
            <a:avLst/>
          </a:prstGeom>
          <a:solidFill>
            <a:srgbClr val="38699C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3893EAC9-2014-4555-B97C-D7E0BAAD8490}"/>
              </a:ext>
            </a:extLst>
          </p:cNvPr>
          <p:cNvSpPr>
            <a:spLocks noGrp="1"/>
          </p:cNvSpPr>
          <p:nvPr/>
        </p:nvSpPr>
        <p:spPr>
          <a:xfrm>
            <a:off x="1123950" y="3048000"/>
            <a:ext cx="9620250" cy="523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650">
                <a:solidFill>
                  <a:srgbClr val="17212B"/>
                </a:solidFill>
              </a:defRPr>
            </a:pPr>
            <a:r>
              <a:rPr sz="1650">
                <a:solidFill>
                  <a:srgbClr val="17212B"/>
                </a:solidFill>
              </a:rPr>
              <a:t>What skills and operating model does the team have?</a:t>
            </a:r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12E070D8-0F57-43C7-9127-F3EFC489B948}"/>
              </a:ext>
            </a:extLst>
          </p:cNvPr>
          <p:cNvSpPr>
            <a:spLocks noGrp="1"/>
          </p:cNvSpPr>
          <p:nvPr/>
        </p:nvSpPr>
        <p:spPr>
          <a:xfrm>
            <a:off x="838200" y="3905250"/>
            <a:ext cx="95250" cy="95250"/>
          </a:xfrm>
          <a:prstGeom prst="ellipse">
            <a:avLst/>
          </a:prstGeom>
          <a:solidFill>
            <a:srgbClr val="38699C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9F4B6CF2-E09D-4FCA-BB96-1DD8A278E07D}"/>
              </a:ext>
            </a:extLst>
          </p:cNvPr>
          <p:cNvSpPr>
            <a:spLocks noGrp="1"/>
          </p:cNvSpPr>
          <p:nvPr/>
        </p:nvSpPr>
        <p:spPr>
          <a:xfrm>
            <a:off x="1123950" y="3790950"/>
            <a:ext cx="9620250" cy="523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650">
                <a:solidFill>
                  <a:srgbClr val="17212B"/>
                </a:solidFill>
              </a:defRPr>
            </a:pPr>
            <a:r>
              <a:rPr sz="1650">
                <a:solidFill>
                  <a:srgbClr val="17212B"/>
                </a:solidFill>
              </a:rPr>
              <a:t>What trade-offs are acceptable for cost, speed, reliability, and control?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F19560D7-3702-4D3F-9AC9-AA32AF8B1891}"/>
              </a:ext>
            </a:extLst>
          </p:cNvPr>
          <p:cNvSpPr>
            <a:spLocks noGrp="1"/>
          </p:cNvSpPr>
          <p:nvPr/>
        </p:nvSpPr>
        <p:spPr>
          <a:xfrm>
            <a:off x="685800" y="4953000"/>
            <a:ext cx="10820400" cy="590550"/>
          </a:xfrm>
          <a:prstGeom prst="rect">
            <a:avLst/>
          </a:prstGeom>
          <a:solidFill>
            <a:srgbClr val="EAF2FA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D0104B27-9B3B-4E9B-8607-D245C3DFFA22}"/>
              </a:ext>
            </a:extLst>
          </p:cNvPr>
          <p:cNvSpPr>
            <a:spLocks noGrp="1"/>
          </p:cNvSpPr>
          <p:nvPr/>
        </p:nvSpPr>
        <p:spPr>
          <a:xfrm>
            <a:off x="952500" y="5114925"/>
            <a:ext cx="102870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650" b="1">
                <a:solidFill>
                  <a:srgbClr val="123B6D"/>
                </a:solidFill>
              </a:defRPr>
            </a:pPr>
            <a:r>
              <a:rPr sz="1650" b="1">
                <a:solidFill>
                  <a:srgbClr val="123B6D"/>
                </a:solidFill>
              </a:rPr>
              <a:t>Good cloud choices make trade-offs explicit.</a:t>
            </a:r>
          </a:p>
        </p:txBody>
      </p:sp>
    </p:spTree>
    <p:extLst>
      <p:ext uri="{BB962C8B-B14F-4D97-AF65-F5344CB8AC3E}">
        <p14:creationId xmlns:p14="http://schemas.microsoft.com/office/powerpoint/2010/main" val="505847041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EAA7883-319A-48EC-B47E-F28EA0191B1A}"/>
              </a:ext>
            </a:extLst>
          </p:cNvPr>
          <p:cNvSpPr>
            <a:spLocks noGrp="1"/>
          </p:cNvSpPr>
          <p:nvPr/>
        </p:nvSpPr>
        <p:spPr>
          <a:xfrm>
            <a:off x="685800" y="742950"/>
            <a:ext cx="114300" cy="4476750"/>
          </a:xfrm>
          <a:prstGeom prst="rect">
            <a:avLst/>
          </a:prstGeom>
          <a:solidFill>
            <a:srgbClr val="123B6D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BAFD547A-DBD4-499E-8686-65A3F1B1DD0E}"/>
              </a:ext>
            </a:extLst>
          </p:cNvPr>
          <p:cNvSpPr>
            <a:spLocks noGrp="1"/>
          </p:cNvSpPr>
          <p:nvPr/>
        </p:nvSpPr>
        <p:spPr>
          <a:xfrm>
            <a:off x="1104900" y="1524000"/>
            <a:ext cx="8096250" cy="904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4200" b="1">
                <a:solidFill>
                  <a:srgbClr val="123B6D"/>
                </a:solidFill>
              </a:defRPr>
            </a:pPr>
            <a:r>
              <a:rPr sz="4200" b="1">
                <a:solidFill>
                  <a:srgbClr val="123B6D"/>
                </a:solidFill>
              </a:rPr>
              <a:t>From models</a:t>
            </a:r>
          </a:p>
          <a:p>
            <a:pPr>
              <a:defRPr sz="4200" b="1">
                <a:solidFill>
                  <a:srgbClr val="123B6D"/>
                </a:solidFill>
              </a:defRPr>
            </a:pPr>
            <a:r>
              <a:rPr sz="4200" b="1">
                <a:solidFill>
                  <a:srgbClr val="123B6D"/>
                </a:solidFill>
              </a:rPr>
              <a:t>to architecture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C6E8CAE6-36B8-4CCD-822B-9B77F6B8B951}"/>
              </a:ext>
            </a:extLst>
          </p:cNvPr>
          <p:cNvSpPr>
            <a:spLocks noGrp="1"/>
          </p:cNvSpPr>
          <p:nvPr/>
        </p:nvSpPr>
        <p:spPr>
          <a:xfrm>
            <a:off x="1143000" y="2743200"/>
            <a:ext cx="723900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2100">
                <a:solidFill>
                  <a:srgbClr val="52606D"/>
                </a:solidFill>
              </a:defRPr>
            </a:pPr>
            <a:r>
              <a:rPr sz="2100">
                <a:solidFill>
                  <a:srgbClr val="52606D"/>
                </a:solidFill>
              </a:rPr>
              <a:t>Now we will connect the cloud model to locations, networking, compute, and data.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56559D48-3212-4D15-9610-A42C86D2FA06}"/>
              </a:ext>
            </a:extLst>
          </p:cNvPr>
          <p:cNvSpPr>
            <a:spLocks noGrp="1"/>
          </p:cNvSpPr>
          <p:nvPr/>
        </p:nvSpPr>
        <p:spPr>
          <a:xfrm>
            <a:off x="8953500" y="800100"/>
            <a:ext cx="1885950" cy="1885950"/>
          </a:xfrm>
          <a:prstGeom prst="rect">
            <a:avLst/>
          </a:prstGeom>
          <a:solidFill>
            <a:srgbClr val="EAF2FA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33B54B61-EED9-4311-AAB7-E6F4BC0C4565}"/>
              </a:ext>
            </a:extLst>
          </p:cNvPr>
          <p:cNvSpPr>
            <a:spLocks noGrp="1"/>
          </p:cNvSpPr>
          <p:nvPr/>
        </p:nvSpPr>
        <p:spPr>
          <a:xfrm>
            <a:off x="9239250" y="1200150"/>
            <a:ext cx="1314450" cy="704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4500" b="1">
                <a:solidFill>
                  <a:srgbClr val="123B6D"/>
                </a:solidFill>
              </a:defRPr>
            </a:pPr>
            <a:r>
              <a:rPr sz="4500" b="1">
                <a:solidFill>
                  <a:srgbClr val="123B6D"/>
                </a:solidFill>
              </a:rPr>
              <a:t>28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0F354560-0FA3-4480-8A1A-900FA1745DFB}"/>
              </a:ext>
            </a:extLst>
          </p:cNvPr>
          <p:cNvSpPr>
            <a:spLocks noGrp="1"/>
          </p:cNvSpPr>
          <p:nvPr/>
        </p:nvSpPr>
        <p:spPr>
          <a:xfrm>
            <a:off x="9239250" y="2057400"/>
            <a:ext cx="13144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050" b="1">
                <a:solidFill>
                  <a:srgbClr val="38699C"/>
                </a:solidFill>
              </a:defRPr>
            </a:pPr>
            <a:r>
              <a:rPr sz="1050" b="1">
                <a:solidFill>
                  <a:srgbClr val="38699C"/>
                </a:solidFill>
              </a:rPr>
              <a:t>SECTION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C46D5E64-EDF6-4771-829C-663CEBA67399}"/>
              </a:ext>
            </a:extLst>
          </p:cNvPr>
          <p:cNvSpPr>
            <a:spLocks noGrp="1"/>
          </p:cNvSpPr>
          <p:nvPr/>
        </p:nvSpPr>
        <p:spPr>
          <a:xfrm>
            <a:off x="685800" y="6419850"/>
            <a:ext cx="2143125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975">
                <a:solidFill>
                  <a:srgbClr val="52606D"/>
                </a:solidFill>
              </a:defRPr>
            </a:pPr>
            <a:r>
              <a:rPr sz="975">
                <a:solidFill>
                  <a:srgbClr val="52606D"/>
                </a:solidFill>
              </a:rPr>
              <a:t>Cloud Computing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0C79A7D4-7B8D-43DE-913F-1360FC49BD8E}"/>
              </a:ext>
            </a:extLst>
          </p:cNvPr>
          <p:cNvSpPr>
            <a:spLocks noGrp="1"/>
          </p:cNvSpPr>
          <p:nvPr/>
        </p:nvSpPr>
        <p:spPr>
          <a:xfrm>
            <a:off x="3381375" y="6419850"/>
            <a:ext cx="65722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975">
                <a:solidFill>
                  <a:srgbClr val="52606D"/>
                </a:solidFill>
              </a:defRPr>
            </a:pPr>
            <a:r>
              <a:rPr sz="975">
                <a:solidFill>
                  <a:srgbClr val="52606D"/>
                </a:solidFill>
              </a:rPr>
              <a:t>Presented by Gregor von Laszewski (laszewski@gmail.com)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83411DF4-03EF-4F27-B989-D81FBBDA4D29}"/>
              </a:ext>
            </a:extLst>
          </p:cNvPr>
          <p:cNvSpPr>
            <a:spLocks noGrp="1"/>
          </p:cNvSpPr>
          <p:nvPr/>
        </p:nvSpPr>
        <p:spPr>
          <a:xfrm>
            <a:off x="10858500" y="6419850"/>
            <a:ext cx="6477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975">
                <a:solidFill>
                  <a:srgbClr val="52606D"/>
                </a:solidFill>
              </a:defRPr>
            </a:pPr>
            <a:r>
              <a:rPr sz="975">
                <a:solidFill>
                  <a:srgbClr val="52606D"/>
                </a:solidFill>
              </a:rPr>
              <a:t>28</a:t>
            </a:r>
          </a:p>
        </p:txBody>
      </p:sp>
    </p:spTree>
    <p:extLst>
      <p:ext uri="{BB962C8B-B14F-4D97-AF65-F5344CB8AC3E}">
        <p14:creationId xmlns:p14="http://schemas.microsoft.com/office/powerpoint/2010/main" val="1712748735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13">
            <a:extLst>
              <a:ext uri="{FF2B5EF4-FFF2-40B4-BE49-F238E27FC236}">
                <a16:creationId xmlns:a16="http://schemas.microsoft.com/office/drawing/2014/main" id="{857BC748-41B8-4346-AE9C-F0FE043A1FB9}"/>
              </a:ext>
            </a:extLst>
          </p:cNvPr>
          <p:cNvSpPr>
            <a:spLocks noGrp="1"/>
          </p:cNvSpPr>
          <p:nvPr/>
        </p:nvSpPr>
        <p:spPr>
          <a:xfrm>
            <a:off x="685800" y="400050"/>
            <a:ext cx="10001250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2700" b="1">
                <a:solidFill>
                  <a:srgbClr val="123B6D"/>
                </a:solidFill>
              </a:defRPr>
            </a:pPr>
            <a:r>
              <a:rPr sz="2700" b="1">
                <a:solidFill>
                  <a:srgbClr val="123B6D"/>
                </a:solidFill>
              </a:rPr>
              <a:t>Location matters: regions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0EA64FD1-8662-4BF8-AD91-6DE4A5F7A80E}"/>
              </a:ext>
            </a:extLst>
          </p:cNvPr>
          <p:cNvSpPr>
            <a:spLocks noGrp="1"/>
          </p:cNvSpPr>
          <p:nvPr/>
        </p:nvSpPr>
        <p:spPr>
          <a:xfrm>
            <a:off x="685800" y="1028700"/>
            <a:ext cx="10820400" cy="38100"/>
          </a:xfrm>
          <a:prstGeom prst="rect">
            <a:avLst/>
          </a:prstGeom>
          <a:solidFill>
            <a:srgbClr val="123B6D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AA32365D-589A-4E78-949C-0F4DC109386E}"/>
              </a:ext>
            </a:extLst>
          </p:cNvPr>
          <p:cNvSpPr>
            <a:spLocks noGrp="1"/>
          </p:cNvSpPr>
          <p:nvPr/>
        </p:nvSpPr>
        <p:spPr>
          <a:xfrm>
            <a:off x="685800" y="6419850"/>
            <a:ext cx="2143125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975">
                <a:solidFill>
                  <a:srgbClr val="52606D"/>
                </a:solidFill>
              </a:defRPr>
            </a:pPr>
            <a:r>
              <a:rPr sz="975">
                <a:solidFill>
                  <a:srgbClr val="52606D"/>
                </a:solidFill>
              </a:rPr>
              <a:t>Cloud Computing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C77797DA-37BC-4781-B3E7-B45E7B54B067}"/>
              </a:ext>
            </a:extLst>
          </p:cNvPr>
          <p:cNvSpPr>
            <a:spLocks noGrp="1"/>
          </p:cNvSpPr>
          <p:nvPr/>
        </p:nvSpPr>
        <p:spPr>
          <a:xfrm>
            <a:off x="3381375" y="6419850"/>
            <a:ext cx="65722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975">
                <a:solidFill>
                  <a:srgbClr val="52606D"/>
                </a:solidFill>
              </a:defRPr>
            </a:pPr>
            <a:r>
              <a:rPr sz="975">
                <a:solidFill>
                  <a:srgbClr val="52606D"/>
                </a:solidFill>
              </a:rPr>
              <a:t>Presented by Gregor von Laszewski (laszewski@gmail.com)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68497703-21DA-479F-9D19-47FC11A6FB0C}"/>
              </a:ext>
            </a:extLst>
          </p:cNvPr>
          <p:cNvSpPr>
            <a:spLocks noGrp="1"/>
          </p:cNvSpPr>
          <p:nvPr/>
        </p:nvSpPr>
        <p:spPr>
          <a:xfrm>
            <a:off x="10858500" y="6419850"/>
            <a:ext cx="6477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975">
                <a:solidFill>
                  <a:srgbClr val="52606D"/>
                </a:solidFill>
              </a:defRPr>
            </a:pPr>
            <a:r>
              <a:rPr sz="975">
                <a:solidFill>
                  <a:srgbClr val="52606D"/>
                </a:solidFill>
              </a:rPr>
              <a:t>29</a:t>
            </a:r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47F70655-9D77-40A0-B1B6-D0B7E1594ED0}"/>
              </a:ext>
            </a:extLst>
          </p:cNvPr>
          <p:cNvSpPr>
            <a:spLocks noGrp="1"/>
          </p:cNvSpPr>
          <p:nvPr/>
        </p:nvSpPr>
        <p:spPr>
          <a:xfrm>
            <a:off x="838200" y="1676400"/>
            <a:ext cx="95250" cy="95250"/>
          </a:xfrm>
          <a:prstGeom prst="ellipse">
            <a:avLst/>
          </a:prstGeom>
          <a:solidFill>
            <a:srgbClr val="38699C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64CA3629-3F3A-4D60-9738-CA93EA9F697C}"/>
              </a:ext>
            </a:extLst>
          </p:cNvPr>
          <p:cNvSpPr>
            <a:spLocks noGrp="1"/>
          </p:cNvSpPr>
          <p:nvPr/>
        </p:nvSpPr>
        <p:spPr>
          <a:xfrm>
            <a:off x="1123950" y="1562100"/>
            <a:ext cx="9620250" cy="523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650">
                <a:solidFill>
                  <a:srgbClr val="17212B"/>
                </a:solidFill>
              </a:defRPr>
            </a:pPr>
            <a:r>
              <a:rPr sz="1650">
                <a:solidFill>
                  <a:srgbClr val="17212B"/>
                </a:solidFill>
              </a:rPr>
              <a:t>A region is a geographic area where a provider operates cloud capacity.</a:t>
            </a:r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894418BD-9967-40C1-B07F-29420582EEF9}"/>
              </a:ext>
            </a:extLst>
          </p:cNvPr>
          <p:cNvSpPr>
            <a:spLocks noGrp="1"/>
          </p:cNvSpPr>
          <p:nvPr/>
        </p:nvSpPr>
        <p:spPr>
          <a:xfrm>
            <a:off x="838200" y="2419350"/>
            <a:ext cx="95250" cy="95250"/>
          </a:xfrm>
          <a:prstGeom prst="ellipse">
            <a:avLst/>
          </a:prstGeom>
          <a:solidFill>
            <a:srgbClr val="38699C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8ED2D4AB-E74F-42A6-9308-082C00836B4F}"/>
              </a:ext>
            </a:extLst>
          </p:cNvPr>
          <p:cNvSpPr>
            <a:spLocks noGrp="1"/>
          </p:cNvSpPr>
          <p:nvPr/>
        </p:nvSpPr>
        <p:spPr>
          <a:xfrm>
            <a:off x="1123950" y="2305050"/>
            <a:ext cx="9620250" cy="523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650">
                <a:solidFill>
                  <a:srgbClr val="17212B"/>
                </a:solidFill>
              </a:defRPr>
            </a:pPr>
            <a:r>
              <a:rPr sz="1650">
                <a:solidFill>
                  <a:srgbClr val="17212B"/>
                </a:solidFill>
              </a:rPr>
              <a:t>Choose regions with user latency, data location, services, and resilience in mind.</a:t>
            </a:r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16809EC3-5BDE-40FE-8ADA-837A986ED30E}"/>
              </a:ext>
            </a:extLst>
          </p:cNvPr>
          <p:cNvSpPr>
            <a:spLocks noGrp="1"/>
          </p:cNvSpPr>
          <p:nvPr/>
        </p:nvSpPr>
        <p:spPr>
          <a:xfrm>
            <a:off x="838200" y="3162300"/>
            <a:ext cx="95250" cy="95250"/>
          </a:xfrm>
          <a:prstGeom prst="ellipse">
            <a:avLst/>
          </a:prstGeom>
          <a:solidFill>
            <a:srgbClr val="38699C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4F08611A-42C5-4131-BA78-A0883C6E2BDE}"/>
              </a:ext>
            </a:extLst>
          </p:cNvPr>
          <p:cNvSpPr>
            <a:spLocks noGrp="1"/>
          </p:cNvSpPr>
          <p:nvPr/>
        </p:nvSpPr>
        <p:spPr>
          <a:xfrm>
            <a:off x="1123950" y="3048000"/>
            <a:ext cx="9620250" cy="523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650">
                <a:solidFill>
                  <a:srgbClr val="17212B"/>
                </a:solidFill>
              </a:defRPr>
            </a:pPr>
            <a:r>
              <a:rPr sz="1650">
                <a:solidFill>
                  <a:srgbClr val="17212B"/>
                </a:solidFill>
              </a:rPr>
              <a:t>Provider names and boundaries vary; the design questions remain the same.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E3DFE522-C6D5-4A75-B505-E01F243CCCA7}"/>
              </a:ext>
            </a:extLst>
          </p:cNvPr>
          <p:cNvSpPr>
            <a:spLocks noGrp="1"/>
          </p:cNvSpPr>
          <p:nvPr/>
        </p:nvSpPr>
        <p:spPr>
          <a:xfrm>
            <a:off x="685800" y="4953000"/>
            <a:ext cx="10820400" cy="590550"/>
          </a:xfrm>
          <a:prstGeom prst="rect">
            <a:avLst/>
          </a:prstGeom>
          <a:solidFill>
            <a:srgbClr val="EAF2FA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EDAED2E3-39A5-4321-BBC6-52374BB79EFB}"/>
              </a:ext>
            </a:extLst>
          </p:cNvPr>
          <p:cNvSpPr>
            <a:spLocks noGrp="1"/>
          </p:cNvSpPr>
          <p:nvPr/>
        </p:nvSpPr>
        <p:spPr>
          <a:xfrm>
            <a:off x="952500" y="5114925"/>
            <a:ext cx="102870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650" b="1">
                <a:solidFill>
                  <a:srgbClr val="123B6D"/>
                </a:solidFill>
              </a:defRPr>
            </a:pPr>
            <a:r>
              <a:rPr sz="1650" b="1">
                <a:solidFill>
                  <a:srgbClr val="123B6D"/>
                </a:solidFill>
              </a:rPr>
              <a:t>Location is a product requirement, a risk decision, and an operating decision.</a:t>
            </a:r>
          </a:p>
        </p:txBody>
      </p:sp>
    </p:spTree>
    <p:extLst>
      <p:ext uri="{BB962C8B-B14F-4D97-AF65-F5344CB8AC3E}">
        <p14:creationId xmlns:p14="http://schemas.microsoft.com/office/powerpoint/2010/main" val="1787064356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13">
            <a:extLst>
              <a:ext uri="{FF2B5EF4-FFF2-40B4-BE49-F238E27FC236}">
                <a16:creationId xmlns:a16="http://schemas.microsoft.com/office/drawing/2014/main" id="{88DC10BF-E806-4DCD-9C49-6742FB781335}"/>
              </a:ext>
            </a:extLst>
          </p:cNvPr>
          <p:cNvSpPr>
            <a:spLocks noGrp="1"/>
          </p:cNvSpPr>
          <p:nvPr/>
        </p:nvSpPr>
        <p:spPr>
          <a:xfrm>
            <a:off x="685800" y="400050"/>
            <a:ext cx="10001250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2700" b="1">
                <a:solidFill>
                  <a:srgbClr val="123B6D"/>
                </a:solidFill>
              </a:defRPr>
            </a:pPr>
            <a:r>
              <a:rPr sz="2700" b="1">
                <a:solidFill>
                  <a:srgbClr val="123B6D"/>
                </a:solidFill>
              </a:rPr>
              <a:t>Availability zones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9BC8E488-7CE2-4F24-84EA-A3611FD379C1}"/>
              </a:ext>
            </a:extLst>
          </p:cNvPr>
          <p:cNvSpPr>
            <a:spLocks noGrp="1"/>
          </p:cNvSpPr>
          <p:nvPr/>
        </p:nvSpPr>
        <p:spPr>
          <a:xfrm>
            <a:off x="685800" y="1028700"/>
            <a:ext cx="10820400" cy="38100"/>
          </a:xfrm>
          <a:prstGeom prst="rect">
            <a:avLst/>
          </a:prstGeom>
          <a:solidFill>
            <a:srgbClr val="123B6D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E89B6097-2CE2-4E11-B094-7D0022E89AFB}"/>
              </a:ext>
            </a:extLst>
          </p:cNvPr>
          <p:cNvSpPr>
            <a:spLocks noGrp="1"/>
          </p:cNvSpPr>
          <p:nvPr/>
        </p:nvSpPr>
        <p:spPr>
          <a:xfrm>
            <a:off x="685800" y="6419850"/>
            <a:ext cx="2143125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975">
                <a:solidFill>
                  <a:srgbClr val="52606D"/>
                </a:solidFill>
              </a:defRPr>
            </a:pPr>
            <a:r>
              <a:rPr sz="975">
                <a:solidFill>
                  <a:srgbClr val="52606D"/>
                </a:solidFill>
              </a:rPr>
              <a:t>Cloud Computing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5F869E86-7C5D-409F-82B3-394137C2A756}"/>
              </a:ext>
            </a:extLst>
          </p:cNvPr>
          <p:cNvSpPr>
            <a:spLocks noGrp="1"/>
          </p:cNvSpPr>
          <p:nvPr/>
        </p:nvSpPr>
        <p:spPr>
          <a:xfrm>
            <a:off x="3381375" y="6419850"/>
            <a:ext cx="65722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975">
                <a:solidFill>
                  <a:srgbClr val="52606D"/>
                </a:solidFill>
              </a:defRPr>
            </a:pPr>
            <a:r>
              <a:rPr sz="975">
                <a:solidFill>
                  <a:srgbClr val="52606D"/>
                </a:solidFill>
              </a:rPr>
              <a:t>Presented by Gregor von Laszewski (laszewski@gmail.com)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99713EA3-D84D-4984-8EB3-39FA82D750B2}"/>
              </a:ext>
            </a:extLst>
          </p:cNvPr>
          <p:cNvSpPr>
            <a:spLocks noGrp="1"/>
          </p:cNvSpPr>
          <p:nvPr/>
        </p:nvSpPr>
        <p:spPr>
          <a:xfrm>
            <a:off x="10858500" y="6419850"/>
            <a:ext cx="6477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975">
                <a:solidFill>
                  <a:srgbClr val="52606D"/>
                </a:solidFill>
              </a:defRPr>
            </a:pPr>
            <a:r>
              <a:rPr sz="975">
                <a:solidFill>
                  <a:srgbClr val="52606D"/>
                </a:solidFill>
              </a:rPr>
              <a:t>30</a:t>
            </a:r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884BDF76-4A90-4FDE-AB65-588B8F70CEED}"/>
              </a:ext>
            </a:extLst>
          </p:cNvPr>
          <p:cNvSpPr>
            <a:spLocks noGrp="1"/>
          </p:cNvSpPr>
          <p:nvPr/>
        </p:nvSpPr>
        <p:spPr>
          <a:xfrm>
            <a:off x="838200" y="1676400"/>
            <a:ext cx="95250" cy="95250"/>
          </a:xfrm>
          <a:prstGeom prst="ellipse">
            <a:avLst/>
          </a:prstGeom>
          <a:solidFill>
            <a:srgbClr val="38699C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C9201815-DD5D-4E14-B4A4-CF1697B26715}"/>
              </a:ext>
            </a:extLst>
          </p:cNvPr>
          <p:cNvSpPr>
            <a:spLocks noGrp="1"/>
          </p:cNvSpPr>
          <p:nvPr/>
        </p:nvSpPr>
        <p:spPr>
          <a:xfrm>
            <a:off x="1123950" y="1562100"/>
            <a:ext cx="9620250" cy="523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650">
                <a:solidFill>
                  <a:srgbClr val="17212B"/>
                </a:solidFill>
              </a:defRPr>
            </a:pPr>
            <a:r>
              <a:rPr sz="1650">
                <a:solidFill>
                  <a:srgbClr val="17212B"/>
                </a:solidFill>
              </a:rPr>
              <a:t>Zones are isolated locations within a region.</a:t>
            </a:r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A62A8D80-D34C-4C8A-B521-58110F0E747E}"/>
              </a:ext>
            </a:extLst>
          </p:cNvPr>
          <p:cNvSpPr>
            <a:spLocks noGrp="1"/>
          </p:cNvSpPr>
          <p:nvPr/>
        </p:nvSpPr>
        <p:spPr>
          <a:xfrm>
            <a:off x="838200" y="2419350"/>
            <a:ext cx="95250" cy="95250"/>
          </a:xfrm>
          <a:prstGeom prst="ellipse">
            <a:avLst/>
          </a:prstGeom>
          <a:solidFill>
            <a:srgbClr val="38699C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22CF28EA-0EAC-4B22-A267-3C1EAFC6EFE6}"/>
              </a:ext>
            </a:extLst>
          </p:cNvPr>
          <p:cNvSpPr>
            <a:spLocks noGrp="1"/>
          </p:cNvSpPr>
          <p:nvPr/>
        </p:nvSpPr>
        <p:spPr>
          <a:xfrm>
            <a:off x="1123950" y="2305050"/>
            <a:ext cx="9620250" cy="523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650">
                <a:solidFill>
                  <a:srgbClr val="17212B"/>
                </a:solidFill>
              </a:defRPr>
            </a:pPr>
            <a:r>
              <a:rPr sz="1650">
                <a:solidFill>
                  <a:srgbClr val="17212B"/>
                </a:solidFill>
              </a:rPr>
              <a:t>Using more than one zone can reduce the impact of a localized failure.</a:t>
            </a:r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B896E996-20B3-4B6B-B596-8092805D26AB}"/>
              </a:ext>
            </a:extLst>
          </p:cNvPr>
          <p:cNvSpPr>
            <a:spLocks noGrp="1"/>
          </p:cNvSpPr>
          <p:nvPr/>
        </p:nvSpPr>
        <p:spPr>
          <a:xfrm>
            <a:off x="838200" y="3162300"/>
            <a:ext cx="95250" cy="95250"/>
          </a:xfrm>
          <a:prstGeom prst="ellipse">
            <a:avLst/>
          </a:prstGeom>
          <a:solidFill>
            <a:srgbClr val="38699C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E3E3A491-140C-48F5-AEEC-059ED6990D4D}"/>
              </a:ext>
            </a:extLst>
          </p:cNvPr>
          <p:cNvSpPr>
            <a:spLocks noGrp="1"/>
          </p:cNvSpPr>
          <p:nvPr/>
        </p:nvSpPr>
        <p:spPr>
          <a:xfrm>
            <a:off x="1123950" y="3048000"/>
            <a:ext cx="9620250" cy="523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650">
                <a:solidFill>
                  <a:srgbClr val="17212B"/>
                </a:solidFill>
              </a:defRPr>
            </a:pPr>
            <a:r>
              <a:rPr sz="1650">
                <a:solidFill>
                  <a:srgbClr val="17212B"/>
                </a:solidFill>
              </a:rPr>
              <a:t>Applications must be designed to tolerate loss of a component or location.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6C1B258C-31A2-4750-8CFA-4FA0F4A84B83}"/>
              </a:ext>
            </a:extLst>
          </p:cNvPr>
          <p:cNvSpPr>
            <a:spLocks noGrp="1"/>
          </p:cNvSpPr>
          <p:nvPr/>
        </p:nvSpPr>
        <p:spPr>
          <a:xfrm>
            <a:off x="685800" y="4953000"/>
            <a:ext cx="10820400" cy="590550"/>
          </a:xfrm>
          <a:prstGeom prst="rect">
            <a:avLst/>
          </a:prstGeom>
          <a:solidFill>
            <a:srgbClr val="EAF2FA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F8A67E4D-C1C7-4A1D-8A50-3F3D2D9C4E9F}"/>
              </a:ext>
            </a:extLst>
          </p:cNvPr>
          <p:cNvSpPr>
            <a:spLocks noGrp="1"/>
          </p:cNvSpPr>
          <p:nvPr/>
        </p:nvSpPr>
        <p:spPr>
          <a:xfrm>
            <a:off x="952500" y="5114925"/>
            <a:ext cx="102870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650" b="1">
                <a:solidFill>
                  <a:srgbClr val="123B6D"/>
                </a:solidFill>
              </a:defRPr>
            </a:pPr>
            <a:r>
              <a:rPr sz="1650" b="1">
                <a:solidFill>
                  <a:srgbClr val="123B6D"/>
                </a:solidFill>
              </a:rPr>
              <a:t>Resilience requires both infrastructure options and application behavior.</a:t>
            </a:r>
          </a:p>
        </p:txBody>
      </p:sp>
    </p:spTree>
    <p:extLst>
      <p:ext uri="{BB962C8B-B14F-4D97-AF65-F5344CB8AC3E}">
        <p14:creationId xmlns:p14="http://schemas.microsoft.com/office/powerpoint/2010/main" val="622004818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13">
            <a:extLst>
              <a:ext uri="{FF2B5EF4-FFF2-40B4-BE49-F238E27FC236}">
                <a16:creationId xmlns:a16="http://schemas.microsoft.com/office/drawing/2014/main" id="{FB451DE5-F679-44CF-981F-42EEAF8CD985}"/>
              </a:ext>
            </a:extLst>
          </p:cNvPr>
          <p:cNvSpPr>
            <a:spLocks noGrp="1"/>
          </p:cNvSpPr>
          <p:nvPr/>
        </p:nvSpPr>
        <p:spPr>
          <a:xfrm>
            <a:off x="685800" y="400050"/>
            <a:ext cx="10001250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2700" b="1">
                <a:solidFill>
                  <a:srgbClr val="123B6D"/>
                </a:solidFill>
              </a:defRPr>
            </a:pPr>
            <a:r>
              <a:rPr sz="2700" b="1">
                <a:solidFill>
                  <a:srgbClr val="123B6D"/>
                </a:solidFill>
              </a:rPr>
              <a:t>Edge locations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EFB1AFA6-5625-4488-8E85-41092839FFC8}"/>
              </a:ext>
            </a:extLst>
          </p:cNvPr>
          <p:cNvSpPr>
            <a:spLocks noGrp="1"/>
          </p:cNvSpPr>
          <p:nvPr/>
        </p:nvSpPr>
        <p:spPr>
          <a:xfrm>
            <a:off x="685800" y="1028700"/>
            <a:ext cx="10820400" cy="38100"/>
          </a:xfrm>
          <a:prstGeom prst="rect">
            <a:avLst/>
          </a:prstGeom>
          <a:solidFill>
            <a:srgbClr val="123B6D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7977DCA0-E6A6-4D0E-AD29-038E797E3CBB}"/>
              </a:ext>
            </a:extLst>
          </p:cNvPr>
          <p:cNvSpPr>
            <a:spLocks noGrp="1"/>
          </p:cNvSpPr>
          <p:nvPr/>
        </p:nvSpPr>
        <p:spPr>
          <a:xfrm>
            <a:off x="685800" y="6419850"/>
            <a:ext cx="2143125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975">
                <a:solidFill>
                  <a:srgbClr val="52606D"/>
                </a:solidFill>
              </a:defRPr>
            </a:pPr>
            <a:r>
              <a:rPr sz="975">
                <a:solidFill>
                  <a:srgbClr val="52606D"/>
                </a:solidFill>
              </a:rPr>
              <a:t>Cloud Computing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8FBEE078-8AC4-4429-88D5-46066138AC14}"/>
              </a:ext>
            </a:extLst>
          </p:cNvPr>
          <p:cNvSpPr>
            <a:spLocks noGrp="1"/>
          </p:cNvSpPr>
          <p:nvPr/>
        </p:nvSpPr>
        <p:spPr>
          <a:xfrm>
            <a:off x="3381375" y="6419850"/>
            <a:ext cx="65722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975">
                <a:solidFill>
                  <a:srgbClr val="52606D"/>
                </a:solidFill>
              </a:defRPr>
            </a:pPr>
            <a:r>
              <a:rPr sz="975">
                <a:solidFill>
                  <a:srgbClr val="52606D"/>
                </a:solidFill>
              </a:rPr>
              <a:t>Presented by Gregor von Laszewski (laszewski@gmail.com)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820565D8-9B60-4D8E-913C-883D62195414}"/>
              </a:ext>
            </a:extLst>
          </p:cNvPr>
          <p:cNvSpPr>
            <a:spLocks noGrp="1"/>
          </p:cNvSpPr>
          <p:nvPr/>
        </p:nvSpPr>
        <p:spPr>
          <a:xfrm>
            <a:off x="10858500" y="6419850"/>
            <a:ext cx="6477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975">
                <a:solidFill>
                  <a:srgbClr val="52606D"/>
                </a:solidFill>
              </a:defRPr>
            </a:pPr>
            <a:r>
              <a:rPr sz="975">
                <a:solidFill>
                  <a:srgbClr val="52606D"/>
                </a:solidFill>
              </a:rPr>
              <a:t>31</a:t>
            </a:r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D5CE27DF-AA91-4391-8BDA-4F84263AAD6E}"/>
              </a:ext>
            </a:extLst>
          </p:cNvPr>
          <p:cNvSpPr>
            <a:spLocks noGrp="1"/>
          </p:cNvSpPr>
          <p:nvPr/>
        </p:nvSpPr>
        <p:spPr>
          <a:xfrm>
            <a:off x="838200" y="1676400"/>
            <a:ext cx="95250" cy="95250"/>
          </a:xfrm>
          <a:prstGeom prst="ellipse">
            <a:avLst/>
          </a:prstGeom>
          <a:solidFill>
            <a:srgbClr val="38699C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1E704041-7B8D-4FC8-914F-D17057157C35}"/>
              </a:ext>
            </a:extLst>
          </p:cNvPr>
          <p:cNvSpPr>
            <a:spLocks noGrp="1"/>
          </p:cNvSpPr>
          <p:nvPr/>
        </p:nvSpPr>
        <p:spPr>
          <a:xfrm>
            <a:off x="1123950" y="1562100"/>
            <a:ext cx="9620250" cy="523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650">
                <a:solidFill>
                  <a:srgbClr val="17212B"/>
                </a:solidFill>
              </a:defRPr>
            </a:pPr>
            <a:r>
              <a:rPr sz="1650">
                <a:solidFill>
                  <a:srgbClr val="17212B"/>
                </a:solidFill>
              </a:rPr>
              <a:t>Edge services place selected capabilities nearer to users or devices.</a:t>
            </a:r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BD91D2B5-DF28-47FC-BBBC-627FB73D7753}"/>
              </a:ext>
            </a:extLst>
          </p:cNvPr>
          <p:cNvSpPr>
            <a:spLocks noGrp="1"/>
          </p:cNvSpPr>
          <p:nvPr/>
        </p:nvSpPr>
        <p:spPr>
          <a:xfrm>
            <a:off x="838200" y="2419350"/>
            <a:ext cx="95250" cy="95250"/>
          </a:xfrm>
          <a:prstGeom prst="ellipse">
            <a:avLst/>
          </a:prstGeom>
          <a:solidFill>
            <a:srgbClr val="38699C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797B6015-43A0-49E7-AD2D-8C7DD7606B60}"/>
              </a:ext>
            </a:extLst>
          </p:cNvPr>
          <p:cNvSpPr>
            <a:spLocks noGrp="1"/>
          </p:cNvSpPr>
          <p:nvPr/>
        </p:nvSpPr>
        <p:spPr>
          <a:xfrm>
            <a:off x="1123950" y="2305050"/>
            <a:ext cx="9620250" cy="523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650">
                <a:solidFill>
                  <a:srgbClr val="17212B"/>
                </a:solidFill>
              </a:defRPr>
            </a:pPr>
            <a:r>
              <a:rPr sz="1650">
                <a:solidFill>
                  <a:srgbClr val="17212B"/>
                </a:solidFill>
              </a:rPr>
              <a:t>They can reduce latency for content delivery, caching, or device interaction.</a:t>
            </a:r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84845C23-E400-4CDD-AF27-80F033A2EBA5}"/>
              </a:ext>
            </a:extLst>
          </p:cNvPr>
          <p:cNvSpPr>
            <a:spLocks noGrp="1"/>
          </p:cNvSpPr>
          <p:nvPr/>
        </p:nvSpPr>
        <p:spPr>
          <a:xfrm>
            <a:off x="838200" y="3162300"/>
            <a:ext cx="95250" cy="95250"/>
          </a:xfrm>
          <a:prstGeom prst="ellipse">
            <a:avLst/>
          </a:prstGeom>
          <a:solidFill>
            <a:srgbClr val="38699C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180C92A0-945D-44DC-B999-4F5303A22275}"/>
              </a:ext>
            </a:extLst>
          </p:cNvPr>
          <p:cNvSpPr>
            <a:spLocks noGrp="1"/>
          </p:cNvSpPr>
          <p:nvPr/>
        </p:nvSpPr>
        <p:spPr>
          <a:xfrm>
            <a:off x="1123950" y="3048000"/>
            <a:ext cx="9620250" cy="523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650">
                <a:solidFill>
                  <a:srgbClr val="17212B"/>
                </a:solidFill>
              </a:defRPr>
            </a:pPr>
            <a:r>
              <a:rPr sz="1650">
                <a:solidFill>
                  <a:srgbClr val="17212B"/>
                </a:solidFill>
              </a:rPr>
              <a:t>Edge does not eliminate the need for a central data and control strategy.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0F6CBAFC-5D91-4DF0-843F-2FE025C1E39E}"/>
              </a:ext>
            </a:extLst>
          </p:cNvPr>
          <p:cNvSpPr>
            <a:spLocks noGrp="1"/>
          </p:cNvSpPr>
          <p:nvPr/>
        </p:nvSpPr>
        <p:spPr>
          <a:xfrm>
            <a:off x="685800" y="4953000"/>
            <a:ext cx="10820400" cy="590550"/>
          </a:xfrm>
          <a:prstGeom prst="rect">
            <a:avLst/>
          </a:prstGeom>
          <a:solidFill>
            <a:srgbClr val="EAF2FA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85AB7EB7-8370-48E4-B093-52CDE7532AC6}"/>
              </a:ext>
            </a:extLst>
          </p:cNvPr>
          <p:cNvSpPr>
            <a:spLocks noGrp="1"/>
          </p:cNvSpPr>
          <p:nvPr/>
        </p:nvSpPr>
        <p:spPr>
          <a:xfrm>
            <a:off x="952500" y="5114925"/>
            <a:ext cx="102870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650" b="1">
                <a:solidFill>
                  <a:srgbClr val="123B6D"/>
                </a:solidFill>
              </a:defRPr>
            </a:pPr>
            <a:r>
              <a:rPr sz="1650" b="1">
                <a:solidFill>
                  <a:srgbClr val="123B6D"/>
                </a:solidFill>
              </a:rPr>
              <a:t>Put work near users only when it materially improves the outcome.</a:t>
            </a:r>
          </a:p>
        </p:txBody>
      </p:sp>
    </p:spTree>
    <p:extLst>
      <p:ext uri="{BB962C8B-B14F-4D97-AF65-F5344CB8AC3E}">
        <p14:creationId xmlns:p14="http://schemas.microsoft.com/office/powerpoint/2010/main" val="545643741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13">
            <a:extLst>
              <a:ext uri="{FF2B5EF4-FFF2-40B4-BE49-F238E27FC236}">
                <a16:creationId xmlns:a16="http://schemas.microsoft.com/office/drawing/2014/main" id="{551B2928-62D6-40B0-95AD-83F75F562ED4}"/>
              </a:ext>
            </a:extLst>
          </p:cNvPr>
          <p:cNvSpPr>
            <a:spLocks noGrp="1"/>
          </p:cNvSpPr>
          <p:nvPr/>
        </p:nvSpPr>
        <p:spPr>
          <a:xfrm>
            <a:off x="685800" y="400050"/>
            <a:ext cx="10001250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2700" b="1">
                <a:solidFill>
                  <a:srgbClr val="123B6D"/>
                </a:solidFill>
              </a:defRPr>
            </a:pPr>
            <a:r>
              <a:rPr sz="2700" b="1">
                <a:solidFill>
                  <a:srgbClr val="123B6D"/>
                </a:solidFill>
              </a:rPr>
              <a:t>Availability is a design property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E39150D5-271C-4DF6-AD90-C260B1EA2684}"/>
              </a:ext>
            </a:extLst>
          </p:cNvPr>
          <p:cNvSpPr>
            <a:spLocks noGrp="1"/>
          </p:cNvSpPr>
          <p:nvPr/>
        </p:nvSpPr>
        <p:spPr>
          <a:xfrm>
            <a:off x="685800" y="1028700"/>
            <a:ext cx="10820400" cy="38100"/>
          </a:xfrm>
          <a:prstGeom prst="rect">
            <a:avLst/>
          </a:prstGeom>
          <a:solidFill>
            <a:srgbClr val="123B6D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286F3EA6-CBA3-4A87-BAC6-DE978429FB7B}"/>
              </a:ext>
            </a:extLst>
          </p:cNvPr>
          <p:cNvSpPr>
            <a:spLocks noGrp="1"/>
          </p:cNvSpPr>
          <p:nvPr/>
        </p:nvSpPr>
        <p:spPr>
          <a:xfrm>
            <a:off x="685800" y="6419850"/>
            <a:ext cx="2143125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975">
                <a:solidFill>
                  <a:srgbClr val="52606D"/>
                </a:solidFill>
              </a:defRPr>
            </a:pPr>
            <a:r>
              <a:rPr sz="975">
                <a:solidFill>
                  <a:srgbClr val="52606D"/>
                </a:solidFill>
              </a:rPr>
              <a:t>Cloud Computing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37FEABDD-939A-470F-AEE1-0260431FE178}"/>
              </a:ext>
            </a:extLst>
          </p:cNvPr>
          <p:cNvSpPr>
            <a:spLocks noGrp="1"/>
          </p:cNvSpPr>
          <p:nvPr/>
        </p:nvSpPr>
        <p:spPr>
          <a:xfrm>
            <a:off x="3381375" y="6419850"/>
            <a:ext cx="65722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975">
                <a:solidFill>
                  <a:srgbClr val="52606D"/>
                </a:solidFill>
              </a:defRPr>
            </a:pPr>
            <a:r>
              <a:rPr sz="975">
                <a:solidFill>
                  <a:srgbClr val="52606D"/>
                </a:solidFill>
              </a:rPr>
              <a:t>Presented by Gregor von Laszewski (laszewski@gmail.com)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95EFA336-11D9-4F22-9CA7-CB48AB2D017E}"/>
              </a:ext>
            </a:extLst>
          </p:cNvPr>
          <p:cNvSpPr>
            <a:spLocks noGrp="1"/>
          </p:cNvSpPr>
          <p:nvPr/>
        </p:nvSpPr>
        <p:spPr>
          <a:xfrm>
            <a:off x="10858500" y="6419850"/>
            <a:ext cx="6477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975">
                <a:solidFill>
                  <a:srgbClr val="52606D"/>
                </a:solidFill>
              </a:defRPr>
            </a:pPr>
            <a:r>
              <a:rPr sz="975">
                <a:solidFill>
                  <a:srgbClr val="52606D"/>
                </a:solidFill>
              </a:rPr>
              <a:t>32</a:t>
            </a:r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7674BCBF-5812-487F-B062-00C87C4944C7}"/>
              </a:ext>
            </a:extLst>
          </p:cNvPr>
          <p:cNvSpPr>
            <a:spLocks noGrp="1"/>
          </p:cNvSpPr>
          <p:nvPr/>
        </p:nvSpPr>
        <p:spPr>
          <a:xfrm>
            <a:off x="838200" y="1676400"/>
            <a:ext cx="95250" cy="95250"/>
          </a:xfrm>
          <a:prstGeom prst="ellipse">
            <a:avLst/>
          </a:prstGeom>
          <a:solidFill>
            <a:srgbClr val="38699C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8EB83473-9BE9-48FB-A590-DE1061863DCB}"/>
              </a:ext>
            </a:extLst>
          </p:cNvPr>
          <p:cNvSpPr>
            <a:spLocks noGrp="1"/>
          </p:cNvSpPr>
          <p:nvPr/>
        </p:nvSpPr>
        <p:spPr>
          <a:xfrm>
            <a:off x="1123950" y="1562100"/>
            <a:ext cx="9620250" cy="523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650">
                <a:solidFill>
                  <a:srgbClr val="17212B"/>
                </a:solidFill>
              </a:defRPr>
            </a:pPr>
            <a:r>
              <a:rPr sz="1650">
                <a:solidFill>
                  <a:srgbClr val="17212B"/>
                </a:solidFill>
              </a:rPr>
              <a:t>Availability is the degree to which a service can perform when needed.</a:t>
            </a:r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C32FFCCF-578D-4233-88BB-8FF5E736C61D}"/>
              </a:ext>
            </a:extLst>
          </p:cNvPr>
          <p:cNvSpPr>
            <a:spLocks noGrp="1"/>
          </p:cNvSpPr>
          <p:nvPr/>
        </p:nvSpPr>
        <p:spPr>
          <a:xfrm>
            <a:off x="838200" y="2419350"/>
            <a:ext cx="95250" cy="95250"/>
          </a:xfrm>
          <a:prstGeom prst="ellipse">
            <a:avLst/>
          </a:prstGeom>
          <a:solidFill>
            <a:srgbClr val="38699C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745A480A-AFD9-44E5-80B4-AF4E483B5FC5}"/>
              </a:ext>
            </a:extLst>
          </p:cNvPr>
          <p:cNvSpPr>
            <a:spLocks noGrp="1"/>
          </p:cNvSpPr>
          <p:nvPr/>
        </p:nvSpPr>
        <p:spPr>
          <a:xfrm>
            <a:off x="1123950" y="2305050"/>
            <a:ext cx="9620250" cy="523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650">
                <a:solidFill>
                  <a:srgbClr val="17212B"/>
                </a:solidFill>
              </a:defRPr>
            </a:pPr>
            <a:r>
              <a:rPr sz="1650">
                <a:solidFill>
                  <a:srgbClr val="17212B"/>
                </a:solidFill>
              </a:rPr>
              <a:t>It depends on components, dependencies, deployments, and operations.</a:t>
            </a:r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20FB0CD3-46C1-45B9-93B6-4E2C3750471D}"/>
              </a:ext>
            </a:extLst>
          </p:cNvPr>
          <p:cNvSpPr>
            <a:spLocks noGrp="1"/>
          </p:cNvSpPr>
          <p:nvPr/>
        </p:nvSpPr>
        <p:spPr>
          <a:xfrm>
            <a:off x="838200" y="3162300"/>
            <a:ext cx="95250" cy="95250"/>
          </a:xfrm>
          <a:prstGeom prst="ellipse">
            <a:avLst/>
          </a:prstGeom>
          <a:solidFill>
            <a:srgbClr val="38699C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380847D6-ECD4-4A71-ADAB-9DA6CED0D37D}"/>
              </a:ext>
            </a:extLst>
          </p:cNvPr>
          <p:cNvSpPr>
            <a:spLocks noGrp="1"/>
          </p:cNvSpPr>
          <p:nvPr/>
        </p:nvSpPr>
        <p:spPr>
          <a:xfrm>
            <a:off x="1123950" y="3048000"/>
            <a:ext cx="9620250" cy="523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650">
                <a:solidFill>
                  <a:srgbClr val="17212B"/>
                </a:solidFill>
              </a:defRPr>
            </a:pPr>
            <a:r>
              <a:rPr sz="1650">
                <a:solidFill>
                  <a:srgbClr val="17212B"/>
                </a:solidFill>
              </a:rPr>
              <a:t>A target should be meaningful to users: successful actions, not merely server uptime.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EF7E72E7-4775-42F6-A983-75125EAC405C}"/>
              </a:ext>
            </a:extLst>
          </p:cNvPr>
          <p:cNvSpPr>
            <a:spLocks noGrp="1"/>
          </p:cNvSpPr>
          <p:nvPr/>
        </p:nvSpPr>
        <p:spPr>
          <a:xfrm>
            <a:off x="685800" y="4953000"/>
            <a:ext cx="10820400" cy="590550"/>
          </a:xfrm>
          <a:prstGeom prst="rect">
            <a:avLst/>
          </a:prstGeom>
          <a:solidFill>
            <a:srgbClr val="EAF2FA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CAAD7043-3605-4902-B9E4-39D0FDCE2299}"/>
              </a:ext>
            </a:extLst>
          </p:cNvPr>
          <p:cNvSpPr>
            <a:spLocks noGrp="1"/>
          </p:cNvSpPr>
          <p:nvPr/>
        </p:nvSpPr>
        <p:spPr>
          <a:xfrm>
            <a:off x="952500" y="5114925"/>
            <a:ext cx="102870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650" b="1">
                <a:solidFill>
                  <a:srgbClr val="123B6D"/>
                </a:solidFill>
              </a:defRPr>
            </a:pPr>
            <a:r>
              <a:rPr sz="1650" b="1">
                <a:solidFill>
                  <a:srgbClr val="123B6D"/>
                </a:solidFill>
              </a:rPr>
              <a:t>Define availability from the user’s point of view.</a:t>
            </a:r>
          </a:p>
        </p:txBody>
      </p:sp>
    </p:spTree>
    <p:extLst>
      <p:ext uri="{BB962C8B-B14F-4D97-AF65-F5344CB8AC3E}">
        <p14:creationId xmlns:p14="http://schemas.microsoft.com/office/powerpoint/2010/main" val="1697667520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13">
            <a:extLst>
              <a:ext uri="{FF2B5EF4-FFF2-40B4-BE49-F238E27FC236}">
                <a16:creationId xmlns:a16="http://schemas.microsoft.com/office/drawing/2014/main" id="{096518BC-E2EE-428C-9704-50E2E094A4C7}"/>
              </a:ext>
            </a:extLst>
          </p:cNvPr>
          <p:cNvSpPr>
            <a:spLocks noGrp="1"/>
          </p:cNvSpPr>
          <p:nvPr/>
        </p:nvSpPr>
        <p:spPr>
          <a:xfrm>
            <a:off x="685800" y="400050"/>
            <a:ext cx="10001250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2700" b="1">
                <a:solidFill>
                  <a:srgbClr val="123B6D"/>
                </a:solidFill>
              </a:defRPr>
            </a:pPr>
            <a:r>
              <a:rPr sz="2700" b="1">
                <a:solidFill>
                  <a:srgbClr val="123B6D"/>
                </a:solidFill>
              </a:rPr>
              <a:t>Resilience requires graceful failure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E71D7B6F-2D22-48E0-916D-EBAC795609F9}"/>
              </a:ext>
            </a:extLst>
          </p:cNvPr>
          <p:cNvSpPr>
            <a:spLocks noGrp="1"/>
          </p:cNvSpPr>
          <p:nvPr/>
        </p:nvSpPr>
        <p:spPr>
          <a:xfrm>
            <a:off x="685800" y="1028700"/>
            <a:ext cx="10820400" cy="38100"/>
          </a:xfrm>
          <a:prstGeom prst="rect">
            <a:avLst/>
          </a:prstGeom>
          <a:solidFill>
            <a:srgbClr val="123B6D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AABE306D-1A97-49CE-ACC4-5FAF9EF3A534}"/>
              </a:ext>
            </a:extLst>
          </p:cNvPr>
          <p:cNvSpPr>
            <a:spLocks noGrp="1"/>
          </p:cNvSpPr>
          <p:nvPr/>
        </p:nvSpPr>
        <p:spPr>
          <a:xfrm>
            <a:off x="685800" y="6419850"/>
            <a:ext cx="2143125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975">
                <a:solidFill>
                  <a:srgbClr val="52606D"/>
                </a:solidFill>
              </a:defRPr>
            </a:pPr>
            <a:r>
              <a:rPr sz="975">
                <a:solidFill>
                  <a:srgbClr val="52606D"/>
                </a:solidFill>
              </a:rPr>
              <a:t>Cloud Computing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584C1632-9B09-44FB-9AEA-DE1B078FD2E3}"/>
              </a:ext>
            </a:extLst>
          </p:cNvPr>
          <p:cNvSpPr>
            <a:spLocks noGrp="1"/>
          </p:cNvSpPr>
          <p:nvPr/>
        </p:nvSpPr>
        <p:spPr>
          <a:xfrm>
            <a:off x="3381375" y="6419850"/>
            <a:ext cx="65722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975">
                <a:solidFill>
                  <a:srgbClr val="52606D"/>
                </a:solidFill>
              </a:defRPr>
            </a:pPr>
            <a:r>
              <a:rPr sz="975">
                <a:solidFill>
                  <a:srgbClr val="52606D"/>
                </a:solidFill>
              </a:rPr>
              <a:t>Presented by Gregor von Laszewski (laszewski@gmail.com)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A50DC04A-6C42-4600-A14F-5B222813E61B}"/>
              </a:ext>
            </a:extLst>
          </p:cNvPr>
          <p:cNvSpPr>
            <a:spLocks noGrp="1"/>
          </p:cNvSpPr>
          <p:nvPr/>
        </p:nvSpPr>
        <p:spPr>
          <a:xfrm>
            <a:off x="10858500" y="6419850"/>
            <a:ext cx="6477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975">
                <a:solidFill>
                  <a:srgbClr val="52606D"/>
                </a:solidFill>
              </a:defRPr>
            </a:pPr>
            <a:r>
              <a:rPr sz="975">
                <a:solidFill>
                  <a:srgbClr val="52606D"/>
                </a:solidFill>
              </a:rPr>
              <a:t>33</a:t>
            </a:r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8AC4DCCC-25A3-407E-9044-84A83CF2B09E}"/>
              </a:ext>
            </a:extLst>
          </p:cNvPr>
          <p:cNvSpPr>
            <a:spLocks noGrp="1"/>
          </p:cNvSpPr>
          <p:nvPr/>
        </p:nvSpPr>
        <p:spPr>
          <a:xfrm>
            <a:off x="838200" y="1676400"/>
            <a:ext cx="95250" cy="95250"/>
          </a:xfrm>
          <a:prstGeom prst="ellipse">
            <a:avLst/>
          </a:prstGeom>
          <a:solidFill>
            <a:srgbClr val="38699C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F3AF2128-9A4F-4DBA-8163-28FE36A2956C}"/>
              </a:ext>
            </a:extLst>
          </p:cNvPr>
          <p:cNvSpPr>
            <a:spLocks noGrp="1"/>
          </p:cNvSpPr>
          <p:nvPr/>
        </p:nvSpPr>
        <p:spPr>
          <a:xfrm>
            <a:off x="1123950" y="1562100"/>
            <a:ext cx="9620250" cy="523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650">
                <a:solidFill>
                  <a:srgbClr val="17212B"/>
                </a:solidFill>
              </a:defRPr>
            </a:pPr>
            <a:r>
              <a:rPr sz="1650">
                <a:solidFill>
                  <a:srgbClr val="17212B"/>
                </a:solidFill>
              </a:rPr>
              <a:t>Assume dependencies can slow down, fail, or return bad data.</a:t>
            </a:r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9ED5FDB5-8F55-4722-B6FF-D2AC77245887}"/>
              </a:ext>
            </a:extLst>
          </p:cNvPr>
          <p:cNvSpPr>
            <a:spLocks noGrp="1"/>
          </p:cNvSpPr>
          <p:nvPr/>
        </p:nvSpPr>
        <p:spPr>
          <a:xfrm>
            <a:off x="838200" y="2419350"/>
            <a:ext cx="95250" cy="95250"/>
          </a:xfrm>
          <a:prstGeom prst="ellipse">
            <a:avLst/>
          </a:prstGeom>
          <a:solidFill>
            <a:srgbClr val="38699C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F9D31B32-84B3-4CD9-9C3F-16EE8EF26A95}"/>
              </a:ext>
            </a:extLst>
          </p:cNvPr>
          <p:cNvSpPr>
            <a:spLocks noGrp="1"/>
          </p:cNvSpPr>
          <p:nvPr/>
        </p:nvSpPr>
        <p:spPr>
          <a:xfrm>
            <a:off x="1123950" y="2305050"/>
            <a:ext cx="9620250" cy="523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650">
                <a:solidFill>
                  <a:srgbClr val="17212B"/>
                </a:solidFill>
              </a:defRPr>
            </a:pPr>
            <a:r>
              <a:rPr sz="1650">
                <a:solidFill>
                  <a:srgbClr val="17212B"/>
                </a:solidFill>
              </a:rPr>
              <a:t>Use timeouts, retries with care, queues, fallbacks, and isolation boundaries.</a:t>
            </a:r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87746239-E319-456E-B7B6-2F0A71F7E587}"/>
              </a:ext>
            </a:extLst>
          </p:cNvPr>
          <p:cNvSpPr>
            <a:spLocks noGrp="1"/>
          </p:cNvSpPr>
          <p:nvPr/>
        </p:nvSpPr>
        <p:spPr>
          <a:xfrm>
            <a:off x="838200" y="3162300"/>
            <a:ext cx="95250" cy="95250"/>
          </a:xfrm>
          <a:prstGeom prst="ellipse">
            <a:avLst/>
          </a:prstGeom>
          <a:solidFill>
            <a:srgbClr val="38699C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F95F7E29-0605-474E-AC71-19EF33B1E8CA}"/>
              </a:ext>
            </a:extLst>
          </p:cNvPr>
          <p:cNvSpPr>
            <a:spLocks noGrp="1"/>
          </p:cNvSpPr>
          <p:nvPr/>
        </p:nvSpPr>
        <p:spPr>
          <a:xfrm>
            <a:off x="1123950" y="3048000"/>
            <a:ext cx="9620250" cy="523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650">
                <a:solidFill>
                  <a:srgbClr val="17212B"/>
                </a:solidFill>
              </a:defRPr>
            </a:pPr>
            <a:r>
              <a:rPr sz="1650">
                <a:solidFill>
                  <a:srgbClr val="17212B"/>
                </a:solidFill>
              </a:rPr>
              <a:t>Test recovery paths before an incident forces you to learn them.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546D030C-8355-4C42-BFB0-780E2C040BF7}"/>
              </a:ext>
            </a:extLst>
          </p:cNvPr>
          <p:cNvSpPr>
            <a:spLocks noGrp="1"/>
          </p:cNvSpPr>
          <p:nvPr/>
        </p:nvSpPr>
        <p:spPr>
          <a:xfrm>
            <a:off x="685800" y="4953000"/>
            <a:ext cx="10820400" cy="590550"/>
          </a:xfrm>
          <a:prstGeom prst="rect">
            <a:avLst/>
          </a:prstGeom>
          <a:solidFill>
            <a:srgbClr val="EAF2FA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909BC46A-55C2-4165-BD45-5D6329AFF3D5}"/>
              </a:ext>
            </a:extLst>
          </p:cNvPr>
          <p:cNvSpPr>
            <a:spLocks noGrp="1"/>
          </p:cNvSpPr>
          <p:nvPr/>
        </p:nvSpPr>
        <p:spPr>
          <a:xfrm>
            <a:off x="952500" y="5114925"/>
            <a:ext cx="102870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650" b="1">
                <a:solidFill>
                  <a:srgbClr val="123B6D"/>
                </a:solidFill>
              </a:defRPr>
            </a:pPr>
            <a:r>
              <a:rPr sz="1650" b="1">
                <a:solidFill>
                  <a:srgbClr val="123B6D"/>
                </a:solidFill>
              </a:rPr>
              <a:t>Resilience is a habit of design, testing, and operations.</a:t>
            </a:r>
          </a:p>
        </p:txBody>
      </p:sp>
    </p:spTree>
    <p:extLst>
      <p:ext uri="{BB962C8B-B14F-4D97-AF65-F5344CB8AC3E}">
        <p14:creationId xmlns:p14="http://schemas.microsoft.com/office/powerpoint/2010/main" val="1541683003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13">
            <a:extLst>
              <a:ext uri="{FF2B5EF4-FFF2-40B4-BE49-F238E27FC236}">
                <a16:creationId xmlns:a16="http://schemas.microsoft.com/office/drawing/2014/main" id="{44B19F05-8AFC-43B7-9A15-1C3B03855F19}"/>
              </a:ext>
            </a:extLst>
          </p:cNvPr>
          <p:cNvSpPr>
            <a:spLocks noGrp="1"/>
          </p:cNvSpPr>
          <p:nvPr/>
        </p:nvSpPr>
        <p:spPr>
          <a:xfrm>
            <a:off x="685800" y="400050"/>
            <a:ext cx="10001250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2700" b="1">
                <a:solidFill>
                  <a:srgbClr val="123B6D"/>
                </a:solidFill>
              </a:defRPr>
            </a:pPr>
            <a:r>
              <a:rPr sz="2700" b="1">
                <a:solidFill>
                  <a:srgbClr val="123B6D"/>
                </a:solidFill>
              </a:rPr>
              <a:t>Recovery objectives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6AF34ACD-6B1C-4786-B9F1-284A38E7B3E0}"/>
              </a:ext>
            </a:extLst>
          </p:cNvPr>
          <p:cNvSpPr>
            <a:spLocks noGrp="1"/>
          </p:cNvSpPr>
          <p:nvPr/>
        </p:nvSpPr>
        <p:spPr>
          <a:xfrm>
            <a:off x="685800" y="1028700"/>
            <a:ext cx="10820400" cy="38100"/>
          </a:xfrm>
          <a:prstGeom prst="rect">
            <a:avLst/>
          </a:prstGeom>
          <a:solidFill>
            <a:srgbClr val="123B6D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EC11120D-8687-4DD9-B616-FBFA679C2675}"/>
              </a:ext>
            </a:extLst>
          </p:cNvPr>
          <p:cNvSpPr>
            <a:spLocks noGrp="1"/>
          </p:cNvSpPr>
          <p:nvPr/>
        </p:nvSpPr>
        <p:spPr>
          <a:xfrm>
            <a:off x="685800" y="6419850"/>
            <a:ext cx="2143125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975">
                <a:solidFill>
                  <a:srgbClr val="52606D"/>
                </a:solidFill>
              </a:defRPr>
            </a:pPr>
            <a:r>
              <a:rPr sz="975">
                <a:solidFill>
                  <a:srgbClr val="52606D"/>
                </a:solidFill>
              </a:rPr>
              <a:t>Cloud Computing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B27A917C-F6BB-4460-B35F-3636C5D4C253}"/>
              </a:ext>
            </a:extLst>
          </p:cNvPr>
          <p:cNvSpPr>
            <a:spLocks noGrp="1"/>
          </p:cNvSpPr>
          <p:nvPr/>
        </p:nvSpPr>
        <p:spPr>
          <a:xfrm>
            <a:off x="3381375" y="6419850"/>
            <a:ext cx="65722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975">
                <a:solidFill>
                  <a:srgbClr val="52606D"/>
                </a:solidFill>
              </a:defRPr>
            </a:pPr>
            <a:r>
              <a:rPr sz="975">
                <a:solidFill>
                  <a:srgbClr val="52606D"/>
                </a:solidFill>
              </a:rPr>
              <a:t>Presented by Gregor von Laszewski (laszewski@gmail.com)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30CE74F3-026C-48EB-89D0-03558AFF53BE}"/>
              </a:ext>
            </a:extLst>
          </p:cNvPr>
          <p:cNvSpPr>
            <a:spLocks noGrp="1"/>
          </p:cNvSpPr>
          <p:nvPr/>
        </p:nvSpPr>
        <p:spPr>
          <a:xfrm>
            <a:off x="10858500" y="6419850"/>
            <a:ext cx="6477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975">
                <a:solidFill>
                  <a:srgbClr val="52606D"/>
                </a:solidFill>
              </a:defRPr>
            </a:pPr>
            <a:r>
              <a:rPr sz="975">
                <a:solidFill>
                  <a:srgbClr val="52606D"/>
                </a:solidFill>
              </a:rPr>
              <a:t>34</a:t>
            </a:r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81593BD9-E1C8-4ED0-AB14-8A43ED0B7BB6}"/>
              </a:ext>
            </a:extLst>
          </p:cNvPr>
          <p:cNvSpPr>
            <a:spLocks noGrp="1"/>
          </p:cNvSpPr>
          <p:nvPr/>
        </p:nvSpPr>
        <p:spPr>
          <a:xfrm>
            <a:off x="838200" y="1676400"/>
            <a:ext cx="95250" cy="95250"/>
          </a:xfrm>
          <a:prstGeom prst="ellipse">
            <a:avLst/>
          </a:prstGeom>
          <a:solidFill>
            <a:srgbClr val="38699C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219BB961-8665-4A4B-A84F-286DE522C838}"/>
              </a:ext>
            </a:extLst>
          </p:cNvPr>
          <p:cNvSpPr>
            <a:spLocks noGrp="1"/>
          </p:cNvSpPr>
          <p:nvPr/>
        </p:nvSpPr>
        <p:spPr>
          <a:xfrm>
            <a:off x="1123950" y="1562100"/>
            <a:ext cx="9620250" cy="523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650">
                <a:solidFill>
                  <a:srgbClr val="17212B"/>
                </a:solidFill>
              </a:defRPr>
            </a:pPr>
            <a:r>
              <a:rPr sz="1650">
                <a:solidFill>
                  <a:srgbClr val="17212B"/>
                </a:solidFill>
              </a:rPr>
              <a:t>Recovery Point Objective (RPO) describes acceptable data loss.</a:t>
            </a:r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88CEACF2-17BB-47FB-A227-E9F26D6F1C3E}"/>
              </a:ext>
            </a:extLst>
          </p:cNvPr>
          <p:cNvSpPr>
            <a:spLocks noGrp="1"/>
          </p:cNvSpPr>
          <p:nvPr/>
        </p:nvSpPr>
        <p:spPr>
          <a:xfrm>
            <a:off x="838200" y="2419350"/>
            <a:ext cx="95250" cy="95250"/>
          </a:xfrm>
          <a:prstGeom prst="ellipse">
            <a:avLst/>
          </a:prstGeom>
          <a:solidFill>
            <a:srgbClr val="38699C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3E22B87F-C44F-4147-8375-E8BB483C5838}"/>
              </a:ext>
            </a:extLst>
          </p:cNvPr>
          <p:cNvSpPr>
            <a:spLocks noGrp="1"/>
          </p:cNvSpPr>
          <p:nvPr/>
        </p:nvSpPr>
        <p:spPr>
          <a:xfrm>
            <a:off x="1123950" y="2305050"/>
            <a:ext cx="9620250" cy="523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650">
                <a:solidFill>
                  <a:srgbClr val="17212B"/>
                </a:solidFill>
              </a:defRPr>
            </a:pPr>
            <a:r>
              <a:rPr sz="1650">
                <a:solidFill>
                  <a:srgbClr val="17212B"/>
                </a:solidFill>
              </a:rPr>
              <a:t>Recovery Time Objective (RTO) describes acceptable time to restore service.</a:t>
            </a:r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98E6EEEE-8A63-4461-9206-3602002BFB1C}"/>
              </a:ext>
            </a:extLst>
          </p:cNvPr>
          <p:cNvSpPr>
            <a:spLocks noGrp="1"/>
          </p:cNvSpPr>
          <p:nvPr/>
        </p:nvSpPr>
        <p:spPr>
          <a:xfrm>
            <a:off x="838200" y="3162300"/>
            <a:ext cx="95250" cy="95250"/>
          </a:xfrm>
          <a:prstGeom prst="ellipse">
            <a:avLst/>
          </a:prstGeom>
          <a:solidFill>
            <a:srgbClr val="38699C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1DE8399C-6152-46AB-AD1D-C8663B20F07B}"/>
              </a:ext>
            </a:extLst>
          </p:cNvPr>
          <p:cNvSpPr>
            <a:spLocks noGrp="1"/>
          </p:cNvSpPr>
          <p:nvPr/>
        </p:nvSpPr>
        <p:spPr>
          <a:xfrm>
            <a:off x="1123950" y="3048000"/>
            <a:ext cx="9620250" cy="523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650">
                <a:solidFill>
                  <a:srgbClr val="17212B"/>
                </a:solidFill>
              </a:defRPr>
            </a:pPr>
            <a:r>
              <a:rPr sz="1650">
                <a:solidFill>
                  <a:srgbClr val="17212B"/>
                </a:solidFill>
              </a:rPr>
              <a:t>These objectives guide backup, replication, and disaster-recovery design.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DDE57D55-19C7-4927-960D-E4AC9D7A59BF}"/>
              </a:ext>
            </a:extLst>
          </p:cNvPr>
          <p:cNvSpPr>
            <a:spLocks noGrp="1"/>
          </p:cNvSpPr>
          <p:nvPr/>
        </p:nvSpPr>
        <p:spPr>
          <a:xfrm>
            <a:off x="685800" y="4953000"/>
            <a:ext cx="10820400" cy="590550"/>
          </a:xfrm>
          <a:prstGeom prst="rect">
            <a:avLst/>
          </a:prstGeom>
          <a:solidFill>
            <a:srgbClr val="EAF2FA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79A9CAB7-31A8-4451-AAD4-D6373D50C627}"/>
              </a:ext>
            </a:extLst>
          </p:cNvPr>
          <p:cNvSpPr>
            <a:spLocks noGrp="1"/>
          </p:cNvSpPr>
          <p:nvPr/>
        </p:nvSpPr>
        <p:spPr>
          <a:xfrm>
            <a:off x="952500" y="5114925"/>
            <a:ext cx="102870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650" b="1">
                <a:solidFill>
                  <a:srgbClr val="123B6D"/>
                </a:solidFill>
              </a:defRPr>
            </a:pPr>
            <a:r>
              <a:rPr sz="1650" b="1">
                <a:solidFill>
                  <a:srgbClr val="123B6D"/>
                </a:solidFill>
              </a:rPr>
              <a:t>Set objectives with stakeholders; technology cannot choose business priorities.</a:t>
            </a:r>
          </a:p>
        </p:txBody>
      </p:sp>
    </p:spTree>
    <p:extLst>
      <p:ext uri="{BB962C8B-B14F-4D97-AF65-F5344CB8AC3E}">
        <p14:creationId xmlns:p14="http://schemas.microsoft.com/office/powerpoint/2010/main" val="533563969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15">
            <a:extLst>
              <a:ext uri="{FF2B5EF4-FFF2-40B4-BE49-F238E27FC236}">
                <a16:creationId xmlns:a16="http://schemas.microsoft.com/office/drawing/2014/main" id="{A031C419-95B3-4CE5-BF1F-1F8D7F12048C}"/>
              </a:ext>
            </a:extLst>
          </p:cNvPr>
          <p:cNvSpPr>
            <a:spLocks noGrp="1"/>
          </p:cNvSpPr>
          <p:nvPr/>
        </p:nvSpPr>
        <p:spPr>
          <a:xfrm>
            <a:off x="685800" y="400050"/>
            <a:ext cx="10001250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2700" b="1">
                <a:solidFill>
                  <a:srgbClr val="123B6D"/>
                </a:solidFill>
              </a:defRPr>
            </a:pPr>
            <a:r>
              <a:rPr sz="2700" b="1">
                <a:solidFill>
                  <a:srgbClr val="123B6D"/>
                </a:solidFill>
              </a:rPr>
              <a:t>Failure-mode activity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947BB0FA-4B63-4025-86C0-5272870BA159}"/>
              </a:ext>
            </a:extLst>
          </p:cNvPr>
          <p:cNvSpPr>
            <a:spLocks noGrp="1"/>
          </p:cNvSpPr>
          <p:nvPr/>
        </p:nvSpPr>
        <p:spPr>
          <a:xfrm>
            <a:off x="685800" y="1028700"/>
            <a:ext cx="10820400" cy="38100"/>
          </a:xfrm>
          <a:prstGeom prst="rect">
            <a:avLst/>
          </a:prstGeom>
          <a:solidFill>
            <a:srgbClr val="123B6D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1E0521CA-42EE-4D4F-8B13-464C80DA74DB}"/>
              </a:ext>
            </a:extLst>
          </p:cNvPr>
          <p:cNvSpPr>
            <a:spLocks noGrp="1"/>
          </p:cNvSpPr>
          <p:nvPr/>
        </p:nvSpPr>
        <p:spPr>
          <a:xfrm>
            <a:off x="685800" y="6419850"/>
            <a:ext cx="2143125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975">
                <a:solidFill>
                  <a:srgbClr val="52606D"/>
                </a:solidFill>
              </a:defRPr>
            </a:pPr>
            <a:r>
              <a:rPr sz="975">
                <a:solidFill>
                  <a:srgbClr val="52606D"/>
                </a:solidFill>
              </a:rPr>
              <a:t>Cloud Computing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44501720-2FE8-48E4-8B66-0E05E96F61D3}"/>
              </a:ext>
            </a:extLst>
          </p:cNvPr>
          <p:cNvSpPr>
            <a:spLocks noGrp="1"/>
          </p:cNvSpPr>
          <p:nvPr/>
        </p:nvSpPr>
        <p:spPr>
          <a:xfrm>
            <a:off x="3381375" y="6419850"/>
            <a:ext cx="65722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975">
                <a:solidFill>
                  <a:srgbClr val="52606D"/>
                </a:solidFill>
              </a:defRPr>
            </a:pPr>
            <a:r>
              <a:rPr sz="975">
                <a:solidFill>
                  <a:srgbClr val="52606D"/>
                </a:solidFill>
              </a:rPr>
              <a:t>Presented by Gregor von Laszewski (laszewski@gmail.com)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F0C1554A-9D1D-4246-8985-09319AB67638}"/>
              </a:ext>
            </a:extLst>
          </p:cNvPr>
          <p:cNvSpPr>
            <a:spLocks noGrp="1"/>
          </p:cNvSpPr>
          <p:nvPr/>
        </p:nvSpPr>
        <p:spPr>
          <a:xfrm>
            <a:off x="10858500" y="6419850"/>
            <a:ext cx="6477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975">
                <a:solidFill>
                  <a:srgbClr val="52606D"/>
                </a:solidFill>
              </a:defRPr>
            </a:pPr>
            <a:r>
              <a:rPr sz="975">
                <a:solidFill>
                  <a:srgbClr val="52606D"/>
                </a:solidFill>
              </a:rPr>
              <a:t>35</a:t>
            </a:r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CAFA9B62-51D7-4046-89D5-2A62948491A9}"/>
              </a:ext>
            </a:extLst>
          </p:cNvPr>
          <p:cNvSpPr>
            <a:spLocks noGrp="1"/>
          </p:cNvSpPr>
          <p:nvPr/>
        </p:nvSpPr>
        <p:spPr>
          <a:xfrm>
            <a:off x="838200" y="1676400"/>
            <a:ext cx="95250" cy="95250"/>
          </a:xfrm>
          <a:prstGeom prst="ellipse">
            <a:avLst/>
          </a:prstGeom>
          <a:solidFill>
            <a:srgbClr val="38699C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AB9A9745-C6F2-4E50-BD03-F3604EE8042F}"/>
              </a:ext>
            </a:extLst>
          </p:cNvPr>
          <p:cNvSpPr>
            <a:spLocks noGrp="1"/>
          </p:cNvSpPr>
          <p:nvPr/>
        </p:nvSpPr>
        <p:spPr>
          <a:xfrm>
            <a:off x="1123950" y="1562100"/>
            <a:ext cx="9620250" cy="523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650">
                <a:solidFill>
                  <a:srgbClr val="17212B"/>
                </a:solidFill>
              </a:defRPr>
            </a:pPr>
            <a:r>
              <a:rPr sz="1650">
                <a:solidFill>
                  <a:srgbClr val="17212B"/>
                </a:solidFill>
              </a:rPr>
              <a:t>Pick a student-event application.</a:t>
            </a:r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A9E35446-001D-4F2D-AAD3-4E2E068FF40F}"/>
              </a:ext>
            </a:extLst>
          </p:cNvPr>
          <p:cNvSpPr>
            <a:spLocks noGrp="1"/>
          </p:cNvSpPr>
          <p:nvPr/>
        </p:nvSpPr>
        <p:spPr>
          <a:xfrm>
            <a:off x="838200" y="2419350"/>
            <a:ext cx="95250" cy="95250"/>
          </a:xfrm>
          <a:prstGeom prst="ellipse">
            <a:avLst/>
          </a:prstGeom>
          <a:solidFill>
            <a:srgbClr val="38699C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8E05AED3-963C-45EE-911B-818D44E64582}"/>
              </a:ext>
            </a:extLst>
          </p:cNvPr>
          <p:cNvSpPr>
            <a:spLocks noGrp="1"/>
          </p:cNvSpPr>
          <p:nvPr/>
        </p:nvSpPr>
        <p:spPr>
          <a:xfrm>
            <a:off x="1123950" y="2305050"/>
            <a:ext cx="9620250" cy="523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650">
                <a:solidFill>
                  <a:srgbClr val="17212B"/>
                </a:solidFill>
              </a:defRPr>
            </a:pPr>
            <a:r>
              <a:rPr sz="1650">
                <a:solidFill>
                  <a:srgbClr val="17212B"/>
                </a:solidFill>
              </a:rPr>
              <a:t>What happens if a database is unavailable?</a:t>
            </a:r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1D480673-0E79-4F4F-A5ED-4F20C9B7C496}"/>
              </a:ext>
            </a:extLst>
          </p:cNvPr>
          <p:cNvSpPr>
            <a:spLocks noGrp="1"/>
          </p:cNvSpPr>
          <p:nvPr/>
        </p:nvSpPr>
        <p:spPr>
          <a:xfrm>
            <a:off x="838200" y="3162300"/>
            <a:ext cx="95250" cy="95250"/>
          </a:xfrm>
          <a:prstGeom prst="ellipse">
            <a:avLst/>
          </a:prstGeom>
          <a:solidFill>
            <a:srgbClr val="38699C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D54C12C0-5E36-429B-B58E-48B10D0D7DBC}"/>
              </a:ext>
            </a:extLst>
          </p:cNvPr>
          <p:cNvSpPr>
            <a:spLocks noGrp="1"/>
          </p:cNvSpPr>
          <p:nvPr/>
        </p:nvSpPr>
        <p:spPr>
          <a:xfrm>
            <a:off x="1123950" y="3048000"/>
            <a:ext cx="9620250" cy="523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650">
                <a:solidFill>
                  <a:srgbClr val="17212B"/>
                </a:solidFill>
              </a:defRPr>
            </a:pPr>
            <a:r>
              <a:rPr sz="1650">
                <a:solidFill>
                  <a:srgbClr val="17212B"/>
                </a:solidFill>
              </a:rPr>
              <a:t>What happens if the registration queue spikes tenfold?</a:t>
            </a:r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E11FE561-67A2-4A36-B609-0EE25B0C3E79}"/>
              </a:ext>
            </a:extLst>
          </p:cNvPr>
          <p:cNvSpPr>
            <a:spLocks noGrp="1"/>
          </p:cNvSpPr>
          <p:nvPr/>
        </p:nvSpPr>
        <p:spPr>
          <a:xfrm>
            <a:off x="838200" y="3905250"/>
            <a:ext cx="95250" cy="95250"/>
          </a:xfrm>
          <a:prstGeom prst="ellipse">
            <a:avLst/>
          </a:prstGeom>
          <a:solidFill>
            <a:srgbClr val="38699C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B884757D-5C8C-4C9F-A747-7C52ADB0D14E}"/>
              </a:ext>
            </a:extLst>
          </p:cNvPr>
          <p:cNvSpPr>
            <a:spLocks noGrp="1"/>
          </p:cNvSpPr>
          <p:nvPr/>
        </p:nvSpPr>
        <p:spPr>
          <a:xfrm>
            <a:off x="1123950" y="3790950"/>
            <a:ext cx="9620250" cy="523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650">
                <a:solidFill>
                  <a:srgbClr val="17212B"/>
                </a:solidFill>
              </a:defRPr>
            </a:pPr>
            <a:r>
              <a:rPr sz="1650">
                <a:solidFill>
                  <a:srgbClr val="17212B"/>
                </a:solidFill>
              </a:rPr>
              <a:t>Which user action must continue, and which can wait?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668C0876-9934-4ECA-B786-1E81E4C4D57F}"/>
              </a:ext>
            </a:extLst>
          </p:cNvPr>
          <p:cNvSpPr>
            <a:spLocks noGrp="1"/>
          </p:cNvSpPr>
          <p:nvPr/>
        </p:nvSpPr>
        <p:spPr>
          <a:xfrm>
            <a:off x="685800" y="4953000"/>
            <a:ext cx="10820400" cy="590550"/>
          </a:xfrm>
          <a:prstGeom prst="rect">
            <a:avLst/>
          </a:prstGeom>
          <a:solidFill>
            <a:srgbClr val="EAF2FA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79219553-5297-4C1A-B856-FC7AEAD4479B}"/>
              </a:ext>
            </a:extLst>
          </p:cNvPr>
          <p:cNvSpPr>
            <a:spLocks noGrp="1"/>
          </p:cNvSpPr>
          <p:nvPr/>
        </p:nvSpPr>
        <p:spPr>
          <a:xfrm>
            <a:off x="952500" y="5114925"/>
            <a:ext cx="102870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650" b="1">
                <a:solidFill>
                  <a:srgbClr val="123B6D"/>
                </a:solidFill>
              </a:defRPr>
            </a:pPr>
            <a:r>
              <a:rPr sz="1650" b="1">
                <a:solidFill>
                  <a:srgbClr val="123B6D"/>
                </a:solidFill>
              </a:rPr>
              <a:t>Design for the important failure modes before adding features.</a:t>
            </a:r>
          </a:p>
        </p:txBody>
      </p:sp>
    </p:spTree>
    <p:extLst>
      <p:ext uri="{BB962C8B-B14F-4D97-AF65-F5344CB8AC3E}">
        <p14:creationId xmlns:p14="http://schemas.microsoft.com/office/powerpoint/2010/main" val="1928896108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13">
            <a:extLst>
              <a:ext uri="{FF2B5EF4-FFF2-40B4-BE49-F238E27FC236}">
                <a16:creationId xmlns:a16="http://schemas.microsoft.com/office/drawing/2014/main" id="{0322E614-69BB-4BE5-8377-8C9816EEDF47}"/>
              </a:ext>
            </a:extLst>
          </p:cNvPr>
          <p:cNvSpPr>
            <a:spLocks noGrp="1"/>
          </p:cNvSpPr>
          <p:nvPr/>
        </p:nvSpPr>
        <p:spPr>
          <a:xfrm>
            <a:off x="685800" y="400050"/>
            <a:ext cx="10001250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2700" b="1">
                <a:solidFill>
                  <a:srgbClr val="123B6D"/>
                </a:solidFill>
              </a:defRPr>
            </a:pPr>
            <a:r>
              <a:rPr sz="2700" b="1">
                <a:solidFill>
                  <a:srgbClr val="123B6D"/>
                </a:solidFill>
              </a:rPr>
              <a:t>Networking is the connective tissue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445B34DA-4D02-4712-B730-6D0227AB5E64}"/>
              </a:ext>
            </a:extLst>
          </p:cNvPr>
          <p:cNvSpPr>
            <a:spLocks noGrp="1"/>
          </p:cNvSpPr>
          <p:nvPr/>
        </p:nvSpPr>
        <p:spPr>
          <a:xfrm>
            <a:off x="685800" y="1028700"/>
            <a:ext cx="10820400" cy="38100"/>
          </a:xfrm>
          <a:prstGeom prst="rect">
            <a:avLst/>
          </a:prstGeom>
          <a:solidFill>
            <a:srgbClr val="123B6D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66CFA3AA-F2E7-43DD-979A-ECBB0C579E45}"/>
              </a:ext>
            </a:extLst>
          </p:cNvPr>
          <p:cNvSpPr>
            <a:spLocks noGrp="1"/>
          </p:cNvSpPr>
          <p:nvPr/>
        </p:nvSpPr>
        <p:spPr>
          <a:xfrm>
            <a:off x="685800" y="6419850"/>
            <a:ext cx="2143125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975">
                <a:solidFill>
                  <a:srgbClr val="52606D"/>
                </a:solidFill>
              </a:defRPr>
            </a:pPr>
            <a:r>
              <a:rPr sz="975">
                <a:solidFill>
                  <a:srgbClr val="52606D"/>
                </a:solidFill>
              </a:rPr>
              <a:t>Cloud Computing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422732AB-6BDD-4B2C-ABB9-29F53ECECC5E}"/>
              </a:ext>
            </a:extLst>
          </p:cNvPr>
          <p:cNvSpPr>
            <a:spLocks noGrp="1"/>
          </p:cNvSpPr>
          <p:nvPr/>
        </p:nvSpPr>
        <p:spPr>
          <a:xfrm>
            <a:off x="3381375" y="6419850"/>
            <a:ext cx="65722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975">
                <a:solidFill>
                  <a:srgbClr val="52606D"/>
                </a:solidFill>
              </a:defRPr>
            </a:pPr>
            <a:r>
              <a:rPr sz="975">
                <a:solidFill>
                  <a:srgbClr val="52606D"/>
                </a:solidFill>
              </a:rPr>
              <a:t>Presented by Gregor von Laszewski (laszewski@gmail.com)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2C362B91-6AC4-411D-A48E-B17F7A3B2680}"/>
              </a:ext>
            </a:extLst>
          </p:cNvPr>
          <p:cNvSpPr>
            <a:spLocks noGrp="1"/>
          </p:cNvSpPr>
          <p:nvPr/>
        </p:nvSpPr>
        <p:spPr>
          <a:xfrm>
            <a:off x="10858500" y="6419850"/>
            <a:ext cx="6477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975">
                <a:solidFill>
                  <a:srgbClr val="52606D"/>
                </a:solidFill>
              </a:defRPr>
            </a:pPr>
            <a:r>
              <a:rPr sz="975">
                <a:solidFill>
                  <a:srgbClr val="52606D"/>
                </a:solidFill>
              </a:rPr>
              <a:t>36</a:t>
            </a:r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D23A03DB-3F00-4FCD-99E8-2AA681C19133}"/>
              </a:ext>
            </a:extLst>
          </p:cNvPr>
          <p:cNvSpPr>
            <a:spLocks noGrp="1"/>
          </p:cNvSpPr>
          <p:nvPr/>
        </p:nvSpPr>
        <p:spPr>
          <a:xfrm>
            <a:off x="838200" y="1676400"/>
            <a:ext cx="95250" cy="95250"/>
          </a:xfrm>
          <a:prstGeom prst="ellipse">
            <a:avLst/>
          </a:prstGeom>
          <a:solidFill>
            <a:srgbClr val="38699C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B6394B18-D888-4CFD-A68F-0546C40F0F46}"/>
              </a:ext>
            </a:extLst>
          </p:cNvPr>
          <p:cNvSpPr>
            <a:spLocks noGrp="1"/>
          </p:cNvSpPr>
          <p:nvPr/>
        </p:nvSpPr>
        <p:spPr>
          <a:xfrm>
            <a:off x="1123950" y="1562100"/>
            <a:ext cx="9620250" cy="523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650">
                <a:solidFill>
                  <a:srgbClr val="17212B"/>
                </a:solidFill>
              </a:defRPr>
            </a:pPr>
            <a:r>
              <a:rPr sz="1650">
                <a:solidFill>
                  <a:srgbClr val="17212B"/>
                </a:solidFill>
              </a:rPr>
              <a:t>Networks connect users, services, data, and management interfaces.</a:t>
            </a:r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111006FC-A122-4A5C-8BC6-D33CE1DE1EBA}"/>
              </a:ext>
            </a:extLst>
          </p:cNvPr>
          <p:cNvSpPr>
            <a:spLocks noGrp="1"/>
          </p:cNvSpPr>
          <p:nvPr/>
        </p:nvSpPr>
        <p:spPr>
          <a:xfrm>
            <a:off x="838200" y="2419350"/>
            <a:ext cx="95250" cy="95250"/>
          </a:xfrm>
          <a:prstGeom prst="ellipse">
            <a:avLst/>
          </a:prstGeom>
          <a:solidFill>
            <a:srgbClr val="38699C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B853A34A-C280-4A5F-A1FC-C3951A49E0F1}"/>
              </a:ext>
            </a:extLst>
          </p:cNvPr>
          <p:cNvSpPr>
            <a:spLocks noGrp="1"/>
          </p:cNvSpPr>
          <p:nvPr/>
        </p:nvSpPr>
        <p:spPr>
          <a:xfrm>
            <a:off x="1123950" y="2305050"/>
            <a:ext cx="9620250" cy="523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650">
                <a:solidFill>
                  <a:srgbClr val="17212B"/>
                </a:solidFill>
              </a:defRPr>
            </a:pPr>
            <a:r>
              <a:rPr sz="1650">
                <a:solidFill>
                  <a:srgbClr val="17212B"/>
                </a:solidFill>
              </a:rPr>
              <a:t>Cloud networking uses software-defined constructs as well as physical networks.</a:t>
            </a:r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4A561FA6-33C8-485D-AD3D-30771C3A675F}"/>
              </a:ext>
            </a:extLst>
          </p:cNvPr>
          <p:cNvSpPr>
            <a:spLocks noGrp="1"/>
          </p:cNvSpPr>
          <p:nvPr/>
        </p:nvSpPr>
        <p:spPr>
          <a:xfrm>
            <a:off x="838200" y="3162300"/>
            <a:ext cx="95250" cy="95250"/>
          </a:xfrm>
          <a:prstGeom prst="ellipse">
            <a:avLst/>
          </a:prstGeom>
          <a:solidFill>
            <a:srgbClr val="38699C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B6CF920B-5718-4B22-B30A-09202F4446DC}"/>
              </a:ext>
            </a:extLst>
          </p:cNvPr>
          <p:cNvSpPr>
            <a:spLocks noGrp="1"/>
          </p:cNvSpPr>
          <p:nvPr/>
        </p:nvSpPr>
        <p:spPr>
          <a:xfrm>
            <a:off x="1123950" y="3048000"/>
            <a:ext cx="9620250" cy="523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650">
                <a:solidFill>
                  <a:srgbClr val="17212B"/>
                </a:solidFill>
              </a:defRPr>
            </a:pPr>
            <a:r>
              <a:rPr sz="1650">
                <a:solidFill>
                  <a:srgbClr val="17212B"/>
                </a:solidFill>
              </a:rPr>
              <a:t>Addressing, routing, segmentation, and policy remain fundamental.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F3A3AB9F-7558-4091-94CC-9506EAAB139B}"/>
              </a:ext>
            </a:extLst>
          </p:cNvPr>
          <p:cNvSpPr>
            <a:spLocks noGrp="1"/>
          </p:cNvSpPr>
          <p:nvPr/>
        </p:nvSpPr>
        <p:spPr>
          <a:xfrm>
            <a:off x="685800" y="4953000"/>
            <a:ext cx="10820400" cy="590550"/>
          </a:xfrm>
          <a:prstGeom prst="rect">
            <a:avLst/>
          </a:prstGeom>
          <a:solidFill>
            <a:srgbClr val="EAF2FA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138CDEBF-1B3E-4A1F-915B-2EE48DAED173}"/>
              </a:ext>
            </a:extLst>
          </p:cNvPr>
          <p:cNvSpPr>
            <a:spLocks noGrp="1"/>
          </p:cNvSpPr>
          <p:nvPr/>
        </p:nvSpPr>
        <p:spPr>
          <a:xfrm>
            <a:off x="952500" y="5114925"/>
            <a:ext cx="102870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650" b="1">
                <a:solidFill>
                  <a:srgbClr val="123B6D"/>
                </a:solidFill>
              </a:defRPr>
            </a:pPr>
            <a:r>
              <a:rPr sz="1650" b="1">
                <a:solidFill>
                  <a:srgbClr val="123B6D"/>
                </a:solidFill>
              </a:rPr>
              <a:t>Cloud does not make networking disappear; it makes it programmable.</a:t>
            </a:r>
          </a:p>
        </p:txBody>
      </p:sp>
    </p:spTree>
    <p:extLst>
      <p:ext uri="{BB962C8B-B14F-4D97-AF65-F5344CB8AC3E}">
        <p14:creationId xmlns:p14="http://schemas.microsoft.com/office/powerpoint/2010/main" val="157909448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13">
            <a:extLst>
              <a:ext uri="{FF2B5EF4-FFF2-40B4-BE49-F238E27FC236}">
                <a16:creationId xmlns:a16="http://schemas.microsoft.com/office/drawing/2014/main" id="{270FE515-0CAB-49B6-9EAC-BB33C8CBE128}"/>
              </a:ext>
            </a:extLst>
          </p:cNvPr>
          <p:cNvSpPr>
            <a:spLocks noGrp="1"/>
          </p:cNvSpPr>
          <p:nvPr/>
        </p:nvSpPr>
        <p:spPr>
          <a:xfrm>
            <a:off x="685800" y="400050"/>
            <a:ext cx="10001250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2700" b="1">
                <a:solidFill>
                  <a:srgbClr val="123B6D"/>
                </a:solidFill>
              </a:defRPr>
            </a:pPr>
            <a:r>
              <a:rPr sz="2700" b="1">
                <a:solidFill>
                  <a:srgbClr val="123B6D"/>
                </a:solidFill>
              </a:rPr>
              <a:t>Virtual networks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0BD41216-48B4-4314-83DB-5FD43A93FAE3}"/>
              </a:ext>
            </a:extLst>
          </p:cNvPr>
          <p:cNvSpPr>
            <a:spLocks noGrp="1"/>
          </p:cNvSpPr>
          <p:nvPr/>
        </p:nvSpPr>
        <p:spPr>
          <a:xfrm>
            <a:off x="685800" y="1028700"/>
            <a:ext cx="10820400" cy="38100"/>
          </a:xfrm>
          <a:prstGeom prst="rect">
            <a:avLst/>
          </a:prstGeom>
          <a:solidFill>
            <a:srgbClr val="123B6D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F987EB0F-5CF6-4D27-B8E3-DCFD9591D0EF}"/>
              </a:ext>
            </a:extLst>
          </p:cNvPr>
          <p:cNvSpPr>
            <a:spLocks noGrp="1"/>
          </p:cNvSpPr>
          <p:nvPr/>
        </p:nvSpPr>
        <p:spPr>
          <a:xfrm>
            <a:off x="685800" y="6419850"/>
            <a:ext cx="2143125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975">
                <a:solidFill>
                  <a:srgbClr val="52606D"/>
                </a:solidFill>
              </a:defRPr>
            </a:pPr>
            <a:r>
              <a:rPr sz="975">
                <a:solidFill>
                  <a:srgbClr val="52606D"/>
                </a:solidFill>
              </a:rPr>
              <a:t>Cloud Computing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2C226B17-3669-42A7-A7F8-5C8EB4B5733D}"/>
              </a:ext>
            </a:extLst>
          </p:cNvPr>
          <p:cNvSpPr>
            <a:spLocks noGrp="1"/>
          </p:cNvSpPr>
          <p:nvPr/>
        </p:nvSpPr>
        <p:spPr>
          <a:xfrm>
            <a:off x="3381375" y="6419850"/>
            <a:ext cx="65722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975">
                <a:solidFill>
                  <a:srgbClr val="52606D"/>
                </a:solidFill>
              </a:defRPr>
            </a:pPr>
            <a:r>
              <a:rPr sz="975">
                <a:solidFill>
                  <a:srgbClr val="52606D"/>
                </a:solidFill>
              </a:rPr>
              <a:t>Presented by Gregor von Laszewski (laszewski@gmail.com)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50D08C5A-4EE0-4049-BD32-64132275B88A}"/>
              </a:ext>
            </a:extLst>
          </p:cNvPr>
          <p:cNvSpPr>
            <a:spLocks noGrp="1"/>
          </p:cNvSpPr>
          <p:nvPr/>
        </p:nvSpPr>
        <p:spPr>
          <a:xfrm>
            <a:off x="10858500" y="6419850"/>
            <a:ext cx="6477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975">
                <a:solidFill>
                  <a:srgbClr val="52606D"/>
                </a:solidFill>
              </a:defRPr>
            </a:pPr>
            <a:r>
              <a:rPr sz="975">
                <a:solidFill>
                  <a:srgbClr val="52606D"/>
                </a:solidFill>
              </a:rPr>
              <a:t>37</a:t>
            </a:r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2D44F42B-9873-4875-BEA1-6278F5221C21}"/>
              </a:ext>
            </a:extLst>
          </p:cNvPr>
          <p:cNvSpPr>
            <a:spLocks noGrp="1"/>
          </p:cNvSpPr>
          <p:nvPr/>
        </p:nvSpPr>
        <p:spPr>
          <a:xfrm>
            <a:off x="838200" y="1676400"/>
            <a:ext cx="95250" cy="95250"/>
          </a:xfrm>
          <a:prstGeom prst="ellipse">
            <a:avLst/>
          </a:prstGeom>
          <a:solidFill>
            <a:srgbClr val="38699C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46BB4BEA-C89B-4A7C-9B38-85D9E43BBA1D}"/>
              </a:ext>
            </a:extLst>
          </p:cNvPr>
          <p:cNvSpPr>
            <a:spLocks noGrp="1"/>
          </p:cNvSpPr>
          <p:nvPr/>
        </p:nvSpPr>
        <p:spPr>
          <a:xfrm>
            <a:off x="1123950" y="1562100"/>
            <a:ext cx="9620250" cy="523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650">
                <a:solidFill>
                  <a:srgbClr val="17212B"/>
                </a:solidFill>
              </a:defRPr>
            </a:pPr>
            <a:r>
              <a:rPr sz="1650">
                <a:solidFill>
                  <a:srgbClr val="17212B"/>
                </a:solidFill>
              </a:rPr>
              <a:t>A virtual network defines an isolated logical network boundary.</a:t>
            </a:r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6E4AA344-FFD6-4F7B-9E3B-BCE7B04BF459}"/>
              </a:ext>
            </a:extLst>
          </p:cNvPr>
          <p:cNvSpPr>
            <a:spLocks noGrp="1"/>
          </p:cNvSpPr>
          <p:nvPr/>
        </p:nvSpPr>
        <p:spPr>
          <a:xfrm>
            <a:off x="838200" y="2419350"/>
            <a:ext cx="95250" cy="95250"/>
          </a:xfrm>
          <a:prstGeom prst="ellipse">
            <a:avLst/>
          </a:prstGeom>
          <a:solidFill>
            <a:srgbClr val="38699C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47206CCE-BA5A-48C9-AB25-883514790A2B}"/>
              </a:ext>
            </a:extLst>
          </p:cNvPr>
          <p:cNvSpPr>
            <a:spLocks noGrp="1"/>
          </p:cNvSpPr>
          <p:nvPr/>
        </p:nvSpPr>
        <p:spPr>
          <a:xfrm>
            <a:off x="1123950" y="2305050"/>
            <a:ext cx="9620250" cy="523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650">
                <a:solidFill>
                  <a:srgbClr val="17212B"/>
                </a:solidFill>
              </a:defRPr>
            </a:pPr>
            <a:r>
              <a:rPr sz="1650">
                <a:solidFill>
                  <a:srgbClr val="17212B"/>
                </a:solidFill>
              </a:rPr>
              <a:t>It contains address ranges, routing rules, and connectivity choices.</a:t>
            </a:r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6AA7CA91-1A55-4212-BFDA-713889CDE5A9}"/>
              </a:ext>
            </a:extLst>
          </p:cNvPr>
          <p:cNvSpPr>
            <a:spLocks noGrp="1"/>
          </p:cNvSpPr>
          <p:nvPr/>
        </p:nvSpPr>
        <p:spPr>
          <a:xfrm>
            <a:off x="838200" y="3162300"/>
            <a:ext cx="95250" cy="95250"/>
          </a:xfrm>
          <a:prstGeom prst="ellipse">
            <a:avLst/>
          </a:prstGeom>
          <a:solidFill>
            <a:srgbClr val="38699C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17602B5C-9B42-405B-B6B9-28063A037BE9}"/>
              </a:ext>
            </a:extLst>
          </p:cNvPr>
          <p:cNvSpPr>
            <a:spLocks noGrp="1"/>
          </p:cNvSpPr>
          <p:nvPr/>
        </p:nvSpPr>
        <p:spPr>
          <a:xfrm>
            <a:off x="1123950" y="3048000"/>
            <a:ext cx="9620250" cy="523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650">
                <a:solidFill>
                  <a:srgbClr val="17212B"/>
                </a:solidFill>
              </a:defRPr>
            </a:pPr>
            <a:r>
              <a:rPr sz="1650">
                <a:solidFill>
                  <a:srgbClr val="17212B"/>
                </a:solidFill>
              </a:rPr>
              <a:t>Treat it as a security and availability boundary—not just an IP-address container.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4637D795-B788-4EE8-B7E2-A12999649FFE}"/>
              </a:ext>
            </a:extLst>
          </p:cNvPr>
          <p:cNvSpPr>
            <a:spLocks noGrp="1"/>
          </p:cNvSpPr>
          <p:nvPr/>
        </p:nvSpPr>
        <p:spPr>
          <a:xfrm>
            <a:off x="685800" y="4953000"/>
            <a:ext cx="10820400" cy="590550"/>
          </a:xfrm>
          <a:prstGeom prst="rect">
            <a:avLst/>
          </a:prstGeom>
          <a:solidFill>
            <a:srgbClr val="EAF2FA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3CA572C1-92AA-465B-930F-2B6A3A09D35B}"/>
              </a:ext>
            </a:extLst>
          </p:cNvPr>
          <p:cNvSpPr>
            <a:spLocks noGrp="1"/>
          </p:cNvSpPr>
          <p:nvPr/>
        </p:nvSpPr>
        <p:spPr>
          <a:xfrm>
            <a:off x="952500" y="5114925"/>
            <a:ext cx="102870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650" b="1">
                <a:solidFill>
                  <a:srgbClr val="123B6D"/>
                </a:solidFill>
              </a:defRPr>
            </a:pPr>
            <a:r>
              <a:rPr sz="1650" b="1">
                <a:solidFill>
                  <a:srgbClr val="123B6D"/>
                </a:solidFill>
              </a:rPr>
              <a:t>Plan network structure early; retrofitting it later is expensive.</a:t>
            </a:r>
          </a:p>
        </p:txBody>
      </p:sp>
    </p:spTree>
    <p:extLst>
      <p:ext uri="{BB962C8B-B14F-4D97-AF65-F5344CB8AC3E}">
        <p14:creationId xmlns:p14="http://schemas.microsoft.com/office/powerpoint/2010/main" val="443820995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13">
            <a:extLst>
              <a:ext uri="{FF2B5EF4-FFF2-40B4-BE49-F238E27FC236}">
                <a16:creationId xmlns:a16="http://schemas.microsoft.com/office/drawing/2014/main" id="{CA2A8D8F-052F-460C-B566-43D4ADAFBF08}"/>
              </a:ext>
            </a:extLst>
          </p:cNvPr>
          <p:cNvSpPr>
            <a:spLocks noGrp="1"/>
          </p:cNvSpPr>
          <p:nvPr/>
        </p:nvSpPr>
        <p:spPr>
          <a:xfrm>
            <a:off x="685800" y="400050"/>
            <a:ext cx="10001250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2700" b="1">
                <a:solidFill>
                  <a:srgbClr val="123B6D"/>
                </a:solidFill>
              </a:defRPr>
            </a:pPr>
            <a:r>
              <a:rPr sz="2700" b="1">
                <a:solidFill>
                  <a:srgbClr val="123B6D"/>
                </a:solidFill>
              </a:rPr>
              <a:t>Subnets segment the network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2AF6A31A-B615-4EE2-AC6B-6156A7F29303}"/>
              </a:ext>
            </a:extLst>
          </p:cNvPr>
          <p:cNvSpPr>
            <a:spLocks noGrp="1"/>
          </p:cNvSpPr>
          <p:nvPr/>
        </p:nvSpPr>
        <p:spPr>
          <a:xfrm>
            <a:off x="685800" y="1028700"/>
            <a:ext cx="10820400" cy="38100"/>
          </a:xfrm>
          <a:prstGeom prst="rect">
            <a:avLst/>
          </a:prstGeom>
          <a:solidFill>
            <a:srgbClr val="123B6D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4C7569FC-8D1C-49FA-9A5E-1A09BE4AA446}"/>
              </a:ext>
            </a:extLst>
          </p:cNvPr>
          <p:cNvSpPr>
            <a:spLocks noGrp="1"/>
          </p:cNvSpPr>
          <p:nvPr/>
        </p:nvSpPr>
        <p:spPr>
          <a:xfrm>
            <a:off x="685800" y="6419850"/>
            <a:ext cx="2143125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975">
                <a:solidFill>
                  <a:srgbClr val="52606D"/>
                </a:solidFill>
              </a:defRPr>
            </a:pPr>
            <a:r>
              <a:rPr sz="975">
                <a:solidFill>
                  <a:srgbClr val="52606D"/>
                </a:solidFill>
              </a:rPr>
              <a:t>Cloud Computing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B519EB2D-975D-4AEE-BF3D-45C13C059B3A}"/>
              </a:ext>
            </a:extLst>
          </p:cNvPr>
          <p:cNvSpPr>
            <a:spLocks noGrp="1"/>
          </p:cNvSpPr>
          <p:nvPr/>
        </p:nvSpPr>
        <p:spPr>
          <a:xfrm>
            <a:off x="3381375" y="6419850"/>
            <a:ext cx="65722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975">
                <a:solidFill>
                  <a:srgbClr val="52606D"/>
                </a:solidFill>
              </a:defRPr>
            </a:pPr>
            <a:r>
              <a:rPr sz="975">
                <a:solidFill>
                  <a:srgbClr val="52606D"/>
                </a:solidFill>
              </a:rPr>
              <a:t>Presented by Gregor von Laszewski (laszewski@gmail.com)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B2A5D416-37AB-4223-8C09-DE8AFE41C9DE}"/>
              </a:ext>
            </a:extLst>
          </p:cNvPr>
          <p:cNvSpPr>
            <a:spLocks noGrp="1"/>
          </p:cNvSpPr>
          <p:nvPr/>
        </p:nvSpPr>
        <p:spPr>
          <a:xfrm>
            <a:off x="10858500" y="6419850"/>
            <a:ext cx="6477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975">
                <a:solidFill>
                  <a:srgbClr val="52606D"/>
                </a:solidFill>
              </a:defRPr>
            </a:pPr>
            <a:r>
              <a:rPr sz="975">
                <a:solidFill>
                  <a:srgbClr val="52606D"/>
                </a:solidFill>
              </a:rPr>
              <a:t>38</a:t>
            </a:r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1300B89D-4C69-4567-98C3-BAB7FD8B1E5F}"/>
              </a:ext>
            </a:extLst>
          </p:cNvPr>
          <p:cNvSpPr>
            <a:spLocks noGrp="1"/>
          </p:cNvSpPr>
          <p:nvPr/>
        </p:nvSpPr>
        <p:spPr>
          <a:xfrm>
            <a:off x="838200" y="1676400"/>
            <a:ext cx="95250" cy="95250"/>
          </a:xfrm>
          <a:prstGeom prst="ellipse">
            <a:avLst/>
          </a:prstGeom>
          <a:solidFill>
            <a:srgbClr val="38699C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2F0EBF2A-5CDF-45DA-BE8B-49096F4E19DD}"/>
              </a:ext>
            </a:extLst>
          </p:cNvPr>
          <p:cNvSpPr>
            <a:spLocks noGrp="1"/>
          </p:cNvSpPr>
          <p:nvPr/>
        </p:nvSpPr>
        <p:spPr>
          <a:xfrm>
            <a:off x="1123950" y="1562100"/>
            <a:ext cx="9620250" cy="523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650">
                <a:solidFill>
                  <a:srgbClr val="17212B"/>
                </a:solidFill>
              </a:defRPr>
            </a:pPr>
            <a:r>
              <a:rPr sz="1650">
                <a:solidFill>
                  <a:srgbClr val="17212B"/>
                </a:solidFill>
              </a:rPr>
              <a:t>Subnets divide an address range into smaller routable segments.</a:t>
            </a:r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E96D4ECF-E416-45C0-A103-0CD7C0C0CE45}"/>
              </a:ext>
            </a:extLst>
          </p:cNvPr>
          <p:cNvSpPr>
            <a:spLocks noGrp="1"/>
          </p:cNvSpPr>
          <p:nvPr/>
        </p:nvSpPr>
        <p:spPr>
          <a:xfrm>
            <a:off x="838200" y="2419350"/>
            <a:ext cx="95250" cy="95250"/>
          </a:xfrm>
          <a:prstGeom prst="ellipse">
            <a:avLst/>
          </a:prstGeom>
          <a:solidFill>
            <a:srgbClr val="38699C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496F7804-9726-488E-A8B5-E7ACDE53C997}"/>
              </a:ext>
            </a:extLst>
          </p:cNvPr>
          <p:cNvSpPr>
            <a:spLocks noGrp="1"/>
          </p:cNvSpPr>
          <p:nvPr/>
        </p:nvSpPr>
        <p:spPr>
          <a:xfrm>
            <a:off x="1123950" y="2305050"/>
            <a:ext cx="9620250" cy="523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650">
                <a:solidFill>
                  <a:srgbClr val="17212B"/>
                </a:solidFill>
              </a:defRPr>
            </a:pPr>
            <a:r>
              <a:rPr sz="1650">
                <a:solidFill>
                  <a:srgbClr val="17212B"/>
                </a:solidFill>
              </a:rPr>
              <a:t>Separate public-facing, application, and data workloads where appropriate.</a:t>
            </a:r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EF861305-A60D-4955-88DA-DB392C05BBCA}"/>
              </a:ext>
            </a:extLst>
          </p:cNvPr>
          <p:cNvSpPr>
            <a:spLocks noGrp="1"/>
          </p:cNvSpPr>
          <p:nvPr/>
        </p:nvSpPr>
        <p:spPr>
          <a:xfrm>
            <a:off x="838200" y="3162300"/>
            <a:ext cx="95250" cy="95250"/>
          </a:xfrm>
          <a:prstGeom prst="ellipse">
            <a:avLst/>
          </a:prstGeom>
          <a:solidFill>
            <a:srgbClr val="38699C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E107CA87-7103-4305-ACE6-8D6F77F33763}"/>
              </a:ext>
            </a:extLst>
          </p:cNvPr>
          <p:cNvSpPr>
            <a:spLocks noGrp="1"/>
          </p:cNvSpPr>
          <p:nvPr/>
        </p:nvSpPr>
        <p:spPr>
          <a:xfrm>
            <a:off x="1123950" y="3048000"/>
            <a:ext cx="9620250" cy="523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650">
                <a:solidFill>
                  <a:srgbClr val="17212B"/>
                </a:solidFill>
              </a:defRPr>
            </a:pPr>
            <a:r>
              <a:rPr sz="1650">
                <a:solidFill>
                  <a:srgbClr val="17212B"/>
                </a:solidFill>
              </a:rPr>
              <a:t>Segmentation helps reduce accidental exposure and clarifies traffic paths.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CD2F3FDF-8CE5-448F-8E55-EFBA9E7CBBFF}"/>
              </a:ext>
            </a:extLst>
          </p:cNvPr>
          <p:cNvSpPr>
            <a:spLocks noGrp="1"/>
          </p:cNvSpPr>
          <p:nvPr/>
        </p:nvSpPr>
        <p:spPr>
          <a:xfrm>
            <a:off x="685800" y="4953000"/>
            <a:ext cx="10820400" cy="590550"/>
          </a:xfrm>
          <a:prstGeom prst="rect">
            <a:avLst/>
          </a:prstGeom>
          <a:solidFill>
            <a:srgbClr val="EAF2FA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CFD1EB5B-0A3B-481B-8ECC-4117B5F023A6}"/>
              </a:ext>
            </a:extLst>
          </p:cNvPr>
          <p:cNvSpPr>
            <a:spLocks noGrp="1"/>
          </p:cNvSpPr>
          <p:nvPr/>
        </p:nvSpPr>
        <p:spPr>
          <a:xfrm>
            <a:off x="952500" y="5114925"/>
            <a:ext cx="102870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650" b="1">
                <a:solidFill>
                  <a:srgbClr val="123B6D"/>
                </a:solidFill>
              </a:defRPr>
            </a:pPr>
            <a:r>
              <a:rPr sz="1650" b="1">
                <a:solidFill>
                  <a:srgbClr val="123B6D"/>
                </a:solidFill>
              </a:rPr>
              <a:t>Every path into a sensitive subnet should be intentional and observable.</a:t>
            </a:r>
          </a:p>
        </p:txBody>
      </p:sp>
    </p:spTree>
    <p:extLst>
      <p:ext uri="{BB962C8B-B14F-4D97-AF65-F5344CB8AC3E}">
        <p14:creationId xmlns:p14="http://schemas.microsoft.com/office/powerpoint/2010/main" val="1875111160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13">
            <a:extLst>
              <a:ext uri="{FF2B5EF4-FFF2-40B4-BE49-F238E27FC236}">
                <a16:creationId xmlns:a16="http://schemas.microsoft.com/office/drawing/2014/main" id="{7CD6E6E1-17CD-4CBC-BCB9-C78146C01497}"/>
              </a:ext>
            </a:extLst>
          </p:cNvPr>
          <p:cNvSpPr>
            <a:spLocks noGrp="1"/>
          </p:cNvSpPr>
          <p:nvPr/>
        </p:nvSpPr>
        <p:spPr>
          <a:xfrm>
            <a:off x="685800" y="400050"/>
            <a:ext cx="10001250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2700" b="1">
                <a:solidFill>
                  <a:srgbClr val="123B6D"/>
                </a:solidFill>
              </a:defRPr>
            </a:pPr>
            <a:r>
              <a:rPr sz="2700" b="1">
                <a:solidFill>
                  <a:srgbClr val="123B6D"/>
                </a:solidFill>
              </a:rPr>
              <a:t>Load balancing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9CEFEA8C-3F33-4A37-B93A-4C660DEAC7D1}"/>
              </a:ext>
            </a:extLst>
          </p:cNvPr>
          <p:cNvSpPr>
            <a:spLocks noGrp="1"/>
          </p:cNvSpPr>
          <p:nvPr/>
        </p:nvSpPr>
        <p:spPr>
          <a:xfrm>
            <a:off x="685800" y="1028700"/>
            <a:ext cx="10820400" cy="38100"/>
          </a:xfrm>
          <a:prstGeom prst="rect">
            <a:avLst/>
          </a:prstGeom>
          <a:solidFill>
            <a:srgbClr val="123B6D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CF7DA487-BDDE-42E0-9C56-107C11C8120B}"/>
              </a:ext>
            </a:extLst>
          </p:cNvPr>
          <p:cNvSpPr>
            <a:spLocks noGrp="1"/>
          </p:cNvSpPr>
          <p:nvPr/>
        </p:nvSpPr>
        <p:spPr>
          <a:xfrm>
            <a:off x="685800" y="6419850"/>
            <a:ext cx="2143125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975">
                <a:solidFill>
                  <a:srgbClr val="52606D"/>
                </a:solidFill>
              </a:defRPr>
            </a:pPr>
            <a:r>
              <a:rPr sz="975">
                <a:solidFill>
                  <a:srgbClr val="52606D"/>
                </a:solidFill>
              </a:rPr>
              <a:t>Cloud Computing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AC57B5D0-5EAC-44CE-9855-65F04ECD153E}"/>
              </a:ext>
            </a:extLst>
          </p:cNvPr>
          <p:cNvSpPr>
            <a:spLocks noGrp="1"/>
          </p:cNvSpPr>
          <p:nvPr/>
        </p:nvSpPr>
        <p:spPr>
          <a:xfrm>
            <a:off x="3381375" y="6419850"/>
            <a:ext cx="65722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975">
                <a:solidFill>
                  <a:srgbClr val="52606D"/>
                </a:solidFill>
              </a:defRPr>
            </a:pPr>
            <a:r>
              <a:rPr sz="975">
                <a:solidFill>
                  <a:srgbClr val="52606D"/>
                </a:solidFill>
              </a:rPr>
              <a:t>Presented by Gregor von Laszewski (laszewski@gmail.com)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BAF4C2F4-2188-4DA2-881C-58BBC1A677A3}"/>
              </a:ext>
            </a:extLst>
          </p:cNvPr>
          <p:cNvSpPr>
            <a:spLocks noGrp="1"/>
          </p:cNvSpPr>
          <p:nvPr/>
        </p:nvSpPr>
        <p:spPr>
          <a:xfrm>
            <a:off x="10858500" y="6419850"/>
            <a:ext cx="6477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975">
                <a:solidFill>
                  <a:srgbClr val="52606D"/>
                </a:solidFill>
              </a:defRPr>
            </a:pPr>
            <a:r>
              <a:rPr sz="975">
                <a:solidFill>
                  <a:srgbClr val="52606D"/>
                </a:solidFill>
              </a:rPr>
              <a:t>39</a:t>
            </a:r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FAD74BFB-90E4-43C8-9D43-DFE8E1E05FA0}"/>
              </a:ext>
            </a:extLst>
          </p:cNvPr>
          <p:cNvSpPr>
            <a:spLocks noGrp="1"/>
          </p:cNvSpPr>
          <p:nvPr/>
        </p:nvSpPr>
        <p:spPr>
          <a:xfrm>
            <a:off x="838200" y="1676400"/>
            <a:ext cx="95250" cy="95250"/>
          </a:xfrm>
          <a:prstGeom prst="ellipse">
            <a:avLst/>
          </a:prstGeom>
          <a:solidFill>
            <a:srgbClr val="38699C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F0DA8211-BF4B-4E9C-809B-A6EF1D0B3024}"/>
              </a:ext>
            </a:extLst>
          </p:cNvPr>
          <p:cNvSpPr>
            <a:spLocks noGrp="1"/>
          </p:cNvSpPr>
          <p:nvPr/>
        </p:nvSpPr>
        <p:spPr>
          <a:xfrm>
            <a:off x="1123950" y="1562100"/>
            <a:ext cx="9620250" cy="523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650">
                <a:solidFill>
                  <a:srgbClr val="17212B"/>
                </a:solidFill>
              </a:defRPr>
            </a:pPr>
            <a:r>
              <a:rPr sz="1650">
                <a:solidFill>
                  <a:srgbClr val="17212B"/>
                </a:solidFill>
              </a:rPr>
              <a:t>A load balancer distributes traffic across healthy targets.</a:t>
            </a:r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D2DB6A5D-7F1B-4D57-AD8B-A22351B2A937}"/>
              </a:ext>
            </a:extLst>
          </p:cNvPr>
          <p:cNvSpPr>
            <a:spLocks noGrp="1"/>
          </p:cNvSpPr>
          <p:nvPr/>
        </p:nvSpPr>
        <p:spPr>
          <a:xfrm>
            <a:off x="838200" y="2419350"/>
            <a:ext cx="95250" cy="95250"/>
          </a:xfrm>
          <a:prstGeom prst="ellipse">
            <a:avLst/>
          </a:prstGeom>
          <a:solidFill>
            <a:srgbClr val="38699C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1855BA0E-7D6F-48FF-89B1-24C2059C2E9F}"/>
              </a:ext>
            </a:extLst>
          </p:cNvPr>
          <p:cNvSpPr>
            <a:spLocks noGrp="1"/>
          </p:cNvSpPr>
          <p:nvPr/>
        </p:nvSpPr>
        <p:spPr>
          <a:xfrm>
            <a:off x="1123950" y="2305050"/>
            <a:ext cx="9620250" cy="523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650">
                <a:solidFill>
                  <a:srgbClr val="17212B"/>
                </a:solidFill>
              </a:defRPr>
            </a:pPr>
            <a:r>
              <a:rPr sz="1650">
                <a:solidFill>
                  <a:srgbClr val="17212B"/>
                </a:solidFill>
              </a:rPr>
              <a:t>It can perform health checks, terminate encryption, and route requests.</a:t>
            </a:r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5A062CFC-5018-446C-A839-2B78EF06423C}"/>
              </a:ext>
            </a:extLst>
          </p:cNvPr>
          <p:cNvSpPr>
            <a:spLocks noGrp="1"/>
          </p:cNvSpPr>
          <p:nvPr/>
        </p:nvSpPr>
        <p:spPr>
          <a:xfrm>
            <a:off x="838200" y="3162300"/>
            <a:ext cx="95250" cy="95250"/>
          </a:xfrm>
          <a:prstGeom prst="ellipse">
            <a:avLst/>
          </a:prstGeom>
          <a:solidFill>
            <a:srgbClr val="38699C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D922EEC2-66A0-42D0-8225-E35F4CFA5561}"/>
              </a:ext>
            </a:extLst>
          </p:cNvPr>
          <p:cNvSpPr>
            <a:spLocks noGrp="1"/>
          </p:cNvSpPr>
          <p:nvPr/>
        </p:nvSpPr>
        <p:spPr>
          <a:xfrm>
            <a:off x="1123950" y="3048000"/>
            <a:ext cx="9620250" cy="523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650">
                <a:solidFill>
                  <a:srgbClr val="17212B"/>
                </a:solidFill>
              </a:defRPr>
            </a:pPr>
            <a:r>
              <a:rPr sz="1650">
                <a:solidFill>
                  <a:srgbClr val="17212B"/>
                </a:solidFill>
              </a:rPr>
              <a:t>It is useful only when the application has more than one healthy target.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7F8EF580-8F8C-4A9A-BB1F-4F86126BCEE7}"/>
              </a:ext>
            </a:extLst>
          </p:cNvPr>
          <p:cNvSpPr>
            <a:spLocks noGrp="1"/>
          </p:cNvSpPr>
          <p:nvPr/>
        </p:nvSpPr>
        <p:spPr>
          <a:xfrm>
            <a:off x="685800" y="4953000"/>
            <a:ext cx="10820400" cy="590550"/>
          </a:xfrm>
          <a:prstGeom prst="rect">
            <a:avLst/>
          </a:prstGeom>
          <a:solidFill>
            <a:srgbClr val="EAF2FA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FADB23FA-8A6A-4A12-B8DC-547826DD927F}"/>
              </a:ext>
            </a:extLst>
          </p:cNvPr>
          <p:cNvSpPr>
            <a:spLocks noGrp="1"/>
          </p:cNvSpPr>
          <p:nvPr/>
        </p:nvSpPr>
        <p:spPr>
          <a:xfrm>
            <a:off x="952500" y="5114925"/>
            <a:ext cx="102870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650" b="1">
                <a:solidFill>
                  <a:srgbClr val="123B6D"/>
                </a:solidFill>
              </a:defRPr>
            </a:pPr>
            <a:r>
              <a:rPr sz="1650" b="1">
                <a:solidFill>
                  <a:srgbClr val="123B6D"/>
                </a:solidFill>
              </a:rPr>
              <a:t>A load balancer is part of a resilience strategy, not a resilience guarantee.</a:t>
            </a:r>
          </a:p>
        </p:txBody>
      </p:sp>
    </p:spTree>
    <p:extLst>
      <p:ext uri="{BB962C8B-B14F-4D97-AF65-F5344CB8AC3E}">
        <p14:creationId xmlns:p14="http://schemas.microsoft.com/office/powerpoint/2010/main" val="1666029613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13">
            <a:extLst>
              <a:ext uri="{FF2B5EF4-FFF2-40B4-BE49-F238E27FC236}">
                <a16:creationId xmlns:a16="http://schemas.microsoft.com/office/drawing/2014/main" id="{1A0F7B93-8615-4992-B584-8773992D16E6}"/>
              </a:ext>
            </a:extLst>
          </p:cNvPr>
          <p:cNvSpPr>
            <a:spLocks noGrp="1"/>
          </p:cNvSpPr>
          <p:nvPr/>
        </p:nvSpPr>
        <p:spPr>
          <a:xfrm>
            <a:off x="685800" y="400050"/>
            <a:ext cx="10001250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2700" b="1">
                <a:solidFill>
                  <a:srgbClr val="123B6D"/>
                </a:solidFill>
              </a:defRPr>
            </a:pPr>
            <a:r>
              <a:rPr sz="2700" b="1">
                <a:solidFill>
                  <a:srgbClr val="123B6D"/>
                </a:solidFill>
              </a:rPr>
              <a:t>DNS and content delivery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B38291A2-F18B-49ED-8653-6B7F6E71C170}"/>
              </a:ext>
            </a:extLst>
          </p:cNvPr>
          <p:cNvSpPr>
            <a:spLocks noGrp="1"/>
          </p:cNvSpPr>
          <p:nvPr/>
        </p:nvSpPr>
        <p:spPr>
          <a:xfrm>
            <a:off x="685800" y="1028700"/>
            <a:ext cx="10820400" cy="38100"/>
          </a:xfrm>
          <a:prstGeom prst="rect">
            <a:avLst/>
          </a:prstGeom>
          <a:solidFill>
            <a:srgbClr val="123B6D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1DF10989-D086-4363-8755-E314E5C58CDC}"/>
              </a:ext>
            </a:extLst>
          </p:cNvPr>
          <p:cNvSpPr>
            <a:spLocks noGrp="1"/>
          </p:cNvSpPr>
          <p:nvPr/>
        </p:nvSpPr>
        <p:spPr>
          <a:xfrm>
            <a:off x="685800" y="6419850"/>
            <a:ext cx="2143125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975">
                <a:solidFill>
                  <a:srgbClr val="52606D"/>
                </a:solidFill>
              </a:defRPr>
            </a:pPr>
            <a:r>
              <a:rPr sz="975">
                <a:solidFill>
                  <a:srgbClr val="52606D"/>
                </a:solidFill>
              </a:rPr>
              <a:t>Cloud Computing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4728FBB8-5678-4E7B-B7B6-F66C00A5B4B0}"/>
              </a:ext>
            </a:extLst>
          </p:cNvPr>
          <p:cNvSpPr>
            <a:spLocks noGrp="1"/>
          </p:cNvSpPr>
          <p:nvPr/>
        </p:nvSpPr>
        <p:spPr>
          <a:xfrm>
            <a:off x="3381375" y="6419850"/>
            <a:ext cx="65722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975">
                <a:solidFill>
                  <a:srgbClr val="52606D"/>
                </a:solidFill>
              </a:defRPr>
            </a:pPr>
            <a:r>
              <a:rPr sz="975">
                <a:solidFill>
                  <a:srgbClr val="52606D"/>
                </a:solidFill>
              </a:rPr>
              <a:t>Presented by Gregor von Laszewski (laszewski@gmail.com)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46EFFE87-D6AA-45AE-9C0A-885BA3F8CCAC}"/>
              </a:ext>
            </a:extLst>
          </p:cNvPr>
          <p:cNvSpPr>
            <a:spLocks noGrp="1"/>
          </p:cNvSpPr>
          <p:nvPr/>
        </p:nvSpPr>
        <p:spPr>
          <a:xfrm>
            <a:off x="10858500" y="6419850"/>
            <a:ext cx="6477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975">
                <a:solidFill>
                  <a:srgbClr val="52606D"/>
                </a:solidFill>
              </a:defRPr>
            </a:pPr>
            <a:r>
              <a:rPr sz="975">
                <a:solidFill>
                  <a:srgbClr val="52606D"/>
                </a:solidFill>
              </a:rPr>
              <a:t>40</a:t>
            </a:r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2B06126C-1580-43BA-B899-7A75CF96CCE5}"/>
              </a:ext>
            </a:extLst>
          </p:cNvPr>
          <p:cNvSpPr>
            <a:spLocks noGrp="1"/>
          </p:cNvSpPr>
          <p:nvPr/>
        </p:nvSpPr>
        <p:spPr>
          <a:xfrm>
            <a:off x="838200" y="1676400"/>
            <a:ext cx="95250" cy="95250"/>
          </a:xfrm>
          <a:prstGeom prst="ellipse">
            <a:avLst/>
          </a:prstGeom>
          <a:solidFill>
            <a:srgbClr val="38699C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2FE7DD1F-B00B-4DE8-9BE8-9A484898C020}"/>
              </a:ext>
            </a:extLst>
          </p:cNvPr>
          <p:cNvSpPr>
            <a:spLocks noGrp="1"/>
          </p:cNvSpPr>
          <p:nvPr/>
        </p:nvSpPr>
        <p:spPr>
          <a:xfrm>
            <a:off x="1123950" y="1562100"/>
            <a:ext cx="9620250" cy="523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650">
                <a:solidFill>
                  <a:srgbClr val="17212B"/>
                </a:solidFill>
              </a:defRPr>
            </a:pPr>
            <a:r>
              <a:rPr sz="1650">
                <a:solidFill>
                  <a:srgbClr val="17212B"/>
                </a:solidFill>
              </a:rPr>
              <a:t>DNS translates names into reachable endpoints.</a:t>
            </a:r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87E9F656-A1B5-4760-B68D-FD7690B3FCF1}"/>
              </a:ext>
            </a:extLst>
          </p:cNvPr>
          <p:cNvSpPr>
            <a:spLocks noGrp="1"/>
          </p:cNvSpPr>
          <p:nvPr/>
        </p:nvSpPr>
        <p:spPr>
          <a:xfrm>
            <a:off x="838200" y="2419350"/>
            <a:ext cx="95250" cy="95250"/>
          </a:xfrm>
          <a:prstGeom prst="ellipse">
            <a:avLst/>
          </a:prstGeom>
          <a:solidFill>
            <a:srgbClr val="38699C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06F79286-1F30-4C63-8849-7B57810070B7}"/>
              </a:ext>
            </a:extLst>
          </p:cNvPr>
          <p:cNvSpPr>
            <a:spLocks noGrp="1"/>
          </p:cNvSpPr>
          <p:nvPr/>
        </p:nvSpPr>
        <p:spPr>
          <a:xfrm>
            <a:off x="1123950" y="2305050"/>
            <a:ext cx="9620250" cy="523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650">
                <a:solidFill>
                  <a:srgbClr val="17212B"/>
                </a:solidFill>
              </a:defRPr>
            </a:pPr>
            <a:r>
              <a:rPr sz="1650">
                <a:solidFill>
                  <a:srgbClr val="17212B"/>
                </a:solidFill>
              </a:rPr>
              <a:t>Content delivery networks cache content closer to users.</a:t>
            </a:r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6841EEDB-81FE-45AF-AB87-D9A6A4DDFDC7}"/>
              </a:ext>
            </a:extLst>
          </p:cNvPr>
          <p:cNvSpPr>
            <a:spLocks noGrp="1"/>
          </p:cNvSpPr>
          <p:nvPr/>
        </p:nvSpPr>
        <p:spPr>
          <a:xfrm>
            <a:off x="838200" y="3162300"/>
            <a:ext cx="95250" cy="95250"/>
          </a:xfrm>
          <a:prstGeom prst="ellipse">
            <a:avLst/>
          </a:prstGeom>
          <a:solidFill>
            <a:srgbClr val="38699C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F9F8D571-BC42-4BEC-AE3E-D0F084F9BBDA}"/>
              </a:ext>
            </a:extLst>
          </p:cNvPr>
          <p:cNvSpPr>
            <a:spLocks noGrp="1"/>
          </p:cNvSpPr>
          <p:nvPr/>
        </p:nvSpPr>
        <p:spPr>
          <a:xfrm>
            <a:off x="1123950" y="3048000"/>
            <a:ext cx="9620250" cy="523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650">
                <a:solidFill>
                  <a:srgbClr val="17212B"/>
                </a:solidFill>
              </a:defRPr>
            </a:pPr>
            <a:r>
              <a:rPr sz="1650">
                <a:solidFill>
                  <a:srgbClr val="17212B"/>
                </a:solidFill>
              </a:rPr>
              <a:t>Both can improve experience, but caching creates freshness and invalidation decisions.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C1991F22-26D8-4589-BA63-1BAAEE220B00}"/>
              </a:ext>
            </a:extLst>
          </p:cNvPr>
          <p:cNvSpPr>
            <a:spLocks noGrp="1"/>
          </p:cNvSpPr>
          <p:nvPr/>
        </p:nvSpPr>
        <p:spPr>
          <a:xfrm>
            <a:off x="685800" y="4953000"/>
            <a:ext cx="10820400" cy="590550"/>
          </a:xfrm>
          <a:prstGeom prst="rect">
            <a:avLst/>
          </a:prstGeom>
          <a:solidFill>
            <a:srgbClr val="EAF2FA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6ED23846-70EB-4EE3-862F-EAC02B2D2561}"/>
              </a:ext>
            </a:extLst>
          </p:cNvPr>
          <p:cNvSpPr>
            <a:spLocks noGrp="1"/>
          </p:cNvSpPr>
          <p:nvPr/>
        </p:nvSpPr>
        <p:spPr>
          <a:xfrm>
            <a:off x="952500" y="5114925"/>
            <a:ext cx="102870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650" b="1">
                <a:solidFill>
                  <a:srgbClr val="123B6D"/>
                </a:solidFill>
              </a:defRPr>
            </a:pPr>
            <a:r>
              <a:rPr sz="1650" b="1">
                <a:solidFill>
                  <a:srgbClr val="123B6D"/>
                </a:solidFill>
              </a:rPr>
              <a:t>A fast answer is valuable only if it is the right answer.</a:t>
            </a:r>
          </a:p>
        </p:txBody>
      </p:sp>
    </p:spTree>
    <p:extLst>
      <p:ext uri="{BB962C8B-B14F-4D97-AF65-F5344CB8AC3E}">
        <p14:creationId xmlns:p14="http://schemas.microsoft.com/office/powerpoint/2010/main" val="1766418890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15">
            <a:extLst>
              <a:ext uri="{FF2B5EF4-FFF2-40B4-BE49-F238E27FC236}">
                <a16:creationId xmlns:a16="http://schemas.microsoft.com/office/drawing/2014/main" id="{04A0470F-4A65-4198-BE35-8AC5433B9CFD}"/>
              </a:ext>
            </a:extLst>
          </p:cNvPr>
          <p:cNvSpPr>
            <a:spLocks noGrp="1"/>
          </p:cNvSpPr>
          <p:nvPr/>
        </p:nvSpPr>
        <p:spPr>
          <a:xfrm>
            <a:off x="685800" y="400050"/>
            <a:ext cx="10001250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2700" b="1">
                <a:solidFill>
                  <a:srgbClr val="123B6D"/>
                </a:solidFill>
              </a:defRPr>
            </a:pPr>
            <a:r>
              <a:rPr sz="2700" b="1">
                <a:solidFill>
                  <a:srgbClr val="123B6D"/>
                </a:solidFill>
              </a:rPr>
              <a:t>Compute: choose the execution model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35115BC7-0EAA-48EA-981B-353F5D213E4B}"/>
              </a:ext>
            </a:extLst>
          </p:cNvPr>
          <p:cNvSpPr>
            <a:spLocks noGrp="1"/>
          </p:cNvSpPr>
          <p:nvPr/>
        </p:nvSpPr>
        <p:spPr>
          <a:xfrm>
            <a:off x="685800" y="1028700"/>
            <a:ext cx="10820400" cy="38100"/>
          </a:xfrm>
          <a:prstGeom prst="rect">
            <a:avLst/>
          </a:prstGeom>
          <a:solidFill>
            <a:srgbClr val="123B6D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A2967152-CCBE-49A2-B657-B8C7C3B1B320}"/>
              </a:ext>
            </a:extLst>
          </p:cNvPr>
          <p:cNvSpPr>
            <a:spLocks noGrp="1"/>
          </p:cNvSpPr>
          <p:nvPr/>
        </p:nvSpPr>
        <p:spPr>
          <a:xfrm>
            <a:off x="685800" y="6419850"/>
            <a:ext cx="2143125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975">
                <a:solidFill>
                  <a:srgbClr val="52606D"/>
                </a:solidFill>
              </a:defRPr>
            </a:pPr>
            <a:r>
              <a:rPr sz="975">
                <a:solidFill>
                  <a:srgbClr val="52606D"/>
                </a:solidFill>
              </a:rPr>
              <a:t>Cloud Computing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01B1A291-7A83-42E7-928E-DCFAC2E2C7A9}"/>
              </a:ext>
            </a:extLst>
          </p:cNvPr>
          <p:cNvSpPr>
            <a:spLocks noGrp="1"/>
          </p:cNvSpPr>
          <p:nvPr/>
        </p:nvSpPr>
        <p:spPr>
          <a:xfrm>
            <a:off x="3381375" y="6419850"/>
            <a:ext cx="65722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975">
                <a:solidFill>
                  <a:srgbClr val="52606D"/>
                </a:solidFill>
              </a:defRPr>
            </a:pPr>
            <a:r>
              <a:rPr sz="975">
                <a:solidFill>
                  <a:srgbClr val="52606D"/>
                </a:solidFill>
              </a:rPr>
              <a:t>Presented by Gregor von Laszewski (laszewski@gmail.com)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F58A870B-357E-4FC5-ABA4-49AF1BA1B16B}"/>
              </a:ext>
            </a:extLst>
          </p:cNvPr>
          <p:cNvSpPr>
            <a:spLocks noGrp="1"/>
          </p:cNvSpPr>
          <p:nvPr/>
        </p:nvSpPr>
        <p:spPr>
          <a:xfrm>
            <a:off x="10858500" y="6419850"/>
            <a:ext cx="6477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975">
                <a:solidFill>
                  <a:srgbClr val="52606D"/>
                </a:solidFill>
              </a:defRPr>
            </a:pPr>
            <a:r>
              <a:rPr sz="975">
                <a:solidFill>
                  <a:srgbClr val="52606D"/>
                </a:solidFill>
              </a:rPr>
              <a:t>41</a:t>
            </a:r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1351CD19-50A2-4D28-BE20-753E3C7B4603}"/>
              </a:ext>
            </a:extLst>
          </p:cNvPr>
          <p:cNvSpPr>
            <a:spLocks noGrp="1"/>
          </p:cNvSpPr>
          <p:nvPr/>
        </p:nvSpPr>
        <p:spPr>
          <a:xfrm>
            <a:off x="838200" y="1676400"/>
            <a:ext cx="95250" cy="95250"/>
          </a:xfrm>
          <a:prstGeom prst="ellipse">
            <a:avLst/>
          </a:prstGeom>
          <a:solidFill>
            <a:srgbClr val="38699C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74C562C4-3F2F-4CE3-825F-B89EE023B4A1}"/>
              </a:ext>
            </a:extLst>
          </p:cNvPr>
          <p:cNvSpPr>
            <a:spLocks noGrp="1"/>
          </p:cNvSpPr>
          <p:nvPr/>
        </p:nvSpPr>
        <p:spPr>
          <a:xfrm>
            <a:off x="1123950" y="1562100"/>
            <a:ext cx="9620250" cy="523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650">
                <a:solidFill>
                  <a:srgbClr val="17212B"/>
                </a:solidFill>
              </a:defRPr>
            </a:pPr>
            <a:r>
              <a:rPr sz="1650">
                <a:solidFill>
                  <a:srgbClr val="17212B"/>
                </a:solidFill>
              </a:rPr>
              <a:t>Virtual machines offer familiar operating-system control.</a:t>
            </a:r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FCC3340D-A6BD-4C62-AC93-198BA5B9CA4B}"/>
              </a:ext>
            </a:extLst>
          </p:cNvPr>
          <p:cNvSpPr>
            <a:spLocks noGrp="1"/>
          </p:cNvSpPr>
          <p:nvPr/>
        </p:nvSpPr>
        <p:spPr>
          <a:xfrm>
            <a:off x="838200" y="2419350"/>
            <a:ext cx="95250" cy="95250"/>
          </a:xfrm>
          <a:prstGeom prst="ellipse">
            <a:avLst/>
          </a:prstGeom>
          <a:solidFill>
            <a:srgbClr val="38699C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33BD355D-657A-468E-8022-FECFA26A21B8}"/>
              </a:ext>
            </a:extLst>
          </p:cNvPr>
          <p:cNvSpPr>
            <a:spLocks noGrp="1"/>
          </p:cNvSpPr>
          <p:nvPr/>
        </p:nvSpPr>
        <p:spPr>
          <a:xfrm>
            <a:off x="1123950" y="2305050"/>
            <a:ext cx="9620250" cy="523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650">
                <a:solidFill>
                  <a:srgbClr val="17212B"/>
                </a:solidFill>
              </a:defRPr>
            </a:pPr>
            <a:r>
              <a:rPr sz="1650">
                <a:solidFill>
                  <a:srgbClr val="17212B"/>
                </a:solidFill>
              </a:rPr>
              <a:t>Containers package applications and dependencies consistently.</a:t>
            </a:r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A0E5324E-C479-4EDE-81B4-CFDFABB21748}"/>
              </a:ext>
            </a:extLst>
          </p:cNvPr>
          <p:cNvSpPr>
            <a:spLocks noGrp="1"/>
          </p:cNvSpPr>
          <p:nvPr/>
        </p:nvSpPr>
        <p:spPr>
          <a:xfrm>
            <a:off x="838200" y="3162300"/>
            <a:ext cx="95250" cy="95250"/>
          </a:xfrm>
          <a:prstGeom prst="ellipse">
            <a:avLst/>
          </a:prstGeom>
          <a:solidFill>
            <a:srgbClr val="38699C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74F6C104-1E87-4D14-8E87-01CBC2669B51}"/>
              </a:ext>
            </a:extLst>
          </p:cNvPr>
          <p:cNvSpPr>
            <a:spLocks noGrp="1"/>
          </p:cNvSpPr>
          <p:nvPr/>
        </p:nvSpPr>
        <p:spPr>
          <a:xfrm>
            <a:off x="1123950" y="3048000"/>
            <a:ext cx="9620250" cy="523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650">
                <a:solidFill>
                  <a:srgbClr val="17212B"/>
                </a:solidFill>
              </a:defRPr>
            </a:pPr>
            <a:r>
              <a:rPr sz="1650">
                <a:solidFill>
                  <a:srgbClr val="17212B"/>
                </a:solidFill>
              </a:rPr>
              <a:t>Managed containers and functions reduce some platform operation.</a:t>
            </a:r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9E276E95-80B5-43CF-B7E6-80E6A54FB9DA}"/>
              </a:ext>
            </a:extLst>
          </p:cNvPr>
          <p:cNvSpPr>
            <a:spLocks noGrp="1"/>
          </p:cNvSpPr>
          <p:nvPr/>
        </p:nvSpPr>
        <p:spPr>
          <a:xfrm>
            <a:off x="838200" y="3905250"/>
            <a:ext cx="95250" cy="95250"/>
          </a:xfrm>
          <a:prstGeom prst="ellipse">
            <a:avLst/>
          </a:prstGeom>
          <a:solidFill>
            <a:srgbClr val="38699C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89DA39F0-CE1E-4722-AD25-F68142241021}"/>
              </a:ext>
            </a:extLst>
          </p:cNvPr>
          <p:cNvSpPr>
            <a:spLocks noGrp="1"/>
          </p:cNvSpPr>
          <p:nvPr/>
        </p:nvSpPr>
        <p:spPr>
          <a:xfrm>
            <a:off x="1123950" y="3790950"/>
            <a:ext cx="9620250" cy="523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650">
                <a:solidFill>
                  <a:srgbClr val="17212B"/>
                </a:solidFill>
              </a:defRPr>
            </a:pPr>
            <a:r>
              <a:rPr sz="1650">
                <a:solidFill>
                  <a:srgbClr val="17212B"/>
                </a:solidFill>
              </a:rPr>
              <a:t>The simplest viable model is usually the best starting point.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30787628-54AA-4FDE-B3B8-891D59191AB9}"/>
              </a:ext>
            </a:extLst>
          </p:cNvPr>
          <p:cNvSpPr>
            <a:spLocks noGrp="1"/>
          </p:cNvSpPr>
          <p:nvPr/>
        </p:nvSpPr>
        <p:spPr>
          <a:xfrm>
            <a:off x="685800" y="4953000"/>
            <a:ext cx="10820400" cy="590550"/>
          </a:xfrm>
          <a:prstGeom prst="rect">
            <a:avLst/>
          </a:prstGeom>
          <a:solidFill>
            <a:srgbClr val="EAF2FA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2836B516-1BD4-4039-A325-3CF511EEF9FD}"/>
              </a:ext>
            </a:extLst>
          </p:cNvPr>
          <p:cNvSpPr>
            <a:spLocks noGrp="1"/>
          </p:cNvSpPr>
          <p:nvPr/>
        </p:nvSpPr>
        <p:spPr>
          <a:xfrm>
            <a:off x="952500" y="5114925"/>
            <a:ext cx="102870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650" b="1">
                <a:solidFill>
                  <a:srgbClr val="123B6D"/>
                </a:solidFill>
              </a:defRPr>
            </a:pPr>
            <a:r>
              <a:rPr sz="1650" b="1">
                <a:solidFill>
                  <a:srgbClr val="123B6D"/>
                </a:solidFill>
              </a:rPr>
              <a:t>Pick compute based on workload shape, team skills, and operational burden.</a:t>
            </a:r>
          </a:p>
        </p:txBody>
      </p:sp>
    </p:spTree>
    <p:extLst>
      <p:ext uri="{BB962C8B-B14F-4D97-AF65-F5344CB8AC3E}">
        <p14:creationId xmlns:p14="http://schemas.microsoft.com/office/powerpoint/2010/main" val="1746827459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13">
            <a:extLst>
              <a:ext uri="{FF2B5EF4-FFF2-40B4-BE49-F238E27FC236}">
                <a16:creationId xmlns:a16="http://schemas.microsoft.com/office/drawing/2014/main" id="{76DDDDF6-DA7F-4971-92F0-0F7E787F121B}"/>
              </a:ext>
            </a:extLst>
          </p:cNvPr>
          <p:cNvSpPr>
            <a:spLocks noGrp="1"/>
          </p:cNvSpPr>
          <p:nvPr/>
        </p:nvSpPr>
        <p:spPr>
          <a:xfrm>
            <a:off x="685800" y="400050"/>
            <a:ext cx="10001250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2700" b="1">
                <a:solidFill>
                  <a:srgbClr val="123B6D"/>
                </a:solidFill>
              </a:defRPr>
            </a:pPr>
            <a:r>
              <a:rPr sz="2700" b="1">
                <a:solidFill>
                  <a:srgbClr val="123B6D"/>
                </a:solidFill>
              </a:rPr>
              <a:t>Virtual machines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B1E427F9-0D7A-473A-90B4-C1B9808A007A}"/>
              </a:ext>
            </a:extLst>
          </p:cNvPr>
          <p:cNvSpPr>
            <a:spLocks noGrp="1"/>
          </p:cNvSpPr>
          <p:nvPr/>
        </p:nvSpPr>
        <p:spPr>
          <a:xfrm>
            <a:off x="685800" y="1028700"/>
            <a:ext cx="10820400" cy="38100"/>
          </a:xfrm>
          <a:prstGeom prst="rect">
            <a:avLst/>
          </a:prstGeom>
          <a:solidFill>
            <a:srgbClr val="123B6D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9553A4D6-0D44-479E-BEC6-AE7223956F18}"/>
              </a:ext>
            </a:extLst>
          </p:cNvPr>
          <p:cNvSpPr>
            <a:spLocks noGrp="1"/>
          </p:cNvSpPr>
          <p:nvPr/>
        </p:nvSpPr>
        <p:spPr>
          <a:xfrm>
            <a:off x="685800" y="6419850"/>
            <a:ext cx="2143125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975">
                <a:solidFill>
                  <a:srgbClr val="52606D"/>
                </a:solidFill>
              </a:defRPr>
            </a:pPr>
            <a:r>
              <a:rPr sz="975">
                <a:solidFill>
                  <a:srgbClr val="52606D"/>
                </a:solidFill>
              </a:rPr>
              <a:t>Cloud Computing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63319203-424F-4829-A0F2-4D67BA7F9DC7}"/>
              </a:ext>
            </a:extLst>
          </p:cNvPr>
          <p:cNvSpPr>
            <a:spLocks noGrp="1"/>
          </p:cNvSpPr>
          <p:nvPr/>
        </p:nvSpPr>
        <p:spPr>
          <a:xfrm>
            <a:off x="3381375" y="6419850"/>
            <a:ext cx="65722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975">
                <a:solidFill>
                  <a:srgbClr val="52606D"/>
                </a:solidFill>
              </a:defRPr>
            </a:pPr>
            <a:r>
              <a:rPr sz="975">
                <a:solidFill>
                  <a:srgbClr val="52606D"/>
                </a:solidFill>
              </a:rPr>
              <a:t>Presented by Gregor von Laszewski (laszewski@gmail.com)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13FFF127-1A9B-4023-9B1D-5C416F56FB78}"/>
              </a:ext>
            </a:extLst>
          </p:cNvPr>
          <p:cNvSpPr>
            <a:spLocks noGrp="1"/>
          </p:cNvSpPr>
          <p:nvPr/>
        </p:nvSpPr>
        <p:spPr>
          <a:xfrm>
            <a:off x="10858500" y="6419850"/>
            <a:ext cx="6477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975">
                <a:solidFill>
                  <a:srgbClr val="52606D"/>
                </a:solidFill>
              </a:defRPr>
            </a:pPr>
            <a:r>
              <a:rPr sz="975">
                <a:solidFill>
                  <a:srgbClr val="52606D"/>
                </a:solidFill>
              </a:rPr>
              <a:t>42</a:t>
            </a:r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18395CFF-B1AB-4107-A4CE-E8E3D819E607}"/>
              </a:ext>
            </a:extLst>
          </p:cNvPr>
          <p:cNvSpPr>
            <a:spLocks noGrp="1"/>
          </p:cNvSpPr>
          <p:nvPr/>
        </p:nvSpPr>
        <p:spPr>
          <a:xfrm>
            <a:off x="838200" y="1676400"/>
            <a:ext cx="95250" cy="95250"/>
          </a:xfrm>
          <a:prstGeom prst="ellipse">
            <a:avLst/>
          </a:prstGeom>
          <a:solidFill>
            <a:srgbClr val="38699C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7F80FB44-ABE4-4B9E-A15A-EE49306066EB}"/>
              </a:ext>
            </a:extLst>
          </p:cNvPr>
          <p:cNvSpPr>
            <a:spLocks noGrp="1"/>
          </p:cNvSpPr>
          <p:nvPr/>
        </p:nvSpPr>
        <p:spPr>
          <a:xfrm>
            <a:off x="1123950" y="1562100"/>
            <a:ext cx="9620250" cy="523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650">
                <a:solidFill>
                  <a:srgbClr val="17212B"/>
                </a:solidFill>
              </a:defRPr>
            </a:pPr>
            <a:r>
              <a:rPr sz="1650">
                <a:solidFill>
                  <a:srgbClr val="17212B"/>
                </a:solidFill>
              </a:rPr>
              <a:t>A VM is a software-defined computer with an operating system.</a:t>
            </a:r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E52A3332-F763-455F-B2BC-3A3B551F68D7}"/>
              </a:ext>
            </a:extLst>
          </p:cNvPr>
          <p:cNvSpPr>
            <a:spLocks noGrp="1"/>
          </p:cNvSpPr>
          <p:nvPr/>
        </p:nvSpPr>
        <p:spPr>
          <a:xfrm>
            <a:off x="838200" y="2419350"/>
            <a:ext cx="95250" cy="95250"/>
          </a:xfrm>
          <a:prstGeom prst="ellipse">
            <a:avLst/>
          </a:prstGeom>
          <a:solidFill>
            <a:srgbClr val="38699C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B0ECACDD-9577-4306-BDB3-B0D934C01147}"/>
              </a:ext>
            </a:extLst>
          </p:cNvPr>
          <p:cNvSpPr>
            <a:spLocks noGrp="1"/>
          </p:cNvSpPr>
          <p:nvPr/>
        </p:nvSpPr>
        <p:spPr>
          <a:xfrm>
            <a:off x="1123950" y="2305050"/>
            <a:ext cx="9620250" cy="523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650">
                <a:solidFill>
                  <a:srgbClr val="17212B"/>
                </a:solidFill>
              </a:defRPr>
            </a:pPr>
            <a:r>
              <a:rPr sz="1650">
                <a:solidFill>
                  <a:srgbClr val="17212B"/>
                </a:solidFill>
              </a:rPr>
              <a:t>VMs work well for legacy software, special runtimes, and controlled environments.</a:t>
            </a:r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0C2DD800-4242-42DD-8862-8493A2331917}"/>
              </a:ext>
            </a:extLst>
          </p:cNvPr>
          <p:cNvSpPr>
            <a:spLocks noGrp="1"/>
          </p:cNvSpPr>
          <p:nvPr/>
        </p:nvSpPr>
        <p:spPr>
          <a:xfrm>
            <a:off x="838200" y="3162300"/>
            <a:ext cx="95250" cy="95250"/>
          </a:xfrm>
          <a:prstGeom prst="ellipse">
            <a:avLst/>
          </a:prstGeom>
          <a:solidFill>
            <a:srgbClr val="38699C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D4185997-2D9D-4D5D-9601-652BF49FB7BA}"/>
              </a:ext>
            </a:extLst>
          </p:cNvPr>
          <p:cNvSpPr>
            <a:spLocks noGrp="1"/>
          </p:cNvSpPr>
          <p:nvPr/>
        </p:nvSpPr>
        <p:spPr>
          <a:xfrm>
            <a:off x="1123950" y="3048000"/>
            <a:ext cx="9620250" cy="523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650">
                <a:solidFill>
                  <a:srgbClr val="17212B"/>
                </a:solidFill>
              </a:defRPr>
            </a:pPr>
            <a:r>
              <a:rPr sz="1650">
                <a:solidFill>
                  <a:srgbClr val="17212B"/>
                </a:solidFill>
              </a:rPr>
              <a:t>Teams must manage images, patches, capacity, and health.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E3D1A2AE-0C16-455E-9877-106A2A6D264A}"/>
              </a:ext>
            </a:extLst>
          </p:cNvPr>
          <p:cNvSpPr>
            <a:spLocks noGrp="1"/>
          </p:cNvSpPr>
          <p:nvPr/>
        </p:nvSpPr>
        <p:spPr>
          <a:xfrm>
            <a:off x="685800" y="4953000"/>
            <a:ext cx="10820400" cy="590550"/>
          </a:xfrm>
          <a:prstGeom prst="rect">
            <a:avLst/>
          </a:prstGeom>
          <a:solidFill>
            <a:srgbClr val="EAF2FA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64A26961-734A-4B1C-B200-D070CEA0F9DA}"/>
              </a:ext>
            </a:extLst>
          </p:cNvPr>
          <p:cNvSpPr>
            <a:spLocks noGrp="1"/>
          </p:cNvSpPr>
          <p:nvPr/>
        </p:nvSpPr>
        <p:spPr>
          <a:xfrm>
            <a:off x="952500" y="5114925"/>
            <a:ext cx="102870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650" b="1">
                <a:solidFill>
                  <a:srgbClr val="123B6D"/>
                </a:solidFill>
              </a:defRPr>
            </a:pPr>
            <a:r>
              <a:rPr sz="1650" b="1">
                <a:solidFill>
                  <a:srgbClr val="123B6D"/>
                </a:solidFill>
              </a:rPr>
              <a:t>VMs are flexible because they expose more choices—and more work.</a:t>
            </a:r>
          </a:p>
        </p:txBody>
      </p:sp>
    </p:spTree>
    <p:extLst>
      <p:ext uri="{BB962C8B-B14F-4D97-AF65-F5344CB8AC3E}">
        <p14:creationId xmlns:p14="http://schemas.microsoft.com/office/powerpoint/2010/main" val="698762833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13">
            <a:extLst>
              <a:ext uri="{FF2B5EF4-FFF2-40B4-BE49-F238E27FC236}">
                <a16:creationId xmlns:a16="http://schemas.microsoft.com/office/drawing/2014/main" id="{9C114206-3C8A-4B3D-8A4A-C6642FA93D43}"/>
              </a:ext>
            </a:extLst>
          </p:cNvPr>
          <p:cNvSpPr>
            <a:spLocks noGrp="1"/>
          </p:cNvSpPr>
          <p:nvPr/>
        </p:nvSpPr>
        <p:spPr>
          <a:xfrm>
            <a:off x="685800" y="400050"/>
            <a:ext cx="10001250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2700" b="1">
                <a:solidFill>
                  <a:srgbClr val="123B6D"/>
                </a:solidFill>
              </a:defRPr>
            </a:pPr>
            <a:r>
              <a:rPr sz="2700" b="1">
                <a:solidFill>
                  <a:srgbClr val="123B6D"/>
                </a:solidFill>
              </a:rPr>
              <a:t>Containers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0FA5D65F-DA66-47AC-8A9E-A7D89D2AAA52}"/>
              </a:ext>
            </a:extLst>
          </p:cNvPr>
          <p:cNvSpPr>
            <a:spLocks noGrp="1"/>
          </p:cNvSpPr>
          <p:nvPr/>
        </p:nvSpPr>
        <p:spPr>
          <a:xfrm>
            <a:off x="685800" y="1028700"/>
            <a:ext cx="10820400" cy="38100"/>
          </a:xfrm>
          <a:prstGeom prst="rect">
            <a:avLst/>
          </a:prstGeom>
          <a:solidFill>
            <a:srgbClr val="123B6D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1644B7B9-CF8D-4E27-8CC3-17DA5FEB4A50}"/>
              </a:ext>
            </a:extLst>
          </p:cNvPr>
          <p:cNvSpPr>
            <a:spLocks noGrp="1"/>
          </p:cNvSpPr>
          <p:nvPr/>
        </p:nvSpPr>
        <p:spPr>
          <a:xfrm>
            <a:off x="685800" y="6419850"/>
            <a:ext cx="2143125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975">
                <a:solidFill>
                  <a:srgbClr val="52606D"/>
                </a:solidFill>
              </a:defRPr>
            </a:pPr>
            <a:r>
              <a:rPr sz="975">
                <a:solidFill>
                  <a:srgbClr val="52606D"/>
                </a:solidFill>
              </a:rPr>
              <a:t>Cloud Computing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5C07F412-13AC-415E-9789-2EC7850E22BC}"/>
              </a:ext>
            </a:extLst>
          </p:cNvPr>
          <p:cNvSpPr>
            <a:spLocks noGrp="1"/>
          </p:cNvSpPr>
          <p:nvPr/>
        </p:nvSpPr>
        <p:spPr>
          <a:xfrm>
            <a:off x="3381375" y="6419850"/>
            <a:ext cx="65722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975">
                <a:solidFill>
                  <a:srgbClr val="52606D"/>
                </a:solidFill>
              </a:defRPr>
            </a:pPr>
            <a:r>
              <a:rPr sz="975">
                <a:solidFill>
                  <a:srgbClr val="52606D"/>
                </a:solidFill>
              </a:rPr>
              <a:t>Presented by Gregor von Laszewski (laszewski@gmail.com)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5E1F3485-E01B-4408-9F30-68A9161149D7}"/>
              </a:ext>
            </a:extLst>
          </p:cNvPr>
          <p:cNvSpPr>
            <a:spLocks noGrp="1"/>
          </p:cNvSpPr>
          <p:nvPr/>
        </p:nvSpPr>
        <p:spPr>
          <a:xfrm>
            <a:off x="10858500" y="6419850"/>
            <a:ext cx="6477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975">
                <a:solidFill>
                  <a:srgbClr val="52606D"/>
                </a:solidFill>
              </a:defRPr>
            </a:pPr>
            <a:r>
              <a:rPr sz="975">
                <a:solidFill>
                  <a:srgbClr val="52606D"/>
                </a:solidFill>
              </a:rPr>
              <a:t>43</a:t>
            </a:r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50AA9723-BB44-4E16-8B39-76115AB69544}"/>
              </a:ext>
            </a:extLst>
          </p:cNvPr>
          <p:cNvSpPr>
            <a:spLocks noGrp="1"/>
          </p:cNvSpPr>
          <p:nvPr/>
        </p:nvSpPr>
        <p:spPr>
          <a:xfrm>
            <a:off x="838200" y="1676400"/>
            <a:ext cx="95250" cy="95250"/>
          </a:xfrm>
          <a:prstGeom prst="ellipse">
            <a:avLst/>
          </a:prstGeom>
          <a:solidFill>
            <a:srgbClr val="38699C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25029107-7CC3-4C04-9D1F-578F5613F6B0}"/>
              </a:ext>
            </a:extLst>
          </p:cNvPr>
          <p:cNvSpPr>
            <a:spLocks noGrp="1"/>
          </p:cNvSpPr>
          <p:nvPr/>
        </p:nvSpPr>
        <p:spPr>
          <a:xfrm>
            <a:off x="1123950" y="1562100"/>
            <a:ext cx="9620250" cy="523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650">
                <a:solidFill>
                  <a:srgbClr val="17212B"/>
                </a:solidFill>
              </a:defRPr>
            </a:pPr>
            <a:r>
              <a:rPr sz="1650">
                <a:solidFill>
                  <a:srgbClr val="17212B"/>
                </a:solidFill>
              </a:rPr>
              <a:t>Containers package an application and its dependencies into a portable unit.</a:t>
            </a:r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9EA5EBBF-7FF0-45F9-BFE9-7D555FC33693}"/>
              </a:ext>
            </a:extLst>
          </p:cNvPr>
          <p:cNvSpPr>
            <a:spLocks noGrp="1"/>
          </p:cNvSpPr>
          <p:nvPr/>
        </p:nvSpPr>
        <p:spPr>
          <a:xfrm>
            <a:off x="838200" y="2419350"/>
            <a:ext cx="95250" cy="95250"/>
          </a:xfrm>
          <a:prstGeom prst="ellipse">
            <a:avLst/>
          </a:prstGeom>
          <a:solidFill>
            <a:srgbClr val="38699C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09DE367A-9E0E-4365-937C-9D3F9915D197}"/>
              </a:ext>
            </a:extLst>
          </p:cNvPr>
          <p:cNvSpPr>
            <a:spLocks noGrp="1"/>
          </p:cNvSpPr>
          <p:nvPr/>
        </p:nvSpPr>
        <p:spPr>
          <a:xfrm>
            <a:off x="1123950" y="2305050"/>
            <a:ext cx="9620250" cy="523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650">
                <a:solidFill>
                  <a:srgbClr val="17212B"/>
                </a:solidFill>
              </a:defRPr>
            </a:pPr>
            <a:r>
              <a:rPr sz="1650">
                <a:solidFill>
                  <a:srgbClr val="17212B"/>
                </a:solidFill>
              </a:rPr>
              <a:t>They encourage repeatable deployment across environments.</a:t>
            </a:r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072673B4-81F5-42E1-A949-1E5E4253167F}"/>
              </a:ext>
            </a:extLst>
          </p:cNvPr>
          <p:cNvSpPr>
            <a:spLocks noGrp="1"/>
          </p:cNvSpPr>
          <p:nvPr/>
        </p:nvSpPr>
        <p:spPr>
          <a:xfrm>
            <a:off x="838200" y="3162300"/>
            <a:ext cx="95250" cy="95250"/>
          </a:xfrm>
          <a:prstGeom prst="ellipse">
            <a:avLst/>
          </a:prstGeom>
          <a:solidFill>
            <a:srgbClr val="38699C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06FC2BF9-8C03-4339-A547-1BDDDA06E50F}"/>
              </a:ext>
            </a:extLst>
          </p:cNvPr>
          <p:cNvSpPr>
            <a:spLocks noGrp="1"/>
          </p:cNvSpPr>
          <p:nvPr/>
        </p:nvSpPr>
        <p:spPr>
          <a:xfrm>
            <a:off x="1123950" y="3048000"/>
            <a:ext cx="9620250" cy="523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650">
                <a:solidFill>
                  <a:srgbClr val="17212B"/>
                </a:solidFill>
              </a:defRPr>
            </a:pPr>
            <a:r>
              <a:rPr sz="1650">
                <a:solidFill>
                  <a:srgbClr val="17212B"/>
                </a:solidFill>
              </a:rPr>
              <a:t>Containers still require image security, runtime policy, networking, and observability.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17569A1F-2130-450F-B62A-289965B5E810}"/>
              </a:ext>
            </a:extLst>
          </p:cNvPr>
          <p:cNvSpPr>
            <a:spLocks noGrp="1"/>
          </p:cNvSpPr>
          <p:nvPr/>
        </p:nvSpPr>
        <p:spPr>
          <a:xfrm>
            <a:off x="685800" y="4953000"/>
            <a:ext cx="10820400" cy="590550"/>
          </a:xfrm>
          <a:prstGeom prst="rect">
            <a:avLst/>
          </a:prstGeom>
          <a:solidFill>
            <a:srgbClr val="EAF2FA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AA58191F-C391-433E-B91C-1B00F9EA25D2}"/>
              </a:ext>
            </a:extLst>
          </p:cNvPr>
          <p:cNvSpPr>
            <a:spLocks noGrp="1"/>
          </p:cNvSpPr>
          <p:nvPr/>
        </p:nvSpPr>
        <p:spPr>
          <a:xfrm>
            <a:off x="952500" y="5114925"/>
            <a:ext cx="102870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650" b="1">
                <a:solidFill>
                  <a:srgbClr val="123B6D"/>
                </a:solidFill>
              </a:defRPr>
            </a:pPr>
            <a:r>
              <a:rPr sz="1650" b="1">
                <a:solidFill>
                  <a:srgbClr val="123B6D"/>
                </a:solidFill>
              </a:rPr>
              <a:t>A container is packaging; it is not an architecture by itself.</a:t>
            </a:r>
          </a:p>
        </p:txBody>
      </p:sp>
    </p:spTree>
    <p:extLst>
      <p:ext uri="{BB962C8B-B14F-4D97-AF65-F5344CB8AC3E}">
        <p14:creationId xmlns:p14="http://schemas.microsoft.com/office/powerpoint/2010/main" val="428268976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13">
            <a:extLst>
              <a:ext uri="{FF2B5EF4-FFF2-40B4-BE49-F238E27FC236}">
                <a16:creationId xmlns:a16="http://schemas.microsoft.com/office/drawing/2014/main" id="{742FA636-2DBB-4C1C-87FE-B5CF211F69EF}"/>
              </a:ext>
            </a:extLst>
          </p:cNvPr>
          <p:cNvSpPr>
            <a:spLocks noGrp="1"/>
          </p:cNvSpPr>
          <p:nvPr/>
        </p:nvSpPr>
        <p:spPr>
          <a:xfrm>
            <a:off x="685800" y="400050"/>
            <a:ext cx="10001250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2700" b="1">
                <a:solidFill>
                  <a:srgbClr val="123B6D"/>
                </a:solidFill>
              </a:defRPr>
            </a:pPr>
            <a:r>
              <a:rPr sz="2700" b="1">
                <a:solidFill>
                  <a:srgbClr val="123B6D"/>
                </a:solidFill>
              </a:rPr>
              <a:t>Container orchestration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C27FB1BA-E713-413A-A702-FE453B526626}"/>
              </a:ext>
            </a:extLst>
          </p:cNvPr>
          <p:cNvSpPr>
            <a:spLocks noGrp="1"/>
          </p:cNvSpPr>
          <p:nvPr/>
        </p:nvSpPr>
        <p:spPr>
          <a:xfrm>
            <a:off x="685800" y="1028700"/>
            <a:ext cx="10820400" cy="38100"/>
          </a:xfrm>
          <a:prstGeom prst="rect">
            <a:avLst/>
          </a:prstGeom>
          <a:solidFill>
            <a:srgbClr val="123B6D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0C969897-3EE0-4300-AA2F-8D31E062B2E4}"/>
              </a:ext>
            </a:extLst>
          </p:cNvPr>
          <p:cNvSpPr>
            <a:spLocks noGrp="1"/>
          </p:cNvSpPr>
          <p:nvPr/>
        </p:nvSpPr>
        <p:spPr>
          <a:xfrm>
            <a:off x="685800" y="6419850"/>
            <a:ext cx="2143125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975">
                <a:solidFill>
                  <a:srgbClr val="52606D"/>
                </a:solidFill>
              </a:defRPr>
            </a:pPr>
            <a:r>
              <a:rPr sz="975">
                <a:solidFill>
                  <a:srgbClr val="52606D"/>
                </a:solidFill>
              </a:rPr>
              <a:t>Cloud Computing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157E3B6F-86F2-4FC3-89D5-D7B73295A19D}"/>
              </a:ext>
            </a:extLst>
          </p:cNvPr>
          <p:cNvSpPr>
            <a:spLocks noGrp="1"/>
          </p:cNvSpPr>
          <p:nvPr/>
        </p:nvSpPr>
        <p:spPr>
          <a:xfrm>
            <a:off x="3381375" y="6419850"/>
            <a:ext cx="65722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975">
                <a:solidFill>
                  <a:srgbClr val="52606D"/>
                </a:solidFill>
              </a:defRPr>
            </a:pPr>
            <a:r>
              <a:rPr sz="975">
                <a:solidFill>
                  <a:srgbClr val="52606D"/>
                </a:solidFill>
              </a:rPr>
              <a:t>Presented by Gregor von Laszewski (laszewski@gmail.com)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46B4543F-81AA-4D5F-9289-724E0AF06468}"/>
              </a:ext>
            </a:extLst>
          </p:cNvPr>
          <p:cNvSpPr>
            <a:spLocks noGrp="1"/>
          </p:cNvSpPr>
          <p:nvPr/>
        </p:nvSpPr>
        <p:spPr>
          <a:xfrm>
            <a:off x="10858500" y="6419850"/>
            <a:ext cx="6477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975">
                <a:solidFill>
                  <a:srgbClr val="52606D"/>
                </a:solidFill>
              </a:defRPr>
            </a:pPr>
            <a:r>
              <a:rPr sz="975">
                <a:solidFill>
                  <a:srgbClr val="52606D"/>
                </a:solidFill>
              </a:rPr>
              <a:t>44</a:t>
            </a:r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AE0692D5-E860-4D86-B3FA-BF3A10E1B4B0}"/>
              </a:ext>
            </a:extLst>
          </p:cNvPr>
          <p:cNvSpPr>
            <a:spLocks noGrp="1"/>
          </p:cNvSpPr>
          <p:nvPr/>
        </p:nvSpPr>
        <p:spPr>
          <a:xfrm>
            <a:off x="838200" y="1676400"/>
            <a:ext cx="95250" cy="95250"/>
          </a:xfrm>
          <a:prstGeom prst="ellipse">
            <a:avLst/>
          </a:prstGeom>
          <a:solidFill>
            <a:srgbClr val="38699C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DA3DDFE1-DB5E-486C-B5A4-9E600BFC096B}"/>
              </a:ext>
            </a:extLst>
          </p:cNvPr>
          <p:cNvSpPr>
            <a:spLocks noGrp="1"/>
          </p:cNvSpPr>
          <p:nvPr/>
        </p:nvSpPr>
        <p:spPr>
          <a:xfrm>
            <a:off x="1123950" y="1562100"/>
            <a:ext cx="9620250" cy="523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650">
                <a:solidFill>
                  <a:srgbClr val="17212B"/>
                </a:solidFill>
              </a:defRPr>
            </a:pPr>
            <a:r>
              <a:rPr sz="1650">
                <a:solidFill>
                  <a:srgbClr val="17212B"/>
                </a:solidFill>
              </a:rPr>
              <a:t>An orchestrator schedules containers, restarts failed units, and manages desired state.</a:t>
            </a:r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2BC3D39A-FEBE-47A5-952A-ED73887986F4}"/>
              </a:ext>
            </a:extLst>
          </p:cNvPr>
          <p:cNvSpPr>
            <a:spLocks noGrp="1"/>
          </p:cNvSpPr>
          <p:nvPr/>
        </p:nvSpPr>
        <p:spPr>
          <a:xfrm>
            <a:off x="838200" y="2419350"/>
            <a:ext cx="95250" cy="95250"/>
          </a:xfrm>
          <a:prstGeom prst="ellipse">
            <a:avLst/>
          </a:prstGeom>
          <a:solidFill>
            <a:srgbClr val="38699C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44C6B441-4FCE-4112-9C47-7F86EB36182A}"/>
              </a:ext>
            </a:extLst>
          </p:cNvPr>
          <p:cNvSpPr>
            <a:spLocks noGrp="1"/>
          </p:cNvSpPr>
          <p:nvPr/>
        </p:nvSpPr>
        <p:spPr>
          <a:xfrm>
            <a:off x="1123950" y="2305050"/>
            <a:ext cx="9620250" cy="523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650">
                <a:solidFill>
                  <a:srgbClr val="17212B"/>
                </a:solidFill>
              </a:defRPr>
            </a:pPr>
            <a:r>
              <a:rPr sz="1650">
                <a:solidFill>
                  <a:srgbClr val="17212B"/>
                </a:solidFill>
              </a:rPr>
              <a:t>It helps at scale but introduces new concepts: clusters, services, and policies.</a:t>
            </a:r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89A5677F-C553-4453-A5AB-FB6C22E3ED38}"/>
              </a:ext>
            </a:extLst>
          </p:cNvPr>
          <p:cNvSpPr>
            <a:spLocks noGrp="1"/>
          </p:cNvSpPr>
          <p:nvPr/>
        </p:nvSpPr>
        <p:spPr>
          <a:xfrm>
            <a:off x="838200" y="3162300"/>
            <a:ext cx="95250" cy="95250"/>
          </a:xfrm>
          <a:prstGeom prst="ellipse">
            <a:avLst/>
          </a:prstGeom>
          <a:solidFill>
            <a:srgbClr val="38699C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D40F4A5E-5545-4352-B10C-0834C12C0461}"/>
              </a:ext>
            </a:extLst>
          </p:cNvPr>
          <p:cNvSpPr>
            <a:spLocks noGrp="1"/>
          </p:cNvSpPr>
          <p:nvPr/>
        </p:nvSpPr>
        <p:spPr>
          <a:xfrm>
            <a:off x="1123950" y="3048000"/>
            <a:ext cx="9620250" cy="523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650">
                <a:solidFill>
                  <a:srgbClr val="17212B"/>
                </a:solidFill>
              </a:defRPr>
            </a:pPr>
            <a:r>
              <a:rPr sz="1650">
                <a:solidFill>
                  <a:srgbClr val="17212B"/>
                </a:solidFill>
              </a:rPr>
              <a:t>Use it when its coordination benefits outweigh its operational complexity.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64C14A5A-D5F3-4C0B-9081-F3515B45A973}"/>
              </a:ext>
            </a:extLst>
          </p:cNvPr>
          <p:cNvSpPr>
            <a:spLocks noGrp="1"/>
          </p:cNvSpPr>
          <p:nvPr/>
        </p:nvSpPr>
        <p:spPr>
          <a:xfrm>
            <a:off x="685800" y="4953000"/>
            <a:ext cx="10820400" cy="590550"/>
          </a:xfrm>
          <a:prstGeom prst="rect">
            <a:avLst/>
          </a:prstGeom>
          <a:solidFill>
            <a:srgbClr val="EAF2FA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396DAA80-1660-4F9E-ACF3-D749456EE00E}"/>
              </a:ext>
            </a:extLst>
          </p:cNvPr>
          <p:cNvSpPr>
            <a:spLocks noGrp="1"/>
          </p:cNvSpPr>
          <p:nvPr/>
        </p:nvSpPr>
        <p:spPr>
          <a:xfrm>
            <a:off x="952500" y="5114925"/>
            <a:ext cx="102870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650" b="1">
                <a:solidFill>
                  <a:srgbClr val="123B6D"/>
                </a:solidFill>
              </a:defRPr>
            </a:pPr>
            <a:r>
              <a:rPr sz="1650" b="1">
                <a:solidFill>
                  <a:srgbClr val="123B6D"/>
                </a:solidFill>
              </a:rPr>
              <a:t>Do not adopt orchestration merely because containers exist.</a:t>
            </a:r>
          </a:p>
        </p:txBody>
      </p:sp>
    </p:spTree>
    <p:extLst>
      <p:ext uri="{BB962C8B-B14F-4D97-AF65-F5344CB8AC3E}">
        <p14:creationId xmlns:p14="http://schemas.microsoft.com/office/powerpoint/2010/main" val="1763266993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13">
            <a:extLst>
              <a:ext uri="{FF2B5EF4-FFF2-40B4-BE49-F238E27FC236}">
                <a16:creationId xmlns:a16="http://schemas.microsoft.com/office/drawing/2014/main" id="{4650B5AB-FC64-4123-B4F2-F7B891CD5295}"/>
              </a:ext>
            </a:extLst>
          </p:cNvPr>
          <p:cNvSpPr>
            <a:spLocks noGrp="1"/>
          </p:cNvSpPr>
          <p:nvPr/>
        </p:nvSpPr>
        <p:spPr>
          <a:xfrm>
            <a:off x="685800" y="400050"/>
            <a:ext cx="10001250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2700" b="1">
                <a:solidFill>
                  <a:srgbClr val="123B6D"/>
                </a:solidFill>
              </a:defRPr>
            </a:pPr>
            <a:r>
              <a:rPr sz="2700" b="1">
                <a:solidFill>
                  <a:srgbClr val="123B6D"/>
                </a:solidFill>
              </a:rPr>
              <a:t>Functions and event-driven design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8285E534-49CB-4DF3-ADB0-A075C033263C}"/>
              </a:ext>
            </a:extLst>
          </p:cNvPr>
          <p:cNvSpPr>
            <a:spLocks noGrp="1"/>
          </p:cNvSpPr>
          <p:nvPr/>
        </p:nvSpPr>
        <p:spPr>
          <a:xfrm>
            <a:off x="685800" y="1028700"/>
            <a:ext cx="10820400" cy="38100"/>
          </a:xfrm>
          <a:prstGeom prst="rect">
            <a:avLst/>
          </a:prstGeom>
          <a:solidFill>
            <a:srgbClr val="123B6D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AD9362C6-455C-4720-8335-FBF291432D61}"/>
              </a:ext>
            </a:extLst>
          </p:cNvPr>
          <p:cNvSpPr>
            <a:spLocks noGrp="1"/>
          </p:cNvSpPr>
          <p:nvPr/>
        </p:nvSpPr>
        <p:spPr>
          <a:xfrm>
            <a:off x="685800" y="6419850"/>
            <a:ext cx="2143125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975">
                <a:solidFill>
                  <a:srgbClr val="52606D"/>
                </a:solidFill>
              </a:defRPr>
            </a:pPr>
            <a:r>
              <a:rPr sz="975">
                <a:solidFill>
                  <a:srgbClr val="52606D"/>
                </a:solidFill>
              </a:rPr>
              <a:t>Cloud Computing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11846554-32E3-416B-A96B-8228FAEDD845}"/>
              </a:ext>
            </a:extLst>
          </p:cNvPr>
          <p:cNvSpPr>
            <a:spLocks noGrp="1"/>
          </p:cNvSpPr>
          <p:nvPr/>
        </p:nvSpPr>
        <p:spPr>
          <a:xfrm>
            <a:off x="3381375" y="6419850"/>
            <a:ext cx="65722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975">
                <a:solidFill>
                  <a:srgbClr val="52606D"/>
                </a:solidFill>
              </a:defRPr>
            </a:pPr>
            <a:r>
              <a:rPr sz="975">
                <a:solidFill>
                  <a:srgbClr val="52606D"/>
                </a:solidFill>
              </a:rPr>
              <a:t>Presented by Gregor von Laszewski (laszewski@gmail.com)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9A83FD4C-225B-4F9F-BC31-754F38A2C177}"/>
              </a:ext>
            </a:extLst>
          </p:cNvPr>
          <p:cNvSpPr>
            <a:spLocks noGrp="1"/>
          </p:cNvSpPr>
          <p:nvPr/>
        </p:nvSpPr>
        <p:spPr>
          <a:xfrm>
            <a:off x="10858500" y="6419850"/>
            <a:ext cx="6477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975">
                <a:solidFill>
                  <a:srgbClr val="52606D"/>
                </a:solidFill>
              </a:defRPr>
            </a:pPr>
            <a:r>
              <a:rPr sz="975">
                <a:solidFill>
                  <a:srgbClr val="52606D"/>
                </a:solidFill>
              </a:rPr>
              <a:t>45</a:t>
            </a:r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8EA74EB3-D5A0-4357-BF78-CCFC0510E613}"/>
              </a:ext>
            </a:extLst>
          </p:cNvPr>
          <p:cNvSpPr>
            <a:spLocks noGrp="1"/>
          </p:cNvSpPr>
          <p:nvPr/>
        </p:nvSpPr>
        <p:spPr>
          <a:xfrm>
            <a:off x="838200" y="1676400"/>
            <a:ext cx="95250" cy="95250"/>
          </a:xfrm>
          <a:prstGeom prst="ellipse">
            <a:avLst/>
          </a:prstGeom>
          <a:solidFill>
            <a:srgbClr val="38699C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9BB0EE51-F9CF-4ABD-95AA-5064CBF6317A}"/>
              </a:ext>
            </a:extLst>
          </p:cNvPr>
          <p:cNvSpPr>
            <a:spLocks noGrp="1"/>
          </p:cNvSpPr>
          <p:nvPr/>
        </p:nvSpPr>
        <p:spPr>
          <a:xfrm>
            <a:off x="1123950" y="1562100"/>
            <a:ext cx="9620250" cy="523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650">
                <a:solidFill>
                  <a:srgbClr val="17212B"/>
                </a:solidFill>
              </a:defRPr>
            </a:pPr>
            <a:r>
              <a:rPr sz="1650">
                <a:solidFill>
                  <a:srgbClr val="17212B"/>
                </a:solidFill>
              </a:rPr>
              <a:t>Events can trigger small units of work: uploads, messages, schedules, or requests.</a:t>
            </a:r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412E0717-AFAA-4B2A-999D-6A42C26C89E3}"/>
              </a:ext>
            </a:extLst>
          </p:cNvPr>
          <p:cNvSpPr>
            <a:spLocks noGrp="1"/>
          </p:cNvSpPr>
          <p:nvPr/>
        </p:nvSpPr>
        <p:spPr>
          <a:xfrm>
            <a:off x="838200" y="2419350"/>
            <a:ext cx="95250" cy="95250"/>
          </a:xfrm>
          <a:prstGeom prst="ellipse">
            <a:avLst/>
          </a:prstGeom>
          <a:solidFill>
            <a:srgbClr val="38699C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5007127E-170E-4F48-8E51-8680E47428D4}"/>
              </a:ext>
            </a:extLst>
          </p:cNvPr>
          <p:cNvSpPr>
            <a:spLocks noGrp="1"/>
          </p:cNvSpPr>
          <p:nvPr/>
        </p:nvSpPr>
        <p:spPr>
          <a:xfrm>
            <a:off x="1123950" y="2305050"/>
            <a:ext cx="9620250" cy="523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650">
                <a:solidFill>
                  <a:srgbClr val="17212B"/>
                </a:solidFill>
              </a:defRPr>
            </a:pPr>
            <a:r>
              <a:rPr sz="1650">
                <a:solidFill>
                  <a:srgbClr val="17212B"/>
                </a:solidFill>
              </a:rPr>
              <a:t>Event-driven systems can scale naturally and decouple components.</a:t>
            </a:r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7515900D-D80C-4B78-AC45-A3CC2F930391}"/>
              </a:ext>
            </a:extLst>
          </p:cNvPr>
          <p:cNvSpPr>
            <a:spLocks noGrp="1"/>
          </p:cNvSpPr>
          <p:nvPr/>
        </p:nvSpPr>
        <p:spPr>
          <a:xfrm>
            <a:off x="838200" y="3162300"/>
            <a:ext cx="95250" cy="95250"/>
          </a:xfrm>
          <a:prstGeom prst="ellipse">
            <a:avLst/>
          </a:prstGeom>
          <a:solidFill>
            <a:srgbClr val="38699C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49C5BF33-3777-46D1-8602-565D48FE9950}"/>
              </a:ext>
            </a:extLst>
          </p:cNvPr>
          <p:cNvSpPr>
            <a:spLocks noGrp="1"/>
          </p:cNvSpPr>
          <p:nvPr/>
        </p:nvSpPr>
        <p:spPr>
          <a:xfrm>
            <a:off x="1123950" y="3048000"/>
            <a:ext cx="9620250" cy="523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650">
                <a:solidFill>
                  <a:srgbClr val="17212B"/>
                </a:solidFill>
              </a:defRPr>
            </a:pPr>
            <a:r>
              <a:rPr sz="1650">
                <a:solidFill>
                  <a:srgbClr val="17212B"/>
                </a:solidFill>
              </a:rPr>
              <a:t>They need clear contracts, idempotency, tracing, and failure handling.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0BBF0CBC-E053-4694-B858-3AF7284FB5DF}"/>
              </a:ext>
            </a:extLst>
          </p:cNvPr>
          <p:cNvSpPr>
            <a:spLocks noGrp="1"/>
          </p:cNvSpPr>
          <p:nvPr/>
        </p:nvSpPr>
        <p:spPr>
          <a:xfrm>
            <a:off x="685800" y="4953000"/>
            <a:ext cx="10820400" cy="590550"/>
          </a:xfrm>
          <a:prstGeom prst="rect">
            <a:avLst/>
          </a:prstGeom>
          <a:solidFill>
            <a:srgbClr val="EAF2FA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22B9AD95-1337-4F25-AD61-EB50C63437B2}"/>
              </a:ext>
            </a:extLst>
          </p:cNvPr>
          <p:cNvSpPr>
            <a:spLocks noGrp="1"/>
          </p:cNvSpPr>
          <p:nvPr/>
        </p:nvSpPr>
        <p:spPr>
          <a:xfrm>
            <a:off x="952500" y="5114925"/>
            <a:ext cx="102870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650" b="1">
                <a:solidFill>
                  <a:srgbClr val="123B6D"/>
                </a:solidFill>
              </a:defRPr>
            </a:pPr>
            <a:r>
              <a:rPr sz="1650" b="1">
                <a:solidFill>
                  <a:srgbClr val="123B6D"/>
                </a:solidFill>
              </a:rPr>
              <a:t>Events move complexity into flow and state—make both visible.</a:t>
            </a:r>
          </a:p>
        </p:txBody>
      </p:sp>
    </p:spTree>
    <p:extLst>
      <p:ext uri="{BB962C8B-B14F-4D97-AF65-F5344CB8AC3E}">
        <p14:creationId xmlns:p14="http://schemas.microsoft.com/office/powerpoint/2010/main" val="1765415474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13">
            <a:extLst>
              <a:ext uri="{FF2B5EF4-FFF2-40B4-BE49-F238E27FC236}">
                <a16:creationId xmlns:a16="http://schemas.microsoft.com/office/drawing/2014/main" id="{7925BDDC-F2FC-4C3A-BFC1-D6580C3906CE}"/>
              </a:ext>
            </a:extLst>
          </p:cNvPr>
          <p:cNvSpPr>
            <a:spLocks noGrp="1"/>
          </p:cNvSpPr>
          <p:nvPr/>
        </p:nvSpPr>
        <p:spPr>
          <a:xfrm>
            <a:off x="685800" y="400050"/>
            <a:ext cx="10001250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2700" b="1">
                <a:solidFill>
                  <a:srgbClr val="123B6D"/>
                </a:solidFill>
              </a:defRPr>
            </a:pPr>
            <a:r>
              <a:rPr sz="2700" b="1">
                <a:solidFill>
                  <a:srgbClr val="123B6D"/>
                </a:solidFill>
              </a:rPr>
              <a:t>Data is an architectural decision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0BE6D883-E4DF-46DA-A67A-2A12BCE46A82}"/>
              </a:ext>
            </a:extLst>
          </p:cNvPr>
          <p:cNvSpPr>
            <a:spLocks noGrp="1"/>
          </p:cNvSpPr>
          <p:nvPr/>
        </p:nvSpPr>
        <p:spPr>
          <a:xfrm>
            <a:off x="685800" y="1028700"/>
            <a:ext cx="10820400" cy="38100"/>
          </a:xfrm>
          <a:prstGeom prst="rect">
            <a:avLst/>
          </a:prstGeom>
          <a:solidFill>
            <a:srgbClr val="123B6D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C93701BB-8EF6-4401-804C-6C736B2C12A9}"/>
              </a:ext>
            </a:extLst>
          </p:cNvPr>
          <p:cNvSpPr>
            <a:spLocks noGrp="1"/>
          </p:cNvSpPr>
          <p:nvPr/>
        </p:nvSpPr>
        <p:spPr>
          <a:xfrm>
            <a:off x="685800" y="6419850"/>
            <a:ext cx="2143125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975">
                <a:solidFill>
                  <a:srgbClr val="52606D"/>
                </a:solidFill>
              </a:defRPr>
            </a:pPr>
            <a:r>
              <a:rPr sz="975">
                <a:solidFill>
                  <a:srgbClr val="52606D"/>
                </a:solidFill>
              </a:rPr>
              <a:t>Cloud Computing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066FAE52-CE2A-4137-A60B-B4B3FEAF187D}"/>
              </a:ext>
            </a:extLst>
          </p:cNvPr>
          <p:cNvSpPr>
            <a:spLocks noGrp="1"/>
          </p:cNvSpPr>
          <p:nvPr/>
        </p:nvSpPr>
        <p:spPr>
          <a:xfrm>
            <a:off x="3381375" y="6419850"/>
            <a:ext cx="65722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975">
                <a:solidFill>
                  <a:srgbClr val="52606D"/>
                </a:solidFill>
              </a:defRPr>
            </a:pPr>
            <a:r>
              <a:rPr sz="975">
                <a:solidFill>
                  <a:srgbClr val="52606D"/>
                </a:solidFill>
              </a:rPr>
              <a:t>Presented by Gregor von Laszewski (laszewski@gmail.com)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EAF9B5D9-BEA4-41FB-A8C2-5385F1137D50}"/>
              </a:ext>
            </a:extLst>
          </p:cNvPr>
          <p:cNvSpPr>
            <a:spLocks noGrp="1"/>
          </p:cNvSpPr>
          <p:nvPr/>
        </p:nvSpPr>
        <p:spPr>
          <a:xfrm>
            <a:off x="10858500" y="6419850"/>
            <a:ext cx="6477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975">
                <a:solidFill>
                  <a:srgbClr val="52606D"/>
                </a:solidFill>
              </a:defRPr>
            </a:pPr>
            <a:r>
              <a:rPr sz="975">
                <a:solidFill>
                  <a:srgbClr val="52606D"/>
                </a:solidFill>
              </a:rPr>
              <a:t>46</a:t>
            </a:r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7F8A7F90-A0AD-40DC-965F-2FECBA68F999}"/>
              </a:ext>
            </a:extLst>
          </p:cNvPr>
          <p:cNvSpPr>
            <a:spLocks noGrp="1"/>
          </p:cNvSpPr>
          <p:nvPr/>
        </p:nvSpPr>
        <p:spPr>
          <a:xfrm>
            <a:off x="838200" y="1676400"/>
            <a:ext cx="95250" cy="95250"/>
          </a:xfrm>
          <a:prstGeom prst="ellipse">
            <a:avLst/>
          </a:prstGeom>
          <a:solidFill>
            <a:srgbClr val="38699C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61DECE08-1E9B-4D4F-A9E6-EA5EDEEEB16C}"/>
              </a:ext>
            </a:extLst>
          </p:cNvPr>
          <p:cNvSpPr>
            <a:spLocks noGrp="1"/>
          </p:cNvSpPr>
          <p:nvPr/>
        </p:nvSpPr>
        <p:spPr>
          <a:xfrm>
            <a:off x="1123950" y="1562100"/>
            <a:ext cx="9620250" cy="523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650">
                <a:solidFill>
                  <a:srgbClr val="17212B"/>
                </a:solidFill>
              </a:defRPr>
            </a:pPr>
            <a:r>
              <a:rPr sz="1650">
                <a:solidFill>
                  <a:srgbClr val="17212B"/>
                </a:solidFill>
              </a:rPr>
              <a:t>Choose storage based on access patterns, consistency needs, and lifecycle.</a:t>
            </a:r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F57E53A9-DB76-4B41-9007-12BDE5A24718}"/>
              </a:ext>
            </a:extLst>
          </p:cNvPr>
          <p:cNvSpPr>
            <a:spLocks noGrp="1"/>
          </p:cNvSpPr>
          <p:nvPr/>
        </p:nvSpPr>
        <p:spPr>
          <a:xfrm>
            <a:off x="838200" y="2419350"/>
            <a:ext cx="95250" cy="95250"/>
          </a:xfrm>
          <a:prstGeom prst="ellipse">
            <a:avLst/>
          </a:prstGeom>
          <a:solidFill>
            <a:srgbClr val="38699C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44CE3619-6ABF-4A3F-A093-FD9D83EF9C43}"/>
              </a:ext>
            </a:extLst>
          </p:cNvPr>
          <p:cNvSpPr>
            <a:spLocks noGrp="1"/>
          </p:cNvSpPr>
          <p:nvPr/>
        </p:nvSpPr>
        <p:spPr>
          <a:xfrm>
            <a:off x="1123950" y="2305050"/>
            <a:ext cx="9620250" cy="523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650">
                <a:solidFill>
                  <a:srgbClr val="17212B"/>
                </a:solidFill>
              </a:defRPr>
            </a:pPr>
            <a:r>
              <a:rPr sz="1650">
                <a:solidFill>
                  <a:srgbClr val="17212B"/>
                </a:solidFill>
              </a:rPr>
              <a:t>Data classification affects security, retention, backup, and location.</a:t>
            </a:r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4A8F694C-A180-4093-97E1-831B6E24E0A5}"/>
              </a:ext>
            </a:extLst>
          </p:cNvPr>
          <p:cNvSpPr>
            <a:spLocks noGrp="1"/>
          </p:cNvSpPr>
          <p:nvPr/>
        </p:nvSpPr>
        <p:spPr>
          <a:xfrm>
            <a:off x="838200" y="3162300"/>
            <a:ext cx="95250" cy="95250"/>
          </a:xfrm>
          <a:prstGeom prst="ellipse">
            <a:avLst/>
          </a:prstGeom>
          <a:solidFill>
            <a:srgbClr val="38699C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1CA53838-0825-4D3A-98E0-170DC5EE712C}"/>
              </a:ext>
            </a:extLst>
          </p:cNvPr>
          <p:cNvSpPr>
            <a:spLocks noGrp="1"/>
          </p:cNvSpPr>
          <p:nvPr/>
        </p:nvSpPr>
        <p:spPr>
          <a:xfrm>
            <a:off x="1123950" y="3048000"/>
            <a:ext cx="9620250" cy="523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650">
                <a:solidFill>
                  <a:srgbClr val="17212B"/>
                </a:solidFill>
              </a:defRPr>
            </a:pPr>
            <a:r>
              <a:rPr sz="1650">
                <a:solidFill>
                  <a:srgbClr val="17212B"/>
                </a:solidFill>
              </a:rPr>
              <a:t>Data movement can become the largest hidden source of cost and complexity.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F6216064-45A0-447B-9161-7103BE7538DD}"/>
              </a:ext>
            </a:extLst>
          </p:cNvPr>
          <p:cNvSpPr>
            <a:spLocks noGrp="1"/>
          </p:cNvSpPr>
          <p:nvPr/>
        </p:nvSpPr>
        <p:spPr>
          <a:xfrm>
            <a:off x="685800" y="4953000"/>
            <a:ext cx="10820400" cy="590550"/>
          </a:xfrm>
          <a:prstGeom prst="rect">
            <a:avLst/>
          </a:prstGeom>
          <a:solidFill>
            <a:srgbClr val="EAF2FA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5B46CC16-6930-478F-8089-3E6CA31CB7B3}"/>
              </a:ext>
            </a:extLst>
          </p:cNvPr>
          <p:cNvSpPr>
            <a:spLocks noGrp="1"/>
          </p:cNvSpPr>
          <p:nvPr/>
        </p:nvSpPr>
        <p:spPr>
          <a:xfrm>
            <a:off x="952500" y="5114925"/>
            <a:ext cx="102870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650" b="1">
                <a:solidFill>
                  <a:srgbClr val="123B6D"/>
                </a:solidFill>
              </a:defRPr>
            </a:pPr>
            <a:r>
              <a:rPr sz="1650" b="1">
                <a:solidFill>
                  <a:srgbClr val="123B6D"/>
                </a:solidFill>
              </a:rPr>
              <a:t>Start with the questions the system must answer, not a favorite database.</a:t>
            </a:r>
          </a:p>
        </p:txBody>
      </p:sp>
    </p:spTree>
    <p:extLst>
      <p:ext uri="{BB962C8B-B14F-4D97-AF65-F5344CB8AC3E}">
        <p14:creationId xmlns:p14="http://schemas.microsoft.com/office/powerpoint/2010/main" val="746829400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13">
            <a:extLst>
              <a:ext uri="{FF2B5EF4-FFF2-40B4-BE49-F238E27FC236}">
                <a16:creationId xmlns:a16="http://schemas.microsoft.com/office/drawing/2014/main" id="{2F4A71D1-B832-4310-9A31-27D73125F334}"/>
              </a:ext>
            </a:extLst>
          </p:cNvPr>
          <p:cNvSpPr>
            <a:spLocks noGrp="1"/>
          </p:cNvSpPr>
          <p:nvPr/>
        </p:nvSpPr>
        <p:spPr>
          <a:xfrm>
            <a:off x="685800" y="400050"/>
            <a:ext cx="10001250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2700" b="1">
                <a:solidFill>
                  <a:srgbClr val="123B6D"/>
                </a:solidFill>
              </a:defRPr>
            </a:pPr>
            <a:r>
              <a:rPr sz="2700" b="1">
                <a:solidFill>
                  <a:srgbClr val="123B6D"/>
                </a:solidFill>
              </a:rPr>
              <a:t>Relational databases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38DB470C-C177-41F6-AF5A-E9510DE0B4D5}"/>
              </a:ext>
            </a:extLst>
          </p:cNvPr>
          <p:cNvSpPr>
            <a:spLocks noGrp="1"/>
          </p:cNvSpPr>
          <p:nvPr/>
        </p:nvSpPr>
        <p:spPr>
          <a:xfrm>
            <a:off x="685800" y="1028700"/>
            <a:ext cx="10820400" cy="38100"/>
          </a:xfrm>
          <a:prstGeom prst="rect">
            <a:avLst/>
          </a:prstGeom>
          <a:solidFill>
            <a:srgbClr val="123B6D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EBFE57FA-8148-4DFD-BCE1-1D0407F0C192}"/>
              </a:ext>
            </a:extLst>
          </p:cNvPr>
          <p:cNvSpPr>
            <a:spLocks noGrp="1"/>
          </p:cNvSpPr>
          <p:nvPr/>
        </p:nvSpPr>
        <p:spPr>
          <a:xfrm>
            <a:off x="685800" y="6419850"/>
            <a:ext cx="2143125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975">
                <a:solidFill>
                  <a:srgbClr val="52606D"/>
                </a:solidFill>
              </a:defRPr>
            </a:pPr>
            <a:r>
              <a:rPr sz="975">
                <a:solidFill>
                  <a:srgbClr val="52606D"/>
                </a:solidFill>
              </a:rPr>
              <a:t>Cloud Computing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2C70414B-08DD-4DEF-BFF5-733D26846960}"/>
              </a:ext>
            </a:extLst>
          </p:cNvPr>
          <p:cNvSpPr>
            <a:spLocks noGrp="1"/>
          </p:cNvSpPr>
          <p:nvPr/>
        </p:nvSpPr>
        <p:spPr>
          <a:xfrm>
            <a:off x="3381375" y="6419850"/>
            <a:ext cx="65722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975">
                <a:solidFill>
                  <a:srgbClr val="52606D"/>
                </a:solidFill>
              </a:defRPr>
            </a:pPr>
            <a:r>
              <a:rPr sz="975">
                <a:solidFill>
                  <a:srgbClr val="52606D"/>
                </a:solidFill>
              </a:rPr>
              <a:t>Presented by Gregor von Laszewski (laszewski@gmail.com)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9F378FCD-B89A-4574-B736-AE556F8D7294}"/>
              </a:ext>
            </a:extLst>
          </p:cNvPr>
          <p:cNvSpPr>
            <a:spLocks noGrp="1"/>
          </p:cNvSpPr>
          <p:nvPr/>
        </p:nvSpPr>
        <p:spPr>
          <a:xfrm>
            <a:off x="10858500" y="6419850"/>
            <a:ext cx="6477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975">
                <a:solidFill>
                  <a:srgbClr val="52606D"/>
                </a:solidFill>
              </a:defRPr>
            </a:pPr>
            <a:r>
              <a:rPr sz="975">
                <a:solidFill>
                  <a:srgbClr val="52606D"/>
                </a:solidFill>
              </a:rPr>
              <a:t>47</a:t>
            </a:r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4A652E61-CF92-47D1-9C0D-B40FCE4755EF}"/>
              </a:ext>
            </a:extLst>
          </p:cNvPr>
          <p:cNvSpPr>
            <a:spLocks noGrp="1"/>
          </p:cNvSpPr>
          <p:nvPr/>
        </p:nvSpPr>
        <p:spPr>
          <a:xfrm>
            <a:off x="838200" y="1676400"/>
            <a:ext cx="95250" cy="95250"/>
          </a:xfrm>
          <a:prstGeom prst="ellipse">
            <a:avLst/>
          </a:prstGeom>
          <a:solidFill>
            <a:srgbClr val="38699C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EAE6556D-C46A-4F97-9EBF-8ACF904B7F87}"/>
              </a:ext>
            </a:extLst>
          </p:cNvPr>
          <p:cNvSpPr>
            <a:spLocks noGrp="1"/>
          </p:cNvSpPr>
          <p:nvPr/>
        </p:nvSpPr>
        <p:spPr>
          <a:xfrm>
            <a:off x="1123950" y="1562100"/>
            <a:ext cx="9620250" cy="523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650">
                <a:solidFill>
                  <a:srgbClr val="17212B"/>
                </a:solidFill>
              </a:defRPr>
            </a:pPr>
            <a:r>
              <a:rPr sz="1650">
                <a:solidFill>
                  <a:srgbClr val="17212B"/>
                </a:solidFill>
              </a:rPr>
              <a:t>Relational systems organize structured data into tables and relationships.</a:t>
            </a:r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293A86D0-81FA-4D3C-A332-569A05819BA5}"/>
              </a:ext>
            </a:extLst>
          </p:cNvPr>
          <p:cNvSpPr>
            <a:spLocks noGrp="1"/>
          </p:cNvSpPr>
          <p:nvPr/>
        </p:nvSpPr>
        <p:spPr>
          <a:xfrm>
            <a:off x="838200" y="2419350"/>
            <a:ext cx="95250" cy="95250"/>
          </a:xfrm>
          <a:prstGeom prst="ellipse">
            <a:avLst/>
          </a:prstGeom>
          <a:solidFill>
            <a:srgbClr val="38699C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4BEA91FA-400B-4620-B1B7-7CE257DAC144}"/>
              </a:ext>
            </a:extLst>
          </p:cNvPr>
          <p:cNvSpPr>
            <a:spLocks noGrp="1"/>
          </p:cNvSpPr>
          <p:nvPr/>
        </p:nvSpPr>
        <p:spPr>
          <a:xfrm>
            <a:off x="1123950" y="2305050"/>
            <a:ext cx="9620250" cy="523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650">
                <a:solidFill>
                  <a:srgbClr val="17212B"/>
                </a:solidFill>
              </a:defRPr>
            </a:pPr>
            <a:r>
              <a:rPr sz="1650">
                <a:solidFill>
                  <a:srgbClr val="17212B"/>
                </a:solidFill>
              </a:rPr>
              <a:t>They are strong when transactions, constraints, and query flexibility matter.</a:t>
            </a:r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C54600E3-7F6C-4E07-A6E9-441CC322F8BE}"/>
              </a:ext>
            </a:extLst>
          </p:cNvPr>
          <p:cNvSpPr>
            <a:spLocks noGrp="1"/>
          </p:cNvSpPr>
          <p:nvPr/>
        </p:nvSpPr>
        <p:spPr>
          <a:xfrm>
            <a:off x="838200" y="3162300"/>
            <a:ext cx="95250" cy="95250"/>
          </a:xfrm>
          <a:prstGeom prst="ellipse">
            <a:avLst/>
          </a:prstGeom>
          <a:solidFill>
            <a:srgbClr val="38699C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92E5F3CE-E070-4025-A8CC-2980936BE081}"/>
              </a:ext>
            </a:extLst>
          </p:cNvPr>
          <p:cNvSpPr>
            <a:spLocks noGrp="1"/>
          </p:cNvSpPr>
          <p:nvPr/>
        </p:nvSpPr>
        <p:spPr>
          <a:xfrm>
            <a:off x="1123950" y="3048000"/>
            <a:ext cx="9620250" cy="523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650">
                <a:solidFill>
                  <a:srgbClr val="17212B"/>
                </a:solidFill>
              </a:defRPr>
            </a:pPr>
            <a:r>
              <a:rPr sz="1650">
                <a:solidFill>
                  <a:srgbClr val="17212B"/>
                </a:solidFill>
              </a:rPr>
              <a:t>Managed relational services can reduce patching and backup operations.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0EB9BE0E-A484-467D-9FDA-118C8E5ADD66}"/>
              </a:ext>
            </a:extLst>
          </p:cNvPr>
          <p:cNvSpPr>
            <a:spLocks noGrp="1"/>
          </p:cNvSpPr>
          <p:nvPr/>
        </p:nvSpPr>
        <p:spPr>
          <a:xfrm>
            <a:off x="685800" y="4953000"/>
            <a:ext cx="10820400" cy="590550"/>
          </a:xfrm>
          <a:prstGeom prst="rect">
            <a:avLst/>
          </a:prstGeom>
          <a:solidFill>
            <a:srgbClr val="EAF2FA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221B3FF3-C20B-47D1-A1FC-42095F11FD3A}"/>
              </a:ext>
            </a:extLst>
          </p:cNvPr>
          <p:cNvSpPr>
            <a:spLocks noGrp="1"/>
          </p:cNvSpPr>
          <p:nvPr/>
        </p:nvSpPr>
        <p:spPr>
          <a:xfrm>
            <a:off x="952500" y="5114925"/>
            <a:ext cx="102870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650" b="1">
                <a:solidFill>
                  <a:srgbClr val="123B6D"/>
                </a:solidFill>
              </a:defRPr>
            </a:pPr>
            <a:r>
              <a:rPr sz="1650" b="1">
                <a:solidFill>
                  <a:srgbClr val="123B6D"/>
                </a:solidFill>
              </a:rPr>
              <a:t>Use a relational model when relationships and integrity are central to the problem.</a:t>
            </a:r>
          </a:p>
        </p:txBody>
      </p:sp>
    </p:spTree>
    <p:extLst>
      <p:ext uri="{BB962C8B-B14F-4D97-AF65-F5344CB8AC3E}">
        <p14:creationId xmlns:p14="http://schemas.microsoft.com/office/powerpoint/2010/main" val="417080506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13">
            <a:extLst>
              <a:ext uri="{FF2B5EF4-FFF2-40B4-BE49-F238E27FC236}">
                <a16:creationId xmlns:a16="http://schemas.microsoft.com/office/drawing/2014/main" id="{494B9FA8-8B19-481A-B298-11EE30241DAB}"/>
              </a:ext>
            </a:extLst>
          </p:cNvPr>
          <p:cNvSpPr>
            <a:spLocks noGrp="1"/>
          </p:cNvSpPr>
          <p:nvPr/>
        </p:nvSpPr>
        <p:spPr>
          <a:xfrm>
            <a:off x="685800" y="400050"/>
            <a:ext cx="10001250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2700" b="1">
                <a:solidFill>
                  <a:srgbClr val="123B6D"/>
                </a:solidFill>
              </a:defRPr>
            </a:pPr>
            <a:r>
              <a:rPr sz="2700" b="1">
                <a:solidFill>
                  <a:srgbClr val="123B6D"/>
                </a:solidFill>
              </a:rPr>
              <a:t>Object storage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18A6BBF5-4EE9-4C53-A21D-0707C4B66D71}"/>
              </a:ext>
            </a:extLst>
          </p:cNvPr>
          <p:cNvSpPr>
            <a:spLocks noGrp="1"/>
          </p:cNvSpPr>
          <p:nvPr/>
        </p:nvSpPr>
        <p:spPr>
          <a:xfrm>
            <a:off x="685800" y="1028700"/>
            <a:ext cx="10820400" cy="38100"/>
          </a:xfrm>
          <a:prstGeom prst="rect">
            <a:avLst/>
          </a:prstGeom>
          <a:solidFill>
            <a:srgbClr val="123B6D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18495220-F173-4E36-859D-53E88501034A}"/>
              </a:ext>
            </a:extLst>
          </p:cNvPr>
          <p:cNvSpPr>
            <a:spLocks noGrp="1"/>
          </p:cNvSpPr>
          <p:nvPr/>
        </p:nvSpPr>
        <p:spPr>
          <a:xfrm>
            <a:off x="685800" y="6419850"/>
            <a:ext cx="2143125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975">
                <a:solidFill>
                  <a:srgbClr val="52606D"/>
                </a:solidFill>
              </a:defRPr>
            </a:pPr>
            <a:r>
              <a:rPr sz="975">
                <a:solidFill>
                  <a:srgbClr val="52606D"/>
                </a:solidFill>
              </a:rPr>
              <a:t>Cloud Computing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09CA12FB-F983-4616-A6E8-0DC96BFCC26C}"/>
              </a:ext>
            </a:extLst>
          </p:cNvPr>
          <p:cNvSpPr>
            <a:spLocks noGrp="1"/>
          </p:cNvSpPr>
          <p:nvPr/>
        </p:nvSpPr>
        <p:spPr>
          <a:xfrm>
            <a:off x="3381375" y="6419850"/>
            <a:ext cx="65722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975">
                <a:solidFill>
                  <a:srgbClr val="52606D"/>
                </a:solidFill>
              </a:defRPr>
            </a:pPr>
            <a:r>
              <a:rPr sz="975">
                <a:solidFill>
                  <a:srgbClr val="52606D"/>
                </a:solidFill>
              </a:rPr>
              <a:t>Presented by Gregor von Laszewski (laszewski@gmail.com)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37084FD2-B1EC-4B74-9E8E-39205A6A6FA7}"/>
              </a:ext>
            </a:extLst>
          </p:cNvPr>
          <p:cNvSpPr>
            <a:spLocks noGrp="1"/>
          </p:cNvSpPr>
          <p:nvPr/>
        </p:nvSpPr>
        <p:spPr>
          <a:xfrm>
            <a:off x="10858500" y="6419850"/>
            <a:ext cx="6477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975">
                <a:solidFill>
                  <a:srgbClr val="52606D"/>
                </a:solidFill>
              </a:defRPr>
            </a:pPr>
            <a:r>
              <a:rPr sz="975">
                <a:solidFill>
                  <a:srgbClr val="52606D"/>
                </a:solidFill>
              </a:rPr>
              <a:t>48</a:t>
            </a:r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DA959F5B-CC04-4B5B-89FF-F9650DCE861D}"/>
              </a:ext>
            </a:extLst>
          </p:cNvPr>
          <p:cNvSpPr>
            <a:spLocks noGrp="1"/>
          </p:cNvSpPr>
          <p:nvPr/>
        </p:nvSpPr>
        <p:spPr>
          <a:xfrm>
            <a:off x="838200" y="1676400"/>
            <a:ext cx="95250" cy="95250"/>
          </a:xfrm>
          <a:prstGeom prst="ellipse">
            <a:avLst/>
          </a:prstGeom>
          <a:solidFill>
            <a:srgbClr val="38699C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B59E8BA4-8338-49FC-8396-B414B004975F}"/>
              </a:ext>
            </a:extLst>
          </p:cNvPr>
          <p:cNvSpPr>
            <a:spLocks noGrp="1"/>
          </p:cNvSpPr>
          <p:nvPr/>
        </p:nvSpPr>
        <p:spPr>
          <a:xfrm>
            <a:off x="1123950" y="1562100"/>
            <a:ext cx="9620250" cy="523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650">
                <a:solidFill>
                  <a:srgbClr val="17212B"/>
                </a:solidFill>
              </a:defRPr>
            </a:pPr>
            <a:r>
              <a:rPr sz="1650">
                <a:solidFill>
                  <a:srgbClr val="17212B"/>
                </a:solidFill>
              </a:rPr>
              <a:t>Object storage holds files and large unstructured data as named objects.</a:t>
            </a:r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894817FA-B925-4414-AE50-AB4B2CD1FECA}"/>
              </a:ext>
            </a:extLst>
          </p:cNvPr>
          <p:cNvSpPr>
            <a:spLocks noGrp="1"/>
          </p:cNvSpPr>
          <p:nvPr/>
        </p:nvSpPr>
        <p:spPr>
          <a:xfrm>
            <a:off x="838200" y="2419350"/>
            <a:ext cx="95250" cy="95250"/>
          </a:xfrm>
          <a:prstGeom prst="ellipse">
            <a:avLst/>
          </a:prstGeom>
          <a:solidFill>
            <a:srgbClr val="38699C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1A77F783-91BE-41FB-A8B5-7F027A14AFBF}"/>
              </a:ext>
            </a:extLst>
          </p:cNvPr>
          <p:cNvSpPr>
            <a:spLocks noGrp="1"/>
          </p:cNvSpPr>
          <p:nvPr/>
        </p:nvSpPr>
        <p:spPr>
          <a:xfrm>
            <a:off x="1123950" y="2305050"/>
            <a:ext cx="9620250" cy="523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650">
                <a:solidFill>
                  <a:srgbClr val="17212B"/>
                </a:solidFill>
              </a:defRPr>
            </a:pPr>
            <a:r>
              <a:rPr sz="1650">
                <a:solidFill>
                  <a:srgbClr val="17212B"/>
                </a:solidFill>
              </a:rPr>
              <a:t>It is often used for media, logs, backups, and data-lake inputs.</a:t>
            </a:r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8C7A6065-781A-4576-AB8F-58C27D71C4A3}"/>
              </a:ext>
            </a:extLst>
          </p:cNvPr>
          <p:cNvSpPr>
            <a:spLocks noGrp="1"/>
          </p:cNvSpPr>
          <p:nvPr/>
        </p:nvSpPr>
        <p:spPr>
          <a:xfrm>
            <a:off x="838200" y="3162300"/>
            <a:ext cx="95250" cy="95250"/>
          </a:xfrm>
          <a:prstGeom prst="ellipse">
            <a:avLst/>
          </a:prstGeom>
          <a:solidFill>
            <a:srgbClr val="38699C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3B547256-87A5-45DC-B5B4-EDCBA03121E3}"/>
              </a:ext>
            </a:extLst>
          </p:cNvPr>
          <p:cNvSpPr>
            <a:spLocks noGrp="1"/>
          </p:cNvSpPr>
          <p:nvPr/>
        </p:nvSpPr>
        <p:spPr>
          <a:xfrm>
            <a:off x="1123950" y="3048000"/>
            <a:ext cx="9620250" cy="523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650">
                <a:solidFill>
                  <a:srgbClr val="17212B"/>
                </a:solidFill>
              </a:defRPr>
            </a:pPr>
            <a:r>
              <a:rPr sz="1650">
                <a:solidFill>
                  <a:srgbClr val="17212B"/>
                </a:solidFill>
              </a:rPr>
              <a:t>Plan lifecycle rules, encryption, access policies, and retention.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4205FDEE-A191-4568-A333-3790AB11BFA0}"/>
              </a:ext>
            </a:extLst>
          </p:cNvPr>
          <p:cNvSpPr>
            <a:spLocks noGrp="1"/>
          </p:cNvSpPr>
          <p:nvPr/>
        </p:nvSpPr>
        <p:spPr>
          <a:xfrm>
            <a:off x="685800" y="4953000"/>
            <a:ext cx="10820400" cy="590550"/>
          </a:xfrm>
          <a:prstGeom prst="rect">
            <a:avLst/>
          </a:prstGeom>
          <a:solidFill>
            <a:srgbClr val="EAF2FA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D7662658-AB9C-4F35-AF25-22C7699E7A5E}"/>
              </a:ext>
            </a:extLst>
          </p:cNvPr>
          <p:cNvSpPr>
            <a:spLocks noGrp="1"/>
          </p:cNvSpPr>
          <p:nvPr/>
        </p:nvSpPr>
        <p:spPr>
          <a:xfrm>
            <a:off x="952500" y="5114925"/>
            <a:ext cx="102870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650" b="1">
                <a:solidFill>
                  <a:srgbClr val="123B6D"/>
                </a:solidFill>
              </a:defRPr>
            </a:pPr>
            <a:r>
              <a:rPr sz="1650" b="1">
                <a:solidFill>
                  <a:srgbClr val="123B6D"/>
                </a:solidFill>
              </a:rPr>
              <a:t>An object store is powerful, but broad permissions can expose a great deal of data.</a:t>
            </a:r>
          </a:p>
        </p:txBody>
      </p:sp>
    </p:spTree>
    <p:extLst>
      <p:ext uri="{BB962C8B-B14F-4D97-AF65-F5344CB8AC3E}">
        <p14:creationId xmlns:p14="http://schemas.microsoft.com/office/powerpoint/2010/main" val="1068345623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13">
            <a:extLst>
              <a:ext uri="{FF2B5EF4-FFF2-40B4-BE49-F238E27FC236}">
                <a16:creationId xmlns:a16="http://schemas.microsoft.com/office/drawing/2014/main" id="{B7405AFB-6F32-4AE8-803C-FF36E7320FE5}"/>
              </a:ext>
            </a:extLst>
          </p:cNvPr>
          <p:cNvSpPr>
            <a:spLocks noGrp="1"/>
          </p:cNvSpPr>
          <p:nvPr/>
        </p:nvSpPr>
        <p:spPr>
          <a:xfrm>
            <a:off x="685800" y="400050"/>
            <a:ext cx="10001250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2700" b="1">
                <a:solidFill>
                  <a:srgbClr val="123B6D"/>
                </a:solidFill>
              </a:defRPr>
            </a:pPr>
            <a:r>
              <a:rPr sz="2700" b="1">
                <a:solidFill>
                  <a:srgbClr val="123B6D"/>
                </a:solidFill>
              </a:rPr>
              <a:t>Caching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CDDA020B-F19E-40A0-9AFE-71BC00188126}"/>
              </a:ext>
            </a:extLst>
          </p:cNvPr>
          <p:cNvSpPr>
            <a:spLocks noGrp="1"/>
          </p:cNvSpPr>
          <p:nvPr/>
        </p:nvSpPr>
        <p:spPr>
          <a:xfrm>
            <a:off x="685800" y="1028700"/>
            <a:ext cx="10820400" cy="38100"/>
          </a:xfrm>
          <a:prstGeom prst="rect">
            <a:avLst/>
          </a:prstGeom>
          <a:solidFill>
            <a:srgbClr val="123B6D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9467FF6E-8997-4CC4-94E8-58DD8245FE2B}"/>
              </a:ext>
            </a:extLst>
          </p:cNvPr>
          <p:cNvSpPr>
            <a:spLocks noGrp="1"/>
          </p:cNvSpPr>
          <p:nvPr/>
        </p:nvSpPr>
        <p:spPr>
          <a:xfrm>
            <a:off x="685800" y="6419850"/>
            <a:ext cx="2143125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975">
                <a:solidFill>
                  <a:srgbClr val="52606D"/>
                </a:solidFill>
              </a:defRPr>
            </a:pPr>
            <a:r>
              <a:rPr sz="975">
                <a:solidFill>
                  <a:srgbClr val="52606D"/>
                </a:solidFill>
              </a:rPr>
              <a:t>Cloud Computing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1945E5B6-E107-46AE-A121-1F72C6C89AEF}"/>
              </a:ext>
            </a:extLst>
          </p:cNvPr>
          <p:cNvSpPr>
            <a:spLocks noGrp="1"/>
          </p:cNvSpPr>
          <p:nvPr/>
        </p:nvSpPr>
        <p:spPr>
          <a:xfrm>
            <a:off x="3381375" y="6419850"/>
            <a:ext cx="65722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975">
                <a:solidFill>
                  <a:srgbClr val="52606D"/>
                </a:solidFill>
              </a:defRPr>
            </a:pPr>
            <a:r>
              <a:rPr sz="975">
                <a:solidFill>
                  <a:srgbClr val="52606D"/>
                </a:solidFill>
              </a:rPr>
              <a:t>Presented by Gregor von Laszewski (laszewski@gmail.com)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08847CFA-23CB-4664-A064-7CCC2C5DF49D}"/>
              </a:ext>
            </a:extLst>
          </p:cNvPr>
          <p:cNvSpPr>
            <a:spLocks noGrp="1"/>
          </p:cNvSpPr>
          <p:nvPr/>
        </p:nvSpPr>
        <p:spPr>
          <a:xfrm>
            <a:off x="10858500" y="6419850"/>
            <a:ext cx="6477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975">
                <a:solidFill>
                  <a:srgbClr val="52606D"/>
                </a:solidFill>
              </a:defRPr>
            </a:pPr>
            <a:r>
              <a:rPr sz="975">
                <a:solidFill>
                  <a:srgbClr val="52606D"/>
                </a:solidFill>
              </a:rPr>
              <a:t>49</a:t>
            </a:r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17CE02F3-40D6-4F84-8A56-D8626E26C208}"/>
              </a:ext>
            </a:extLst>
          </p:cNvPr>
          <p:cNvSpPr>
            <a:spLocks noGrp="1"/>
          </p:cNvSpPr>
          <p:nvPr/>
        </p:nvSpPr>
        <p:spPr>
          <a:xfrm>
            <a:off x="838200" y="1676400"/>
            <a:ext cx="95250" cy="95250"/>
          </a:xfrm>
          <a:prstGeom prst="ellipse">
            <a:avLst/>
          </a:prstGeom>
          <a:solidFill>
            <a:srgbClr val="38699C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9E26EF2B-9D2C-4D1E-8433-5C3E10788D8A}"/>
              </a:ext>
            </a:extLst>
          </p:cNvPr>
          <p:cNvSpPr>
            <a:spLocks noGrp="1"/>
          </p:cNvSpPr>
          <p:nvPr/>
        </p:nvSpPr>
        <p:spPr>
          <a:xfrm>
            <a:off x="1123950" y="1562100"/>
            <a:ext cx="9620250" cy="523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650">
                <a:solidFill>
                  <a:srgbClr val="17212B"/>
                </a:solidFill>
              </a:defRPr>
            </a:pPr>
            <a:r>
              <a:rPr sz="1650">
                <a:solidFill>
                  <a:srgbClr val="17212B"/>
                </a:solidFill>
              </a:rPr>
              <a:t>A cache stores frequently needed results closer to the request path.</a:t>
            </a:r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E0E6D814-0A31-46BA-87EA-4E1CF1A392F3}"/>
              </a:ext>
            </a:extLst>
          </p:cNvPr>
          <p:cNvSpPr>
            <a:spLocks noGrp="1"/>
          </p:cNvSpPr>
          <p:nvPr/>
        </p:nvSpPr>
        <p:spPr>
          <a:xfrm>
            <a:off x="838200" y="2419350"/>
            <a:ext cx="95250" cy="95250"/>
          </a:xfrm>
          <a:prstGeom prst="ellipse">
            <a:avLst/>
          </a:prstGeom>
          <a:solidFill>
            <a:srgbClr val="38699C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6682BE13-C03C-46DF-A730-68F70D213591}"/>
              </a:ext>
            </a:extLst>
          </p:cNvPr>
          <p:cNvSpPr>
            <a:spLocks noGrp="1"/>
          </p:cNvSpPr>
          <p:nvPr/>
        </p:nvSpPr>
        <p:spPr>
          <a:xfrm>
            <a:off x="1123950" y="2305050"/>
            <a:ext cx="9620250" cy="523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650">
                <a:solidFill>
                  <a:srgbClr val="17212B"/>
                </a:solidFill>
              </a:defRPr>
            </a:pPr>
            <a:r>
              <a:rPr sz="1650">
                <a:solidFill>
                  <a:srgbClr val="17212B"/>
                </a:solidFill>
              </a:rPr>
              <a:t>It can reduce latency and protect downstream systems.</a:t>
            </a:r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7F8CAA51-4B44-4F6F-84F8-5643B165CF28}"/>
              </a:ext>
            </a:extLst>
          </p:cNvPr>
          <p:cNvSpPr>
            <a:spLocks noGrp="1"/>
          </p:cNvSpPr>
          <p:nvPr/>
        </p:nvSpPr>
        <p:spPr>
          <a:xfrm>
            <a:off x="838200" y="3162300"/>
            <a:ext cx="95250" cy="95250"/>
          </a:xfrm>
          <a:prstGeom prst="ellipse">
            <a:avLst/>
          </a:prstGeom>
          <a:solidFill>
            <a:srgbClr val="38699C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14B42FA3-6783-4A23-84BA-AA8843D53FE0}"/>
              </a:ext>
            </a:extLst>
          </p:cNvPr>
          <p:cNvSpPr>
            <a:spLocks noGrp="1"/>
          </p:cNvSpPr>
          <p:nvPr/>
        </p:nvSpPr>
        <p:spPr>
          <a:xfrm>
            <a:off x="1123950" y="3048000"/>
            <a:ext cx="9620250" cy="523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650">
                <a:solidFill>
                  <a:srgbClr val="17212B"/>
                </a:solidFill>
              </a:defRPr>
            </a:pPr>
            <a:r>
              <a:rPr sz="1650">
                <a:solidFill>
                  <a:srgbClr val="17212B"/>
                </a:solidFill>
              </a:rPr>
              <a:t>Cache invalidation, freshness, and consistency are design decisions.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033F4BDD-A98E-47B0-AB38-79EF23AFA955}"/>
              </a:ext>
            </a:extLst>
          </p:cNvPr>
          <p:cNvSpPr>
            <a:spLocks noGrp="1"/>
          </p:cNvSpPr>
          <p:nvPr/>
        </p:nvSpPr>
        <p:spPr>
          <a:xfrm>
            <a:off x="685800" y="4953000"/>
            <a:ext cx="10820400" cy="590550"/>
          </a:xfrm>
          <a:prstGeom prst="rect">
            <a:avLst/>
          </a:prstGeom>
          <a:solidFill>
            <a:srgbClr val="EAF2FA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5A3B9C73-F60C-4052-AD8F-46910DB1BAA0}"/>
              </a:ext>
            </a:extLst>
          </p:cNvPr>
          <p:cNvSpPr>
            <a:spLocks noGrp="1"/>
          </p:cNvSpPr>
          <p:nvPr/>
        </p:nvSpPr>
        <p:spPr>
          <a:xfrm>
            <a:off x="952500" y="5114925"/>
            <a:ext cx="102870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650" b="1">
                <a:solidFill>
                  <a:srgbClr val="123B6D"/>
                </a:solidFill>
              </a:defRPr>
            </a:pPr>
            <a:r>
              <a:rPr sz="1650" b="1">
                <a:solidFill>
                  <a:srgbClr val="123B6D"/>
                </a:solidFill>
              </a:rPr>
              <a:t>Cache only when you can explain what happens when the cached answer is stale.</a:t>
            </a:r>
          </a:p>
        </p:txBody>
      </p:sp>
    </p:spTree>
    <p:extLst>
      <p:ext uri="{BB962C8B-B14F-4D97-AF65-F5344CB8AC3E}">
        <p14:creationId xmlns:p14="http://schemas.microsoft.com/office/powerpoint/2010/main" val="389645920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13">
            <a:extLst>
              <a:ext uri="{FF2B5EF4-FFF2-40B4-BE49-F238E27FC236}">
                <a16:creationId xmlns:a16="http://schemas.microsoft.com/office/drawing/2014/main" id="{4C037502-99AE-483F-8E62-E42D81229B8F}"/>
              </a:ext>
            </a:extLst>
          </p:cNvPr>
          <p:cNvSpPr>
            <a:spLocks noGrp="1"/>
          </p:cNvSpPr>
          <p:nvPr/>
        </p:nvSpPr>
        <p:spPr>
          <a:xfrm>
            <a:off x="685800" y="400050"/>
            <a:ext cx="10001250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2700" b="1">
                <a:solidFill>
                  <a:srgbClr val="123B6D"/>
                </a:solidFill>
              </a:defRPr>
            </a:pPr>
            <a:r>
              <a:rPr sz="2700" b="1">
                <a:solidFill>
                  <a:srgbClr val="123B6D"/>
                </a:solidFill>
              </a:rPr>
              <a:t>Messaging and queues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CC079441-50FB-4FB5-A074-7CCD5B886DF6}"/>
              </a:ext>
            </a:extLst>
          </p:cNvPr>
          <p:cNvSpPr>
            <a:spLocks noGrp="1"/>
          </p:cNvSpPr>
          <p:nvPr/>
        </p:nvSpPr>
        <p:spPr>
          <a:xfrm>
            <a:off x="685800" y="1028700"/>
            <a:ext cx="10820400" cy="38100"/>
          </a:xfrm>
          <a:prstGeom prst="rect">
            <a:avLst/>
          </a:prstGeom>
          <a:solidFill>
            <a:srgbClr val="123B6D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619F05B6-7736-4893-8EF9-2060197726C0}"/>
              </a:ext>
            </a:extLst>
          </p:cNvPr>
          <p:cNvSpPr>
            <a:spLocks noGrp="1"/>
          </p:cNvSpPr>
          <p:nvPr/>
        </p:nvSpPr>
        <p:spPr>
          <a:xfrm>
            <a:off x="685800" y="6419850"/>
            <a:ext cx="2143125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975">
                <a:solidFill>
                  <a:srgbClr val="52606D"/>
                </a:solidFill>
              </a:defRPr>
            </a:pPr>
            <a:r>
              <a:rPr sz="975">
                <a:solidFill>
                  <a:srgbClr val="52606D"/>
                </a:solidFill>
              </a:rPr>
              <a:t>Cloud Computing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252B5CDC-A714-4F9E-A614-984CB0A60FF0}"/>
              </a:ext>
            </a:extLst>
          </p:cNvPr>
          <p:cNvSpPr>
            <a:spLocks noGrp="1"/>
          </p:cNvSpPr>
          <p:nvPr/>
        </p:nvSpPr>
        <p:spPr>
          <a:xfrm>
            <a:off x="3381375" y="6419850"/>
            <a:ext cx="65722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975">
                <a:solidFill>
                  <a:srgbClr val="52606D"/>
                </a:solidFill>
              </a:defRPr>
            </a:pPr>
            <a:r>
              <a:rPr sz="975">
                <a:solidFill>
                  <a:srgbClr val="52606D"/>
                </a:solidFill>
              </a:rPr>
              <a:t>Presented by Gregor von Laszewski (laszewski@gmail.com)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EBCA8E01-2B4A-45E0-A261-A81111C23744}"/>
              </a:ext>
            </a:extLst>
          </p:cNvPr>
          <p:cNvSpPr>
            <a:spLocks noGrp="1"/>
          </p:cNvSpPr>
          <p:nvPr/>
        </p:nvSpPr>
        <p:spPr>
          <a:xfrm>
            <a:off x="10858500" y="6419850"/>
            <a:ext cx="6477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975">
                <a:solidFill>
                  <a:srgbClr val="52606D"/>
                </a:solidFill>
              </a:defRPr>
            </a:pPr>
            <a:r>
              <a:rPr sz="975">
                <a:solidFill>
                  <a:srgbClr val="52606D"/>
                </a:solidFill>
              </a:rPr>
              <a:t>50</a:t>
            </a:r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1A53EA3C-4CFF-489B-84CD-B537B4389F2A}"/>
              </a:ext>
            </a:extLst>
          </p:cNvPr>
          <p:cNvSpPr>
            <a:spLocks noGrp="1"/>
          </p:cNvSpPr>
          <p:nvPr/>
        </p:nvSpPr>
        <p:spPr>
          <a:xfrm>
            <a:off x="838200" y="1676400"/>
            <a:ext cx="95250" cy="95250"/>
          </a:xfrm>
          <a:prstGeom prst="ellipse">
            <a:avLst/>
          </a:prstGeom>
          <a:solidFill>
            <a:srgbClr val="38699C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C7DD4853-FD72-4B9E-955A-B3C5115353A8}"/>
              </a:ext>
            </a:extLst>
          </p:cNvPr>
          <p:cNvSpPr>
            <a:spLocks noGrp="1"/>
          </p:cNvSpPr>
          <p:nvPr/>
        </p:nvSpPr>
        <p:spPr>
          <a:xfrm>
            <a:off x="1123950" y="1562100"/>
            <a:ext cx="9620250" cy="523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650">
                <a:solidFill>
                  <a:srgbClr val="17212B"/>
                </a:solidFill>
              </a:defRPr>
            </a:pPr>
            <a:r>
              <a:rPr sz="1650">
                <a:solidFill>
                  <a:srgbClr val="17212B"/>
                </a:solidFill>
              </a:rPr>
              <a:t>Queues decouple producers from consumers of work.</a:t>
            </a:r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41D9DE4C-F833-4790-A6E9-223D8CE647A3}"/>
              </a:ext>
            </a:extLst>
          </p:cNvPr>
          <p:cNvSpPr>
            <a:spLocks noGrp="1"/>
          </p:cNvSpPr>
          <p:nvPr/>
        </p:nvSpPr>
        <p:spPr>
          <a:xfrm>
            <a:off x="838200" y="2419350"/>
            <a:ext cx="95250" cy="95250"/>
          </a:xfrm>
          <a:prstGeom prst="ellipse">
            <a:avLst/>
          </a:prstGeom>
          <a:solidFill>
            <a:srgbClr val="38699C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2B40B887-D1FA-4DF7-BDD7-5819847DE22F}"/>
              </a:ext>
            </a:extLst>
          </p:cNvPr>
          <p:cNvSpPr>
            <a:spLocks noGrp="1"/>
          </p:cNvSpPr>
          <p:nvPr/>
        </p:nvSpPr>
        <p:spPr>
          <a:xfrm>
            <a:off x="1123950" y="2305050"/>
            <a:ext cx="9620250" cy="523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650">
                <a:solidFill>
                  <a:srgbClr val="17212B"/>
                </a:solidFill>
              </a:defRPr>
            </a:pPr>
            <a:r>
              <a:rPr sz="1650">
                <a:solidFill>
                  <a:srgbClr val="17212B"/>
                </a:solidFill>
              </a:rPr>
              <a:t>They absorb bursts and allow asynchronous processing.</a:t>
            </a:r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8D7118FC-98A0-4DF4-84A6-B86F81E2528B}"/>
              </a:ext>
            </a:extLst>
          </p:cNvPr>
          <p:cNvSpPr>
            <a:spLocks noGrp="1"/>
          </p:cNvSpPr>
          <p:nvPr/>
        </p:nvSpPr>
        <p:spPr>
          <a:xfrm>
            <a:off x="838200" y="3162300"/>
            <a:ext cx="95250" cy="95250"/>
          </a:xfrm>
          <a:prstGeom prst="ellipse">
            <a:avLst/>
          </a:prstGeom>
          <a:solidFill>
            <a:srgbClr val="38699C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9429DB83-07E6-48E8-BC7F-270BC8609E94}"/>
              </a:ext>
            </a:extLst>
          </p:cNvPr>
          <p:cNvSpPr>
            <a:spLocks noGrp="1"/>
          </p:cNvSpPr>
          <p:nvPr/>
        </p:nvSpPr>
        <p:spPr>
          <a:xfrm>
            <a:off x="1123950" y="3048000"/>
            <a:ext cx="9620250" cy="523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650">
                <a:solidFill>
                  <a:srgbClr val="17212B"/>
                </a:solidFill>
              </a:defRPr>
            </a:pPr>
            <a:r>
              <a:rPr sz="1650">
                <a:solidFill>
                  <a:srgbClr val="17212B"/>
                </a:solidFill>
              </a:rPr>
              <a:t>Design consumers for retries, duplicate messages, ordering limits, and dead-letter handling.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07E69D85-6BD7-49AF-A20D-28CBD43ACF39}"/>
              </a:ext>
            </a:extLst>
          </p:cNvPr>
          <p:cNvSpPr>
            <a:spLocks noGrp="1"/>
          </p:cNvSpPr>
          <p:nvPr/>
        </p:nvSpPr>
        <p:spPr>
          <a:xfrm>
            <a:off x="685800" y="4953000"/>
            <a:ext cx="10820400" cy="590550"/>
          </a:xfrm>
          <a:prstGeom prst="rect">
            <a:avLst/>
          </a:prstGeom>
          <a:solidFill>
            <a:srgbClr val="EAF2FA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0190C510-9713-4927-8A71-9558F8D63132}"/>
              </a:ext>
            </a:extLst>
          </p:cNvPr>
          <p:cNvSpPr>
            <a:spLocks noGrp="1"/>
          </p:cNvSpPr>
          <p:nvPr/>
        </p:nvSpPr>
        <p:spPr>
          <a:xfrm>
            <a:off x="952500" y="5114925"/>
            <a:ext cx="102870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650" b="1">
                <a:solidFill>
                  <a:srgbClr val="123B6D"/>
                </a:solidFill>
              </a:defRPr>
            </a:pPr>
            <a:r>
              <a:rPr sz="1650" b="1">
                <a:solidFill>
                  <a:srgbClr val="123B6D"/>
                </a:solidFill>
              </a:rPr>
              <a:t>A queue buys time and decoupling; it does not remove failure.</a:t>
            </a:r>
          </a:p>
        </p:txBody>
      </p:sp>
    </p:spTree>
    <p:extLst>
      <p:ext uri="{BB962C8B-B14F-4D97-AF65-F5344CB8AC3E}">
        <p14:creationId xmlns:p14="http://schemas.microsoft.com/office/powerpoint/2010/main" val="364665978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13">
            <a:extLst>
              <a:ext uri="{FF2B5EF4-FFF2-40B4-BE49-F238E27FC236}">
                <a16:creationId xmlns:a16="http://schemas.microsoft.com/office/drawing/2014/main" id="{25A667A5-C056-4493-91B2-A4DDA30F3AB2}"/>
              </a:ext>
            </a:extLst>
          </p:cNvPr>
          <p:cNvSpPr>
            <a:spLocks noGrp="1"/>
          </p:cNvSpPr>
          <p:nvPr/>
        </p:nvSpPr>
        <p:spPr>
          <a:xfrm>
            <a:off x="685800" y="400050"/>
            <a:ext cx="10001250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2700" b="1">
                <a:solidFill>
                  <a:srgbClr val="123B6D"/>
                </a:solidFill>
              </a:defRPr>
            </a:pPr>
            <a:r>
              <a:rPr sz="2700" b="1">
                <a:solidFill>
                  <a:srgbClr val="123B6D"/>
                </a:solidFill>
              </a:rPr>
              <a:t>Identity is the primary control plane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7624D262-939F-4224-AF4D-3399FF7261FC}"/>
              </a:ext>
            </a:extLst>
          </p:cNvPr>
          <p:cNvSpPr>
            <a:spLocks noGrp="1"/>
          </p:cNvSpPr>
          <p:nvPr/>
        </p:nvSpPr>
        <p:spPr>
          <a:xfrm>
            <a:off x="685800" y="1028700"/>
            <a:ext cx="10820400" cy="38100"/>
          </a:xfrm>
          <a:prstGeom prst="rect">
            <a:avLst/>
          </a:prstGeom>
          <a:solidFill>
            <a:srgbClr val="123B6D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11736BDB-B441-46A7-B435-915DA64DE26B}"/>
              </a:ext>
            </a:extLst>
          </p:cNvPr>
          <p:cNvSpPr>
            <a:spLocks noGrp="1"/>
          </p:cNvSpPr>
          <p:nvPr/>
        </p:nvSpPr>
        <p:spPr>
          <a:xfrm>
            <a:off x="685800" y="6419850"/>
            <a:ext cx="2143125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975">
                <a:solidFill>
                  <a:srgbClr val="52606D"/>
                </a:solidFill>
              </a:defRPr>
            </a:pPr>
            <a:r>
              <a:rPr sz="975">
                <a:solidFill>
                  <a:srgbClr val="52606D"/>
                </a:solidFill>
              </a:rPr>
              <a:t>Cloud Computing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66A97F8F-4250-46FF-A1AF-EB25EA1B5FD7}"/>
              </a:ext>
            </a:extLst>
          </p:cNvPr>
          <p:cNvSpPr>
            <a:spLocks noGrp="1"/>
          </p:cNvSpPr>
          <p:nvPr/>
        </p:nvSpPr>
        <p:spPr>
          <a:xfrm>
            <a:off x="3381375" y="6419850"/>
            <a:ext cx="65722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975">
                <a:solidFill>
                  <a:srgbClr val="52606D"/>
                </a:solidFill>
              </a:defRPr>
            </a:pPr>
            <a:r>
              <a:rPr sz="975">
                <a:solidFill>
                  <a:srgbClr val="52606D"/>
                </a:solidFill>
              </a:rPr>
              <a:t>Presented by Gregor von Laszewski (laszewski@gmail.com)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FF675E86-29AE-47B6-AC34-9FAE9381DAF2}"/>
              </a:ext>
            </a:extLst>
          </p:cNvPr>
          <p:cNvSpPr>
            <a:spLocks noGrp="1"/>
          </p:cNvSpPr>
          <p:nvPr/>
        </p:nvSpPr>
        <p:spPr>
          <a:xfrm>
            <a:off x="10858500" y="6419850"/>
            <a:ext cx="6477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975">
                <a:solidFill>
                  <a:srgbClr val="52606D"/>
                </a:solidFill>
              </a:defRPr>
            </a:pPr>
            <a:r>
              <a:rPr sz="975">
                <a:solidFill>
                  <a:srgbClr val="52606D"/>
                </a:solidFill>
              </a:rPr>
              <a:t>51</a:t>
            </a:r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280F00EE-208D-45F6-9B05-B3E8E6BBA91E}"/>
              </a:ext>
            </a:extLst>
          </p:cNvPr>
          <p:cNvSpPr>
            <a:spLocks noGrp="1"/>
          </p:cNvSpPr>
          <p:nvPr/>
        </p:nvSpPr>
        <p:spPr>
          <a:xfrm>
            <a:off x="838200" y="1676400"/>
            <a:ext cx="95250" cy="95250"/>
          </a:xfrm>
          <a:prstGeom prst="ellipse">
            <a:avLst/>
          </a:prstGeom>
          <a:solidFill>
            <a:srgbClr val="38699C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7C0FD05A-C8D2-4642-A8A1-6EBC690A6B5B}"/>
              </a:ext>
            </a:extLst>
          </p:cNvPr>
          <p:cNvSpPr>
            <a:spLocks noGrp="1"/>
          </p:cNvSpPr>
          <p:nvPr/>
        </p:nvSpPr>
        <p:spPr>
          <a:xfrm>
            <a:off x="1123950" y="1562100"/>
            <a:ext cx="9620250" cy="523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650">
                <a:solidFill>
                  <a:srgbClr val="17212B"/>
                </a:solidFill>
              </a:defRPr>
            </a:pPr>
            <a:r>
              <a:rPr sz="1650">
                <a:solidFill>
                  <a:srgbClr val="17212B"/>
                </a:solidFill>
              </a:rPr>
              <a:t>Identity proves who or what is making a request.</a:t>
            </a:r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9F9E9C9B-7B80-4935-97A8-BF42589DD477}"/>
              </a:ext>
            </a:extLst>
          </p:cNvPr>
          <p:cNvSpPr>
            <a:spLocks noGrp="1"/>
          </p:cNvSpPr>
          <p:nvPr/>
        </p:nvSpPr>
        <p:spPr>
          <a:xfrm>
            <a:off x="838200" y="2419350"/>
            <a:ext cx="95250" cy="95250"/>
          </a:xfrm>
          <a:prstGeom prst="ellipse">
            <a:avLst/>
          </a:prstGeom>
          <a:solidFill>
            <a:srgbClr val="38699C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4DEA17A3-A800-4E92-9334-58BACD348412}"/>
              </a:ext>
            </a:extLst>
          </p:cNvPr>
          <p:cNvSpPr>
            <a:spLocks noGrp="1"/>
          </p:cNvSpPr>
          <p:nvPr/>
        </p:nvSpPr>
        <p:spPr>
          <a:xfrm>
            <a:off x="1123950" y="2305050"/>
            <a:ext cx="9620250" cy="523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650">
                <a:solidFill>
                  <a:srgbClr val="17212B"/>
                </a:solidFill>
              </a:defRPr>
            </a:pPr>
            <a:r>
              <a:rPr sz="1650">
                <a:solidFill>
                  <a:srgbClr val="17212B"/>
                </a:solidFill>
              </a:rPr>
              <a:t>Authentication establishes identity; authorization decides permitted actions.</a:t>
            </a:r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03A9612D-6E26-4486-BE66-C38FD7BC725A}"/>
              </a:ext>
            </a:extLst>
          </p:cNvPr>
          <p:cNvSpPr>
            <a:spLocks noGrp="1"/>
          </p:cNvSpPr>
          <p:nvPr/>
        </p:nvSpPr>
        <p:spPr>
          <a:xfrm>
            <a:off x="838200" y="3162300"/>
            <a:ext cx="95250" cy="95250"/>
          </a:xfrm>
          <a:prstGeom prst="ellipse">
            <a:avLst/>
          </a:prstGeom>
          <a:solidFill>
            <a:srgbClr val="38699C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D847FAC1-1F12-4A5D-ADE5-F2740975E0CE}"/>
              </a:ext>
            </a:extLst>
          </p:cNvPr>
          <p:cNvSpPr>
            <a:spLocks noGrp="1"/>
          </p:cNvSpPr>
          <p:nvPr/>
        </p:nvSpPr>
        <p:spPr>
          <a:xfrm>
            <a:off x="1123950" y="3048000"/>
            <a:ext cx="9620250" cy="523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650">
                <a:solidFill>
                  <a:srgbClr val="17212B"/>
                </a:solidFill>
              </a:defRPr>
            </a:pPr>
            <a:r>
              <a:rPr sz="1650">
                <a:solidFill>
                  <a:srgbClr val="17212B"/>
                </a:solidFill>
              </a:rPr>
              <a:t>Use roles and short-lived credentials instead of sharing powerful long-lived keys.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C5D079BF-E6E7-47D0-A9A5-97044B95B69E}"/>
              </a:ext>
            </a:extLst>
          </p:cNvPr>
          <p:cNvSpPr>
            <a:spLocks noGrp="1"/>
          </p:cNvSpPr>
          <p:nvPr/>
        </p:nvSpPr>
        <p:spPr>
          <a:xfrm>
            <a:off x="685800" y="4953000"/>
            <a:ext cx="10820400" cy="590550"/>
          </a:xfrm>
          <a:prstGeom prst="rect">
            <a:avLst/>
          </a:prstGeom>
          <a:solidFill>
            <a:srgbClr val="EAF2FA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08B7415D-A5DE-4BEF-B339-A6C59154ACA3}"/>
              </a:ext>
            </a:extLst>
          </p:cNvPr>
          <p:cNvSpPr>
            <a:spLocks noGrp="1"/>
          </p:cNvSpPr>
          <p:nvPr/>
        </p:nvSpPr>
        <p:spPr>
          <a:xfrm>
            <a:off x="952500" y="5114925"/>
            <a:ext cx="102870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650" b="1">
                <a:solidFill>
                  <a:srgbClr val="123B6D"/>
                </a:solidFill>
              </a:defRPr>
            </a:pPr>
            <a:r>
              <a:rPr sz="1650" b="1">
                <a:solidFill>
                  <a:srgbClr val="123B6D"/>
                </a:solidFill>
              </a:rPr>
              <a:t>The safest credential is the one that never needs to be stored.</a:t>
            </a:r>
          </a:p>
        </p:txBody>
      </p:sp>
    </p:spTree>
    <p:extLst>
      <p:ext uri="{BB962C8B-B14F-4D97-AF65-F5344CB8AC3E}">
        <p14:creationId xmlns:p14="http://schemas.microsoft.com/office/powerpoint/2010/main" val="1610553530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13">
            <a:extLst>
              <a:ext uri="{FF2B5EF4-FFF2-40B4-BE49-F238E27FC236}">
                <a16:creationId xmlns:a16="http://schemas.microsoft.com/office/drawing/2014/main" id="{7429F8A9-9A8A-499C-9344-1154A65C57EF}"/>
              </a:ext>
            </a:extLst>
          </p:cNvPr>
          <p:cNvSpPr>
            <a:spLocks noGrp="1"/>
          </p:cNvSpPr>
          <p:nvPr/>
        </p:nvSpPr>
        <p:spPr>
          <a:xfrm>
            <a:off x="685800" y="400050"/>
            <a:ext cx="10001250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2700" b="1">
                <a:solidFill>
                  <a:srgbClr val="123B6D"/>
                </a:solidFill>
              </a:defRPr>
            </a:pPr>
            <a:r>
              <a:rPr sz="2700" b="1">
                <a:solidFill>
                  <a:srgbClr val="123B6D"/>
                </a:solidFill>
              </a:rPr>
              <a:t>Access management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378AD645-C302-48C1-A749-C7360C56DC51}"/>
              </a:ext>
            </a:extLst>
          </p:cNvPr>
          <p:cNvSpPr>
            <a:spLocks noGrp="1"/>
          </p:cNvSpPr>
          <p:nvPr/>
        </p:nvSpPr>
        <p:spPr>
          <a:xfrm>
            <a:off x="685800" y="1028700"/>
            <a:ext cx="10820400" cy="38100"/>
          </a:xfrm>
          <a:prstGeom prst="rect">
            <a:avLst/>
          </a:prstGeom>
          <a:solidFill>
            <a:srgbClr val="123B6D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CF19E35A-6929-4EB0-B8E5-90DE103D367A}"/>
              </a:ext>
            </a:extLst>
          </p:cNvPr>
          <p:cNvSpPr>
            <a:spLocks noGrp="1"/>
          </p:cNvSpPr>
          <p:nvPr/>
        </p:nvSpPr>
        <p:spPr>
          <a:xfrm>
            <a:off x="685800" y="6419850"/>
            <a:ext cx="2143125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975">
                <a:solidFill>
                  <a:srgbClr val="52606D"/>
                </a:solidFill>
              </a:defRPr>
            </a:pPr>
            <a:r>
              <a:rPr sz="975">
                <a:solidFill>
                  <a:srgbClr val="52606D"/>
                </a:solidFill>
              </a:rPr>
              <a:t>Cloud Computing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9B4B32C1-6DD9-45E9-9422-19E42042041C}"/>
              </a:ext>
            </a:extLst>
          </p:cNvPr>
          <p:cNvSpPr>
            <a:spLocks noGrp="1"/>
          </p:cNvSpPr>
          <p:nvPr/>
        </p:nvSpPr>
        <p:spPr>
          <a:xfrm>
            <a:off x="3381375" y="6419850"/>
            <a:ext cx="65722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975">
                <a:solidFill>
                  <a:srgbClr val="52606D"/>
                </a:solidFill>
              </a:defRPr>
            </a:pPr>
            <a:r>
              <a:rPr sz="975">
                <a:solidFill>
                  <a:srgbClr val="52606D"/>
                </a:solidFill>
              </a:rPr>
              <a:t>Presented by Gregor von Laszewski (laszewski@gmail.com)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32A3CBF0-3AC8-4AF1-928A-947D4832D536}"/>
              </a:ext>
            </a:extLst>
          </p:cNvPr>
          <p:cNvSpPr>
            <a:spLocks noGrp="1"/>
          </p:cNvSpPr>
          <p:nvPr/>
        </p:nvSpPr>
        <p:spPr>
          <a:xfrm>
            <a:off x="10858500" y="6419850"/>
            <a:ext cx="6477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975">
                <a:solidFill>
                  <a:srgbClr val="52606D"/>
                </a:solidFill>
              </a:defRPr>
            </a:pPr>
            <a:r>
              <a:rPr sz="975">
                <a:solidFill>
                  <a:srgbClr val="52606D"/>
                </a:solidFill>
              </a:rPr>
              <a:t>52</a:t>
            </a:r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09B10E0F-A1EA-490B-B031-CEF0491F0658}"/>
              </a:ext>
            </a:extLst>
          </p:cNvPr>
          <p:cNvSpPr>
            <a:spLocks noGrp="1"/>
          </p:cNvSpPr>
          <p:nvPr/>
        </p:nvSpPr>
        <p:spPr>
          <a:xfrm>
            <a:off x="838200" y="1676400"/>
            <a:ext cx="95250" cy="95250"/>
          </a:xfrm>
          <a:prstGeom prst="ellipse">
            <a:avLst/>
          </a:prstGeom>
          <a:solidFill>
            <a:srgbClr val="38699C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B2B50F93-FB2E-4D57-8FE7-C52F38518A4A}"/>
              </a:ext>
            </a:extLst>
          </p:cNvPr>
          <p:cNvSpPr>
            <a:spLocks noGrp="1"/>
          </p:cNvSpPr>
          <p:nvPr/>
        </p:nvSpPr>
        <p:spPr>
          <a:xfrm>
            <a:off x="1123950" y="1562100"/>
            <a:ext cx="9620250" cy="523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650">
                <a:solidFill>
                  <a:srgbClr val="17212B"/>
                </a:solidFill>
              </a:defRPr>
            </a:pPr>
            <a:r>
              <a:rPr sz="1650">
                <a:solidFill>
                  <a:srgbClr val="17212B"/>
                </a:solidFill>
              </a:rPr>
              <a:t>Grant the least privilege needed to perform a task.</a:t>
            </a:r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11926E0E-9717-48C7-ADAB-DF1FDDB64B2A}"/>
              </a:ext>
            </a:extLst>
          </p:cNvPr>
          <p:cNvSpPr>
            <a:spLocks noGrp="1"/>
          </p:cNvSpPr>
          <p:nvPr/>
        </p:nvSpPr>
        <p:spPr>
          <a:xfrm>
            <a:off x="838200" y="2419350"/>
            <a:ext cx="95250" cy="95250"/>
          </a:xfrm>
          <a:prstGeom prst="ellipse">
            <a:avLst/>
          </a:prstGeom>
          <a:solidFill>
            <a:srgbClr val="38699C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2EC7EDED-E3F4-4C5A-A651-2C685C7F1B28}"/>
              </a:ext>
            </a:extLst>
          </p:cNvPr>
          <p:cNvSpPr>
            <a:spLocks noGrp="1"/>
          </p:cNvSpPr>
          <p:nvPr/>
        </p:nvSpPr>
        <p:spPr>
          <a:xfrm>
            <a:off x="1123950" y="2305050"/>
            <a:ext cx="9620250" cy="523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650">
                <a:solidFill>
                  <a:srgbClr val="17212B"/>
                </a:solidFill>
              </a:defRPr>
            </a:pPr>
            <a:r>
              <a:rPr sz="1650">
                <a:solidFill>
                  <a:srgbClr val="17212B"/>
                </a:solidFill>
              </a:rPr>
              <a:t>Separate human access, service access, and emergency access.</a:t>
            </a:r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12FEB43C-F354-4764-A51C-3664983F5C29}"/>
              </a:ext>
            </a:extLst>
          </p:cNvPr>
          <p:cNvSpPr>
            <a:spLocks noGrp="1"/>
          </p:cNvSpPr>
          <p:nvPr/>
        </p:nvSpPr>
        <p:spPr>
          <a:xfrm>
            <a:off x="838200" y="3162300"/>
            <a:ext cx="95250" cy="95250"/>
          </a:xfrm>
          <a:prstGeom prst="ellipse">
            <a:avLst/>
          </a:prstGeom>
          <a:solidFill>
            <a:srgbClr val="38699C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30A0310E-236C-474A-8CDA-5C34C24E0ACF}"/>
              </a:ext>
            </a:extLst>
          </p:cNvPr>
          <p:cNvSpPr>
            <a:spLocks noGrp="1"/>
          </p:cNvSpPr>
          <p:nvPr/>
        </p:nvSpPr>
        <p:spPr>
          <a:xfrm>
            <a:off x="1123950" y="3048000"/>
            <a:ext cx="9620250" cy="523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650">
                <a:solidFill>
                  <a:srgbClr val="17212B"/>
                </a:solidFill>
              </a:defRPr>
            </a:pPr>
            <a:r>
              <a:rPr sz="1650">
                <a:solidFill>
                  <a:srgbClr val="17212B"/>
                </a:solidFill>
              </a:rPr>
              <a:t>Review permissions as systems and teams change.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617C1C78-6219-4748-8803-42916B28F8A3}"/>
              </a:ext>
            </a:extLst>
          </p:cNvPr>
          <p:cNvSpPr>
            <a:spLocks noGrp="1"/>
          </p:cNvSpPr>
          <p:nvPr/>
        </p:nvSpPr>
        <p:spPr>
          <a:xfrm>
            <a:off x="685800" y="4953000"/>
            <a:ext cx="10820400" cy="590550"/>
          </a:xfrm>
          <a:prstGeom prst="rect">
            <a:avLst/>
          </a:prstGeom>
          <a:solidFill>
            <a:srgbClr val="EAF2FA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71D94EB8-2B6D-4E47-93D0-841632AFB2EB}"/>
              </a:ext>
            </a:extLst>
          </p:cNvPr>
          <p:cNvSpPr>
            <a:spLocks noGrp="1"/>
          </p:cNvSpPr>
          <p:nvPr/>
        </p:nvSpPr>
        <p:spPr>
          <a:xfrm>
            <a:off x="952500" y="5114925"/>
            <a:ext cx="102870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650" b="1">
                <a:solidFill>
                  <a:srgbClr val="123B6D"/>
                </a:solidFill>
              </a:defRPr>
            </a:pPr>
            <a:r>
              <a:rPr sz="1650" b="1">
                <a:solidFill>
                  <a:srgbClr val="123B6D"/>
                </a:solidFill>
              </a:rPr>
              <a:t>Permissions are software: design, test, review, and retire them.</a:t>
            </a:r>
          </a:p>
        </p:txBody>
      </p:sp>
    </p:spTree>
    <p:extLst>
      <p:ext uri="{BB962C8B-B14F-4D97-AF65-F5344CB8AC3E}">
        <p14:creationId xmlns:p14="http://schemas.microsoft.com/office/powerpoint/2010/main" val="897047549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13">
            <a:extLst>
              <a:ext uri="{FF2B5EF4-FFF2-40B4-BE49-F238E27FC236}">
                <a16:creationId xmlns:a16="http://schemas.microsoft.com/office/drawing/2014/main" id="{02C64AD0-E9F6-44EE-86AC-0A1D1C44BFBE}"/>
              </a:ext>
            </a:extLst>
          </p:cNvPr>
          <p:cNvSpPr>
            <a:spLocks noGrp="1"/>
          </p:cNvSpPr>
          <p:nvPr/>
        </p:nvSpPr>
        <p:spPr>
          <a:xfrm>
            <a:off x="685800" y="400050"/>
            <a:ext cx="10001250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2700" b="1">
                <a:solidFill>
                  <a:srgbClr val="123B6D"/>
                </a:solidFill>
              </a:defRPr>
            </a:pPr>
            <a:r>
              <a:rPr sz="2700" b="1">
                <a:solidFill>
                  <a:srgbClr val="123B6D"/>
                </a:solidFill>
              </a:rPr>
              <a:t>Encryption and key management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2C17862E-C950-430E-B9FC-F906ED86F2FA}"/>
              </a:ext>
            </a:extLst>
          </p:cNvPr>
          <p:cNvSpPr>
            <a:spLocks noGrp="1"/>
          </p:cNvSpPr>
          <p:nvPr/>
        </p:nvSpPr>
        <p:spPr>
          <a:xfrm>
            <a:off x="685800" y="1028700"/>
            <a:ext cx="10820400" cy="38100"/>
          </a:xfrm>
          <a:prstGeom prst="rect">
            <a:avLst/>
          </a:prstGeom>
          <a:solidFill>
            <a:srgbClr val="123B6D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C2842FDF-53E0-4248-833F-217C8EC4EF34}"/>
              </a:ext>
            </a:extLst>
          </p:cNvPr>
          <p:cNvSpPr>
            <a:spLocks noGrp="1"/>
          </p:cNvSpPr>
          <p:nvPr/>
        </p:nvSpPr>
        <p:spPr>
          <a:xfrm>
            <a:off x="685800" y="6419850"/>
            <a:ext cx="2143125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975">
                <a:solidFill>
                  <a:srgbClr val="52606D"/>
                </a:solidFill>
              </a:defRPr>
            </a:pPr>
            <a:r>
              <a:rPr sz="975">
                <a:solidFill>
                  <a:srgbClr val="52606D"/>
                </a:solidFill>
              </a:rPr>
              <a:t>Cloud Computing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28957EAE-ED83-425C-A118-D8E7FF6C93D3}"/>
              </a:ext>
            </a:extLst>
          </p:cNvPr>
          <p:cNvSpPr>
            <a:spLocks noGrp="1"/>
          </p:cNvSpPr>
          <p:nvPr/>
        </p:nvSpPr>
        <p:spPr>
          <a:xfrm>
            <a:off x="3381375" y="6419850"/>
            <a:ext cx="65722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975">
                <a:solidFill>
                  <a:srgbClr val="52606D"/>
                </a:solidFill>
              </a:defRPr>
            </a:pPr>
            <a:r>
              <a:rPr sz="975">
                <a:solidFill>
                  <a:srgbClr val="52606D"/>
                </a:solidFill>
              </a:rPr>
              <a:t>Presented by Gregor von Laszewski (laszewski@gmail.com)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F8132B0D-FAF5-4E11-A2F2-BD8E1C76786A}"/>
              </a:ext>
            </a:extLst>
          </p:cNvPr>
          <p:cNvSpPr>
            <a:spLocks noGrp="1"/>
          </p:cNvSpPr>
          <p:nvPr/>
        </p:nvSpPr>
        <p:spPr>
          <a:xfrm>
            <a:off x="10858500" y="6419850"/>
            <a:ext cx="6477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975">
                <a:solidFill>
                  <a:srgbClr val="52606D"/>
                </a:solidFill>
              </a:defRPr>
            </a:pPr>
            <a:r>
              <a:rPr sz="975">
                <a:solidFill>
                  <a:srgbClr val="52606D"/>
                </a:solidFill>
              </a:rPr>
              <a:t>53</a:t>
            </a:r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278DCDB0-86C7-42C0-A12D-8731EF665800}"/>
              </a:ext>
            </a:extLst>
          </p:cNvPr>
          <p:cNvSpPr>
            <a:spLocks noGrp="1"/>
          </p:cNvSpPr>
          <p:nvPr/>
        </p:nvSpPr>
        <p:spPr>
          <a:xfrm>
            <a:off x="838200" y="1676400"/>
            <a:ext cx="95250" cy="95250"/>
          </a:xfrm>
          <a:prstGeom prst="ellipse">
            <a:avLst/>
          </a:prstGeom>
          <a:solidFill>
            <a:srgbClr val="38699C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D613D356-1D4B-4666-9832-DB8A5F1ED53B}"/>
              </a:ext>
            </a:extLst>
          </p:cNvPr>
          <p:cNvSpPr>
            <a:spLocks noGrp="1"/>
          </p:cNvSpPr>
          <p:nvPr/>
        </p:nvSpPr>
        <p:spPr>
          <a:xfrm>
            <a:off x="1123950" y="1562100"/>
            <a:ext cx="9620250" cy="523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650">
                <a:solidFill>
                  <a:srgbClr val="17212B"/>
                </a:solidFill>
              </a:defRPr>
            </a:pPr>
            <a:r>
              <a:rPr sz="1650">
                <a:solidFill>
                  <a:srgbClr val="17212B"/>
                </a:solidFill>
              </a:rPr>
              <a:t>Encryption protects data in transit and at rest.</a:t>
            </a:r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29F95D48-CB3D-4929-893A-2463E8CE0D54}"/>
              </a:ext>
            </a:extLst>
          </p:cNvPr>
          <p:cNvSpPr>
            <a:spLocks noGrp="1"/>
          </p:cNvSpPr>
          <p:nvPr/>
        </p:nvSpPr>
        <p:spPr>
          <a:xfrm>
            <a:off x="838200" y="2419350"/>
            <a:ext cx="95250" cy="95250"/>
          </a:xfrm>
          <a:prstGeom prst="ellipse">
            <a:avLst/>
          </a:prstGeom>
          <a:solidFill>
            <a:srgbClr val="38699C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445766E1-B1FB-4ED0-8C17-C73235191F07}"/>
              </a:ext>
            </a:extLst>
          </p:cNvPr>
          <p:cNvSpPr>
            <a:spLocks noGrp="1"/>
          </p:cNvSpPr>
          <p:nvPr/>
        </p:nvSpPr>
        <p:spPr>
          <a:xfrm>
            <a:off x="1123950" y="2305050"/>
            <a:ext cx="9620250" cy="523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650">
                <a:solidFill>
                  <a:srgbClr val="17212B"/>
                </a:solidFill>
              </a:defRPr>
            </a:pPr>
            <a:r>
              <a:rPr sz="1650">
                <a:solidFill>
                  <a:srgbClr val="17212B"/>
                </a:solidFill>
              </a:rPr>
              <a:t>Keys must be protected, rotated, and accessible only to intended identities.</a:t>
            </a:r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FA395902-53A2-4E66-999A-39071AAD83A6}"/>
              </a:ext>
            </a:extLst>
          </p:cNvPr>
          <p:cNvSpPr>
            <a:spLocks noGrp="1"/>
          </p:cNvSpPr>
          <p:nvPr/>
        </p:nvSpPr>
        <p:spPr>
          <a:xfrm>
            <a:off x="838200" y="3162300"/>
            <a:ext cx="95250" cy="95250"/>
          </a:xfrm>
          <a:prstGeom prst="ellipse">
            <a:avLst/>
          </a:prstGeom>
          <a:solidFill>
            <a:srgbClr val="38699C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3F238F97-16FF-41E2-BAE0-87D31435C418}"/>
              </a:ext>
            </a:extLst>
          </p:cNvPr>
          <p:cNvSpPr>
            <a:spLocks noGrp="1"/>
          </p:cNvSpPr>
          <p:nvPr/>
        </p:nvSpPr>
        <p:spPr>
          <a:xfrm>
            <a:off x="1123950" y="3048000"/>
            <a:ext cx="9620250" cy="523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650">
                <a:solidFill>
                  <a:srgbClr val="17212B"/>
                </a:solidFill>
              </a:defRPr>
            </a:pPr>
            <a:r>
              <a:rPr sz="1650">
                <a:solidFill>
                  <a:srgbClr val="17212B"/>
                </a:solidFill>
              </a:rPr>
              <a:t>Encryption is necessary but does not fix excessive access permissions.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2DD8C8A0-0C30-4AEE-AA70-0EA2B256F024}"/>
              </a:ext>
            </a:extLst>
          </p:cNvPr>
          <p:cNvSpPr>
            <a:spLocks noGrp="1"/>
          </p:cNvSpPr>
          <p:nvPr/>
        </p:nvSpPr>
        <p:spPr>
          <a:xfrm>
            <a:off x="685800" y="4953000"/>
            <a:ext cx="10820400" cy="590550"/>
          </a:xfrm>
          <a:prstGeom prst="rect">
            <a:avLst/>
          </a:prstGeom>
          <a:solidFill>
            <a:srgbClr val="EAF2FA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0F25DD06-8D56-42ED-A1F1-3D72E4A266C4}"/>
              </a:ext>
            </a:extLst>
          </p:cNvPr>
          <p:cNvSpPr>
            <a:spLocks noGrp="1"/>
          </p:cNvSpPr>
          <p:nvPr/>
        </p:nvSpPr>
        <p:spPr>
          <a:xfrm>
            <a:off x="952500" y="5114925"/>
            <a:ext cx="102870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650" b="1">
                <a:solidFill>
                  <a:srgbClr val="123B6D"/>
                </a:solidFill>
              </a:defRPr>
            </a:pPr>
            <a:r>
              <a:rPr sz="1650" b="1">
                <a:solidFill>
                  <a:srgbClr val="123B6D"/>
                </a:solidFill>
              </a:rPr>
              <a:t>Protect the data, protect the keys, and protect the identities that use the keys.</a:t>
            </a:r>
          </a:p>
        </p:txBody>
      </p:sp>
    </p:spTree>
    <p:extLst>
      <p:ext uri="{BB962C8B-B14F-4D97-AF65-F5344CB8AC3E}">
        <p14:creationId xmlns:p14="http://schemas.microsoft.com/office/powerpoint/2010/main" val="325679091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13">
            <a:extLst>
              <a:ext uri="{FF2B5EF4-FFF2-40B4-BE49-F238E27FC236}">
                <a16:creationId xmlns:a16="http://schemas.microsoft.com/office/drawing/2014/main" id="{17296932-0270-43FC-B032-20403E526C4E}"/>
              </a:ext>
            </a:extLst>
          </p:cNvPr>
          <p:cNvSpPr>
            <a:spLocks noGrp="1"/>
          </p:cNvSpPr>
          <p:nvPr/>
        </p:nvSpPr>
        <p:spPr>
          <a:xfrm>
            <a:off x="685800" y="400050"/>
            <a:ext cx="10001250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2700" b="1">
                <a:solidFill>
                  <a:srgbClr val="123B6D"/>
                </a:solidFill>
              </a:defRPr>
            </a:pPr>
            <a:r>
              <a:rPr sz="2700" b="1">
                <a:solidFill>
                  <a:srgbClr val="123B6D"/>
                </a:solidFill>
              </a:rPr>
              <a:t>Secrets management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33C9C3E1-3C9B-40EB-887D-962D97D549DF}"/>
              </a:ext>
            </a:extLst>
          </p:cNvPr>
          <p:cNvSpPr>
            <a:spLocks noGrp="1"/>
          </p:cNvSpPr>
          <p:nvPr/>
        </p:nvSpPr>
        <p:spPr>
          <a:xfrm>
            <a:off x="685800" y="1028700"/>
            <a:ext cx="10820400" cy="38100"/>
          </a:xfrm>
          <a:prstGeom prst="rect">
            <a:avLst/>
          </a:prstGeom>
          <a:solidFill>
            <a:srgbClr val="123B6D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962F786E-C16D-4B12-9E5E-91B866D281ED}"/>
              </a:ext>
            </a:extLst>
          </p:cNvPr>
          <p:cNvSpPr>
            <a:spLocks noGrp="1"/>
          </p:cNvSpPr>
          <p:nvPr/>
        </p:nvSpPr>
        <p:spPr>
          <a:xfrm>
            <a:off x="685800" y="6419850"/>
            <a:ext cx="2143125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975">
                <a:solidFill>
                  <a:srgbClr val="52606D"/>
                </a:solidFill>
              </a:defRPr>
            </a:pPr>
            <a:r>
              <a:rPr sz="975">
                <a:solidFill>
                  <a:srgbClr val="52606D"/>
                </a:solidFill>
              </a:rPr>
              <a:t>Cloud Computing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DCD8C23F-28DC-463B-A498-6C9F471BCEB7}"/>
              </a:ext>
            </a:extLst>
          </p:cNvPr>
          <p:cNvSpPr>
            <a:spLocks noGrp="1"/>
          </p:cNvSpPr>
          <p:nvPr/>
        </p:nvSpPr>
        <p:spPr>
          <a:xfrm>
            <a:off x="3381375" y="6419850"/>
            <a:ext cx="65722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975">
                <a:solidFill>
                  <a:srgbClr val="52606D"/>
                </a:solidFill>
              </a:defRPr>
            </a:pPr>
            <a:r>
              <a:rPr sz="975">
                <a:solidFill>
                  <a:srgbClr val="52606D"/>
                </a:solidFill>
              </a:rPr>
              <a:t>Presented by Gregor von Laszewski (laszewski@gmail.com)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1CE54FB1-0598-41BE-91D3-27B969AE9BCC}"/>
              </a:ext>
            </a:extLst>
          </p:cNvPr>
          <p:cNvSpPr>
            <a:spLocks noGrp="1"/>
          </p:cNvSpPr>
          <p:nvPr/>
        </p:nvSpPr>
        <p:spPr>
          <a:xfrm>
            <a:off x="10858500" y="6419850"/>
            <a:ext cx="6477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975">
                <a:solidFill>
                  <a:srgbClr val="52606D"/>
                </a:solidFill>
              </a:defRPr>
            </a:pPr>
            <a:r>
              <a:rPr sz="975">
                <a:solidFill>
                  <a:srgbClr val="52606D"/>
                </a:solidFill>
              </a:rPr>
              <a:t>54</a:t>
            </a:r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71D4C359-AE98-4E83-B80D-228E667B8479}"/>
              </a:ext>
            </a:extLst>
          </p:cNvPr>
          <p:cNvSpPr>
            <a:spLocks noGrp="1"/>
          </p:cNvSpPr>
          <p:nvPr/>
        </p:nvSpPr>
        <p:spPr>
          <a:xfrm>
            <a:off x="838200" y="1676400"/>
            <a:ext cx="95250" cy="95250"/>
          </a:xfrm>
          <a:prstGeom prst="ellipse">
            <a:avLst/>
          </a:prstGeom>
          <a:solidFill>
            <a:srgbClr val="38699C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62B2816D-D30F-4B1C-990F-A70A4189B062}"/>
              </a:ext>
            </a:extLst>
          </p:cNvPr>
          <p:cNvSpPr>
            <a:spLocks noGrp="1"/>
          </p:cNvSpPr>
          <p:nvPr/>
        </p:nvSpPr>
        <p:spPr>
          <a:xfrm>
            <a:off x="1123950" y="1562100"/>
            <a:ext cx="9620250" cy="523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650">
                <a:solidFill>
                  <a:srgbClr val="17212B"/>
                </a:solidFill>
              </a:defRPr>
            </a:pPr>
            <a:r>
              <a:rPr sz="1650">
                <a:solidFill>
                  <a:srgbClr val="17212B"/>
                </a:solidFill>
              </a:rPr>
              <a:t>Secrets include passwords, API keys, tokens, and private certificates.</a:t>
            </a:r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99BB4435-4910-45D4-85ED-2F5BADEB64E1}"/>
              </a:ext>
            </a:extLst>
          </p:cNvPr>
          <p:cNvSpPr>
            <a:spLocks noGrp="1"/>
          </p:cNvSpPr>
          <p:nvPr/>
        </p:nvSpPr>
        <p:spPr>
          <a:xfrm>
            <a:off x="838200" y="2419350"/>
            <a:ext cx="95250" cy="95250"/>
          </a:xfrm>
          <a:prstGeom prst="ellipse">
            <a:avLst/>
          </a:prstGeom>
          <a:solidFill>
            <a:srgbClr val="38699C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1E1D4D60-01F7-4CA8-95E5-F16E045FB3FE}"/>
              </a:ext>
            </a:extLst>
          </p:cNvPr>
          <p:cNvSpPr>
            <a:spLocks noGrp="1"/>
          </p:cNvSpPr>
          <p:nvPr/>
        </p:nvSpPr>
        <p:spPr>
          <a:xfrm>
            <a:off x="1123950" y="2305050"/>
            <a:ext cx="9620250" cy="523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650">
                <a:solidFill>
                  <a:srgbClr val="17212B"/>
                </a:solidFill>
              </a:defRPr>
            </a:pPr>
            <a:r>
              <a:rPr sz="1650">
                <a:solidFill>
                  <a:srgbClr val="17212B"/>
                </a:solidFill>
              </a:rPr>
              <a:t>Store secrets in dedicated managed systems, not source code or configuration files.</a:t>
            </a:r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132AE544-3E93-4BAF-B70B-C4300AED1293}"/>
              </a:ext>
            </a:extLst>
          </p:cNvPr>
          <p:cNvSpPr>
            <a:spLocks noGrp="1"/>
          </p:cNvSpPr>
          <p:nvPr/>
        </p:nvSpPr>
        <p:spPr>
          <a:xfrm>
            <a:off x="838200" y="3162300"/>
            <a:ext cx="95250" cy="95250"/>
          </a:xfrm>
          <a:prstGeom prst="ellipse">
            <a:avLst/>
          </a:prstGeom>
          <a:solidFill>
            <a:srgbClr val="38699C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5F633B09-E77D-46F7-9989-629AD08BD3F8}"/>
              </a:ext>
            </a:extLst>
          </p:cNvPr>
          <p:cNvSpPr>
            <a:spLocks noGrp="1"/>
          </p:cNvSpPr>
          <p:nvPr/>
        </p:nvSpPr>
        <p:spPr>
          <a:xfrm>
            <a:off x="1123950" y="3048000"/>
            <a:ext cx="9620250" cy="523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650">
                <a:solidFill>
                  <a:srgbClr val="17212B"/>
                </a:solidFill>
              </a:defRPr>
            </a:pPr>
            <a:r>
              <a:rPr sz="1650">
                <a:solidFill>
                  <a:srgbClr val="17212B"/>
                </a:solidFill>
              </a:rPr>
              <a:t>Rotate secrets and audit access to them.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ACD2FA62-6979-4BD3-92E9-481D1A76EC1A}"/>
              </a:ext>
            </a:extLst>
          </p:cNvPr>
          <p:cNvSpPr>
            <a:spLocks noGrp="1"/>
          </p:cNvSpPr>
          <p:nvPr/>
        </p:nvSpPr>
        <p:spPr>
          <a:xfrm>
            <a:off x="685800" y="4953000"/>
            <a:ext cx="10820400" cy="590550"/>
          </a:xfrm>
          <a:prstGeom prst="rect">
            <a:avLst/>
          </a:prstGeom>
          <a:solidFill>
            <a:srgbClr val="EAF2FA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BB2CEE92-A0F1-4521-A99F-458FC0B41AD4}"/>
              </a:ext>
            </a:extLst>
          </p:cNvPr>
          <p:cNvSpPr>
            <a:spLocks noGrp="1"/>
          </p:cNvSpPr>
          <p:nvPr/>
        </p:nvSpPr>
        <p:spPr>
          <a:xfrm>
            <a:off x="952500" y="5114925"/>
            <a:ext cx="102870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650" b="1">
                <a:solidFill>
                  <a:srgbClr val="123B6D"/>
                </a:solidFill>
              </a:defRPr>
            </a:pPr>
            <a:r>
              <a:rPr sz="1650" b="1">
                <a:solidFill>
                  <a:srgbClr val="123B6D"/>
                </a:solidFill>
              </a:rPr>
              <a:t>If a secret appears in a slide, chat, or repository, treat it as exposed.</a:t>
            </a:r>
          </a:p>
        </p:txBody>
      </p:sp>
    </p:spTree>
    <p:extLst>
      <p:ext uri="{BB962C8B-B14F-4D97-AF65-F5344CB8AC3E}">
        <p14:creationId xmlns:p14="http://schemas.microsoft.com/office/powerpoint/2010/main" val="1690135428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13">
            <a:extLst>
              <a:ext uri="{FF2B5EF4-FFF2-40B4-BE49-F238E27FC236}">
                <a16:creationId xmlns:a16="http://schemas.microsoft.com/office/drawing/2014/main" id="{CFEE2F00-AACA-42D3-A358-A7EB690052C5}"/>
              </a:ext>
            </a:extLst>
          </p:cNvPr>
          <p:cNvSpPr>
            <a:spLocks noGrp="1"/>
          </p:cNvSpPr>
          <p:nvPr/>
        </p:nvSpPr>
        <p:spPr>
          <a:xfrm>
            <a:off x="685800" y="400050"/>
            <a:ext cx="10001250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2700" b="1">
                <a:solidFill>
                  <a:srgbClr val="123B6D"/>
                </a:solidFill>
              </a:defRPr>
            </a:pPr>
            <a:r>
              <a:rPr sz="2700" b="1">
                <a:solidFill>
                  <a:srgbClr val="123B6D"/>
                </a:solidFill>
              </a:rPr>
              <a:t>Logs, metrics, and traces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D38E1C57-7FC4-476B-B875-48AD2C0C1515}"/>
              </a:ext>
            </a:extLst>
          </p:cNvPr>
          <p:cNvSpPr>
            <a:spLocks noGrp="1"/>
          </p:cNvSpPr>
          <p:nvPr/>
        </p:nvSpPr>
        <p:spPr>
          <a:xfrm>
            <a:off x="685800" y="1028700"/>
            <a:ext cx="10820400" cy="38100"/>
          </a:xfrm>
          <a:prstGeom prst="rect">
            <a:avLst/>
          </a:prstGeom>
          <a:solidFill>
            <a:srgbClr val="123B6D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0D94E393-5D8F-4519-AFE3-74E92C018E66}"/>
              </a:ext>
            </a:extLst>
          </p:cNvPr>
          <p:cNvSpPr>
            <a:spLocks noGrp="1"/>
          </p:cNvSpPr>
          <p:nvPr/>
        </p:nvSpPr>
        <p:spPr>
          <a:xfrm>
            <a:off x="685800" y="6419850"/>
            <a:ext cx="2143125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975">
                <a:solidFill>
                  <a:srgbClr val="52606D"/>
                </a:solidFill>
              </a:defRPr>
            </a:pPr>
            <a:r>
              <a:rPr sz="975">
                <a:solidFill>
                  <a:srgbClr val="52606D"/>
                </a:solidFill>
              </a:rPr>
              <a:t>Cloud Computing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8DD673EC-2B43-461C-B9C7-B15A7E0C4E7D}"/>
              </a:ext>
            </a:extLst>
          </p:cNvPr>
          <p:cNvSpPr>
            <a:spLocks noGrp="1"/>
          </p:cNvSpPr>
          <p:nvPr/>
        </p:nvSpPr>
        <p:spPr>
          <a:xfrm>
            <a:off x="3381375" y="6419850"/>
            <a:ext cx="65722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975">
                <a:solidFill>
                  <a:srgbClr val="52606D"/>
                </a:solidFill>
              </a:defRPr>
            </a:pPr>
            <a:r>
              <a:rPr sz="975">
                <a:solidFill>
                  <a:srgbClr val="52606D"/>
                </a:solidFill>
              </a:rPr>
              <a:t>Presented by Gregor von Laszewski (laszewski@gmail.com)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01779C9C-0BCD-479D-AF94-94F035A4A0DD}"/>
              </a:ext>
            </a:extLst>
          </p:cNvPr>
          <p:cNvSpPr>
            <a:spLocks noGrp="1"/>
          </p:cNvSpPr>
          <p:nvPr/>
        </p:nvSpPr>
        <p:spPr>
          <a:xfrm>
            <a:off x="10858500" y="6419850"/>
            <a:ext cx="6477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975">
                <a:solidFill>
                  <a:srgbClr val="52606D"/>
                </a:solidFill>
              </a:defRPr>
            </a:pPr>
            <a:r>
              <a:rPr sz="975">
                <a:solidFill>
                  <a:srgbClr val="52606D"/>
                </a:solidFill>
              </a:rPr>
              <a:t>55</a:t>
            </a:r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A8173224-BBDB-4F6D-A3EB-E9D19666C2E6}"/>
              </a:ext>
            </a:extLst>
          </p:cNvPr>
          <p:cNvSpPr>
            <a:spLocks noGrp="1"/>
          </p:cNvSpPr>
          <p:nvPr/>
        </p:nvSpPr>
        <p:spPr>
          <a:xfrm>
            <a:off x="838200" y="1676400"/>
            <a:ext cx="95250" cy="95250"/>
          </a:xfrm>
          <a:prstGeom prst="ellipse">
            <a:avLst/>
          </a:prstGeom>
          <a:solidFill>
            <a:srgbClr val="38699C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A2FACE42-4FFF-405D-9018-A813D685D785}"/>
              </a:ext>
            </a:extLst>
          </p:cNvPr>
          <p:cNvSpPr>
            <a:spLocks noGrp="1"/>
          </p:cNvSpPr>
          <p:nvPr/>
        </p:nvSpPr>
        <p:spPr>
          <a:xfrm>
            <a:off x="1123950" y="1562100"/>
            <a:ext cx="9620250" cy="523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650">
                <a:solidFill>
                  <a:srgbClr val="17212B"/>
                </a:solidFill>
              </a:defRPr>
            </a:pPr>
            <a:r>
              <a:rPr sz="1650">
                <a:solidFill>
                  <a:srgbClr val="17212B"/>
                </a:solidFill>
              </a:rPr>
              <a:t>Logs record discrete events and diagnostic detail.</a:t>
            </a:r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0D01E798-0CC0-4611-A458-E3BD2EADE965}"/>
              </a:ext>
            </a:extLst>
          </p:cNvPr>
          <p:cNvSpPr>
            <a:spLocks noGrp="1"/>
          </p:cNvSpPr>
          <p:nvPr/>
        </p:nvSpPr>
        <p:spPr>
          <a:xfrm>
            <a:off x="838200" y="2419350"/>
            <a:ext cx="95250" cy="95250"/>
          </a:xfrm>
          <a:prstGeom prst="ellipse">
            <a:avLst/>
          </a:prstGeom>
          <a:solidFill>
            <a:srgbClr val="38699C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4416FAA0-1D77-4B46-9058-6DD9E83316F4}"/>
              </a:ext>
            </a:extLst>
          </p:cNvPr>
          <p:cNvSpPr>
            <a:spLocks noGrp="1"/>
          </p:cNvSpPr>
          <p:nvPr/>
        </p:nvSpPr>
        <p:spPr>
          <a:xfrm>
            <a:off x="1123950" y="2305050"/>
            <a:ext cx="9620250" cy="523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650">
                <a:solidFill>
                  <a:srgbClr val="17212B"/>
                </a:solidFill>
              </a:defRPr>
            </a:pPr>
            <a:r>
              <a:rPr sz="1650">
                <a:solidFill>
                  <a:srgbClr val="17212B"/>
                </a:solidFill>
              </a:rPr>
              <a:t>Metrics measure numeric behavior over time.</a:t>
            </a:r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FCCA5637-D5DE-4211-AFA2-076E9AF5821F}"/>
              </a:ext>
            </a:extLst>
          </p:cNvPr>
          <p:cNvSpPr>
            <a:spLocks noGrp="1"/>
          </p:cNvSpPr>
          <p:nvPr/>
        </p:nvSpPr>
        <p:spPr>
          <a:xfrm>
            <a:off x="838200" y="3162300"/>
            <a:ext cx="95250" cy="95250"/>
          </a:xfrm>
          <a:prstGeom prst="ellipse">
            <a:avLst/>
          </a:prstGeom>
          <a:solidFill>
            <a:srgbClr val="38699C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216FB83F-8980-41EE-ADCB-4A3565870DB1}"/>
              </a:ext>
            </a:extLst>
          </p:cNvPr>
          <p:cNvSpPr>
            <a:spLocks noGrp="1"/>
          </p:cNvSpPr>
          <p:nvPr/>
        </p:nvSpPr>
        <p:spPr>
          <a:xfrm>
            <a:off x="1123950" y="3048000"/>
            <a:ext cx="9620250" cy="523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650">
                <a:solidFill>
                  <a:srgbClr val="17212B"/>
                </a:solidFill>
              </a:defRPr>
            </a:pPr>
            <a:r>
              <a:rPr sz="1650">
                <a:solidFill>
                  <a:srgbClr val="17212B"/>
                </a:solidFill>
              </a:rPr>
              <a:t>Traces follow a request across multiple services.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211C12B7-54AF-46F8-8E05-ED6752A2BED0}"/>
              </a:ext>
            </a:extLst>
          </p:cNvPr>
          <p:cNvSpPr>
            <a:spLocks noGrp="1"/>
          </p:cNvSpPr>
          <p:nvPr/>
        </p:nvSpPr>
        <p:spPr>
          <a:xfrm>
            <a:off x="685800" y="4953000"/>
            <a:ext cx="10820400" cy="590550"/>
          </a:xfrm>
          <a:prstGeom prst="rect">
            <a:avLst/>
          </a:prstGeom>
          <a:solidFill>
            <a:srgbClr val="EAF2FA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632BA5BE-7966-492D-AD0E-0848781769D6}"/>
              </a:ext>
            </a:extLst>
          </p:cNvPr>
          <p:cNvSpPr>
            <a:spLocks noGrp="1"/>
          </p:cNvSpPr>
          <p:nvPr/>
        </p:nvSpPr>
        <p:spPr>
          <a:xfrm>
            <a:off x="952500" y="5114925"/>
            <a:ext cx="102870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650" b="1">
                <a:solidFill>
                  <a:srgbClr val="123B6D"/>
                </a:solidFill>
              </a:defRPr>
            </a:pPr>
            <a:r>
              <a:rPr sz="1650" b="1">
                <a:solidFill>
                  <a:srgbClr val="123B6D"/>
                </a:solidFill>
              </a:rPr>
              <a:t>Use the right signal for the question you are trying to answer.</a:t>
            </a:r>
          </a:p>
        </p:txBody>
      </p:sp>
    </p:spTree>
    <p:extLst>
      <p:ext uri="{BB962C8B-B14F-4D97-AF65-F5344CB8AC3E}">
        <p14:creationId xmlns:p14="http://schemas.microsoft.com/office/powerpoint/2010/main" val="80912102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13">
            <a:extLst>
              <a:ext uri="{FF2B5EF4-FFF2-40B4-BE49-F238E27FC236}">
                <a16:creationId xmlns:a16="http://schemas.microsoft.com/office/drawing/2014/main" id="{534509B9-69E6-4433-BEE2-CF59D821BC19}"/>
              </a:ext>
            </a:extLst>
          </p:cNvPr>
          <p:cNvSpPr>
            <a:spLocks noGrp="1"/>
          </p:cNvSpPr>
          <p:nvPr/>
        </p:nvSpPr>
        <p:spPr>
          <a:xfrm>
            <a:off x="685800" y="400050"/>
            <a:ext cx="10001250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2700" b="1">
                <a:solidFill>
                  <a:srgbClr val="123B6D"/>
                </a:solidFill>
              </a:defRPr>
            </a:pPr>
            <a:r>
              <a:rPr sz="2700" b="1">
                <a:solidFill>
                  <a:srgbClr val="123B6D"/>
                </a:solidFill>
              </a:rPr>
              <a:t>Observability supports learning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AD24CD84-0ED3-49A2-8726-C93884495028}"/>
              </a:ext>
            </a:extLst>
          </p:cNvPr>
          <p:cNvSpPr>
            <a:spLocks noGrp="1"/>
          </p:cNvSpPr>
          <p:nvPr/>
        </p:nvSpPr>
        <p:spPr>
          <a:xfrm>
            <a:off x="685800" y="1028700"/>
            <a:ext cx="10820400" cy="38100"/>
          </a:xfrm>
          <a:prstGeom prst="rect">
            <a:avLst/>
          </a:prstGeom>
          <a:solidFill>
            <a:srgbClr val="123B6D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0CC67652-A441-40B0-8719-550801180377}"/>
              </a:ext>
            </a:extLst>
          </p:cNvPr>
          <p:cNvSpPr>
            <a:spLocks noGrp="1"/>
          </p:cNvSpPr>
          <p:nvPr/>
        </p:nvSpPr>
        <p:spPr>
          <a:xfrm>
            <a:off x="685800" y="6419850"/>
            <a:ext cx="2143125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975">
                <a:solidFill>
                  <a:srgbClr val="52606D"/>
                </a:solidFill>
              </a:defRPr>
            </a:pPr>
            <a:r>
              <a:rPr sz="975">
                <a:solidFill>
                  <a:srgbClr val="52606D"/>
                </a:solidFill>
              </a:rPr>
              <a:t>Cloud Computing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06BAABAD-686A-491A-A380-883B72CE4772}"/>
              </a:ext>
            </a:extLst>
          </p:cNvPr>
          <p:cNvSpPr>
            <a:spLocks noGrp="1"/>
          </p:cNvSpPr>
          <p:nvPr/>
        </p:nvSpPr>
        <p:spPr>
          <a:xfrm>
            <a:off x="3381375" y="6419850"/>
            <a:ext cx="65722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975">
                <a:solidFill>
                  <a:srgbClr val="52606D"/>
                </a:solidFill>
              </a:defRPr>
            </a:pPr>
            <a:r>
              <a:rPr sz="975">
                <a:solidFill>
                  <a:srgbClr val="52606D"/>
                </a:solidFill>
              </a:rPr>
              <a:t>Presented by Gregor von Laszewski (laszewski@gmail.com)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B71EF79B-8EF3-4085-B2B3-DA02089440D2}"/>
              </a:ext>
            </a:extLst>
          </p:cNvPr>
          <p:cNvSpPr>
            <a:spLocks noGrp="1"/>
          </p:cNvSpPr>
          <p:nvPr/>
        </p:nvSpPr>
        <p:spPr>
          <a:xfrm>
            <a:off x="10858500" y="6419850"/>
            <a:ext cx="6477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975">
                <a:solidFill>
                  <a:srgbClr val="52606D"/>
                </a:solidFill>
              </a:defRPr>
            </a:pPr>
            <a:r>
              <a:rPr sz="975">
                <a:solidFill>
                  <a:srgbClr val="52606D"/>
                </a:solidFill>
              </a:rPr>
              <a:t>56</a:t>
            </a:r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C9611271-B398-4CED-BA41-BEE904C72457}"/>
              </a:ext>
            </a:extLst>
          </p:cNvPr>
          <p:cNvSpPr>
            <a:spLocks noGrp="1"/>
          </p:cNvSpPr>
          <p:nvPr/>
        </p:nvSpPr>
        <p:spPr>
          <a:xfrm>
            <a:off x="838200" y="1676400"/>
            <a:ext cx="95250" cy="95250"/>
          </a:xfrm>
          <a:prstGeom prst="ellipse">
            <a:avLst/>
          </a:prstGeom>
          <a:solidFill>
            <a:srgbClr val="38699C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AF95AA48-4977-4B07-9AE6-3333F204C181}"/>
              </a:ext>
            </a:extLst>
          </p:cNvPr>
          <p:cNvSpPr>
            <a:spLocks noGrp="1"/>
          </p:cNvSpPr>
          <p:nvPr/>
        </p:nvSpPr>
        <p:spPr>
          <a:xfrm>
            <a:off x="1123950" y="1562100"/>
            <a:ext cx="9620250" cy="523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650">
                <a:solidFill>
                  <a:srgbClr val="17212B"/>
                </a:solidFill>
              </a:defRPr>
            </a:pPr>
            <a:r>
              <a:rPr sz="1650">
                <a:solidFill>
                  <a:srgbClr val="17212B"/>
                </a:solidFill>
              </a:rPr>
              <a:t>Observability helps teams understand system behavior from its outputs.</a:t>
            </a:r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0C3D48BE-FCE4-4339-8E88-A9A77E863E74}"/>
              </a:ext>
            </a:extLst>
          </p:cNvPr>
          <p:cNvSpPr>
            <a:spLocks noGrp="1"/>
          </p:cNvSpPr>
          <p:nvPr/>
        </p:nvSpPr>
        <p:spPr>
          <a:xfrm>
            <a:off x="838200" y="2419350"/>
            <a:ext cx="95250" cy="95250"/>
          </a:xfrm>
          <a:prstGeom prst="ellipse">
            <a:avLst/>
          </a:prstGeom>
          <a:solidFill>
            <a:srgbClr val="38699C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F1372A02-8115-4206-B1FB-DF0BEC4E2B64}"/>
              </a:ext>
            </a:extLst>
          </p:cNvPr>
          <p:cNvSpPr>
            <a:spLocks noGrp="1"/>
          </p:cNvSpPr>
          <p:nvPr/>
        </p:nvSpPr>
        <p:spPr>
          <a:xfrm>
            <a:off x="1123950" y="2305050"/>
            <a:ext cx="9620250" cy="523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650">
                <a:solidFill>
                  <a:srgbClr val="17212B"/>
                </a:solidFill>
              </a:defRPr>
            </a:pPr>
            <a:r>
              <a:rPr sz="1650">
                <a:solidFill>
                  <a:srgbClr val="17212B"/>
                </a:solidFill>
              </a:rPr>
              <a:t>It needs useful telemetry, meaningful dashboards, and clear ownership.</a:t>
            </a:r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7FF28F05-EDDE-485A-B878-B1BA44FA908E}"/>
              </a:ext>
            </a:extLst>
          </p:cNvPr>
          <p:cNvSpPr>
            <a:spLocks noGrp="1"/>
          </p:cNvSpPr>
          <p:nvPr/>
        </p:nvSpPr>
        <p:spPr>
          <a:xfrm>
            <a:off x="838200" y="3162300"/>
            <a:ext cx="95250" cy="95250"/>
          </a:xfrm>
          <a:prstGeom prst="ellipse">
            <a:avLst/>
          </a:prstGeom>
          <a:solidFill>
            <a:srgbClr val="38699C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282548E1-AFE7-4BF9-AC01-085DE7C168FA}"/>
              </a:ext>
            </a:extLst>
          </p:cNvPr>
          <p:cNvSpPr>
            <a:spLocks noGrp="1"/>
          </p:cNvSpPr>
          <p:nvPr/>
        </p:nvSpPr>
        <p:spPr>
          <a:xfrm>
            <a:off x="1123950" y="3048000"/>
            <a:ext cx="9620250" cy="523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650">
                <a:solidFill>
                  <a:srgbClr val="17212B"/>
                </a:solidFill>
              </a:defRPr>
            </a:pPr>
            <a:r>
              <a:rPr sz="1650">
                <a:solidFill>
                  <a:srgbClr val="17212B"/>
                </a:solidFill>
              </a:rPr>
              <a:t>The most valuable signal is tied to an action a team can take.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187121F5-A480-4931-ABAB-1E2F17505C30}"/>
              </a:ext>
            </a:extLst>
          </p:cNvPr>
          <p:cNvSpPr>
            <a:spLocks noGrp="1"/>
          </p:cNvSpPr>
          <p:nvPr/>
        </p:nvSpPr>
        <p:spPr>
          <a:xfrm>
            <a:off x="685800" y="4953000"/>
            <a:ext cx="10820400" cy="590550"/>
          </a:xfrm>
          <a:prstGeom prst="rect">
            <a:avLst/>
          </a:prstGeom>
          <a:solidFill>
            <a:srgbClr val="EAF2FA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F6C4B350-B385-42C0-AE5B-16F7E4E2AF51}"/>
              </a:ext>
            </a:extLst>
          </p:cNvPr>
          <p:cNvSpPr>
            <a:spLocks noGrp="1"/>
          </p:cNvSpPr>
          <p:nvPr/>
        </p:nvSpPr>
        <p:spPr>
          <a:xfrm>
            <a:off x="952500" y="5114925"/>
            <a:ext cx="102870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650" b="1">
                <a:solidFill>
                  <a:srgbClr val="123B6D"/>
                </a:solidFill>
              </a:defRPr>
            </a:pPr>
            <a:r>
              <a:rPr sz="1650" b="1">
                <a:solidFill>
                  <a:srgbClr val="123B6D"/>
                </a:solidFill>
              </a:rPr>
              <a:t>Instrument the customer journey, not just infrastructure components.</a:t>
            </a:r>
          </a:p>
        </p:txBody>
      </p:sp>
    </p:spTree>
    <p:extLst>
      <p:ext uri="{BB962C8B-B14F-4D97-AF65-F5344CB8AC3E}">
        <p14:creationId xmlns:p14="http://schemas.microsoft.com/office/powerpoint/2010/main" val="1731530253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13">
            <a:extLst>
              <a:ext uri="{FF2B5EF4-FFF2-40B4-BE49-F238E27FC236}">
                <a16:creationId xmlns:a16="http://schemas.microsoft.com/office/drawing/2014/main" id="{88BB63FE-D3C8-4075-9339-BF0EDA61375E}"/>
              </a:ext>
            </a:extLst>
          </p:cNvPr>
          <p:cNvSpPr>
            <a:spLocks noGrp="1"/>
          </p:cNvSpPr>
          <p:nvPr/>
        </p:nvSpPr>
        <p:spPr>
          <a:xfrm>
            <a:off x="685800" y="400050"/>
            <a:ext cx="10001250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2700" b="1">
                <a:solidFill>
                  <a:srgbClr val="123B6D"/>
                </a:solidFill>
              </a:defRPr>
            </a:pPr>
            <a:r>
              <a:rPr sz="2700" b="1">
                <a:solidFill>
                  <a:srgbClr val="123B6D"/>
                </a:solidFill>
              </a:rPr>
              <a:t>Alerting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29FB5487-7000-47FB-AEFA-E234536BE5E1}"/>
              </a:ext>
            </a:extLst>
          </p:cNvPr>
          <p:cNvSpPr>
            <a:spLocks noGrp="1"/>
          </p:cNvSpPr>
          <p:nvPr/>
        </p:nvSpPr>
        <p:spPr>
          <a:xfrm>
            <a:off x="685800" y="1028700"/>
            <a:ext cx="10820400" cy="38100"/>
          </a:xfrm>
          <a:prstGeom prst="rect">
            <a:avLst/>
          </a:prstGeom>
          <a:solidFill>
            <a:srgbClr val="123B6D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0441486F-0DCA-43D2-9C57-5305860785DE}"/>
              </a:ext>
            </a:extLst>
          </p:cNvPr>
          <p:cNvSpPr>
            <a:spLocks noGrp="1"/>
          </p:cNvSpPr>
          <p:nvPr/>
        </p:nvSpPr>
        <p:spPr>
          <a:xfrm>
            <a:off x="685800" y="6419850"/>
            <a:ext cx="2143125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975">
                <a:solidFill>
                  <a:srgbClr val="52606D"/>
                </a:solidFill>
              </a:defRPr>
            </a:pPr>
            <a:r>
              <a:rPr sz="975">
                <a:solidFill>
                  <a:srgbClr val="52606D"/>
                </a:solidFill>
              </a:rPr>
              <a:t>Cloud Computing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88D08800-5414-43EB-9BAF-DD441592412D}"/>
              </a:ext>
            </a:extLst>
          </p:cNvPr>
          <p:cNvSpPr>
            <a:spLocks noGrp="1"/>
          </p:cNvSpPr>
          <p:nvPr/>
        </p:nvSpPr>
        <p:spPr>
          <a:xfrm>
            <a:off x="3381375" y="6419850"/>
            <a:ext cx="65722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975">
                <a:solidFill>
                  <a:srgbClr val="52606D"/>
                </a:solidFill>
              </a:defRPr>
            </a:pPr>
            <a:r>
              <a:rPr sz="975">
                <a:solidFill>
                  <a:srgbClr val="52606D"/>
                </a:solidFill>
              </a:rPr>
              <a:t>Presented by Gregor von Laszewski (laszewski@gmail.com)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50B2CCF3-6FA1-4606-9018-9915103C26BD}"/>
              </a:ext>
            </a:extLst>
          </p:cNvPr>
          <p:cNvSpPr>
            <a:spLocks noGrp="1"/>
          </p:cNvSpPr>
          <p:nvPr/>
        </p:nvSpPr>
        <p:spPr>
          <a:xfrm>
            <a:off x="10858500" y="6419850"/>
            <a:ext cx="6477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975">
                <a:solidFill>
                  <a:srgbClr val="52606D"/>
                </a:solidFill>
              </a:defRPr>
            </a:pPr>
            <a:r>
              <a:rPr sz="975">
                <a:solidFill>
                  <a:srgbClr val="52606D"/>
                </a:solidFill>
              </a:rPr>
              <a:t>57</a:t>
            </a:r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FD3D1725-0995-4B0A-9C2E-0E79EE7F3BB5}"/>
              </a:ext>
            </a:extLst>
          </p:cNvPr>
          <p:cNvSpPr>
            <a:spLocks noGrp="1"/>
          </p:cNvSpPr>
          <p:nvPr/>
        </p:nvSpPr>
        <p:spPr>
          <a:xfrm>
            <a:off x="838200" y="1676400"/>
            <a:ext cx="95250" cy="95250"/>
          </a:xfrm>
          <a:prstGeom prst="ellipse">
            <a:avLst/>
          </a:prstGeom>
          <a:solidFill>
            <a:srgbClr val="38699C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9D81469B-4C42-4407-8D9F-74E409EFB31E}"/>
              </a:ext>
            </a:extLst>
          </p:cNvPr>
          <p:cNvSpPr>
            <a:spLocks noGrp="1"/>
          </p:cNvSpPr>
          <p:nvPr/>
        </p:nvSpPr>
        <p:spPr>
          <a:xfrm>
            <a:off x="1123950" y="1562100"/>
            <a:ext cx="9620250" cy="523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650">
                <a:solidFill>
                  <a:srgbClr val="17212B"/>
                </a:solidFill>
              </a:defRPr>
            </a:pPr>
            <a:r>
              <a:rPr sz="1650">
                <a:solidFill>
                  <a:srgbClr val="17212B"/>
                </a:solidFill>
              </a:rPr>
              <a:t>Alerts should identify actionable conditions, not merely unusual values.</a:t>
            </a:r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79C9F8EB-BBC7-43F6-9E50-B8161E2D177E}"/>
              </a:ext>
            </a:extLst>
          </p:cNvPr>
          <p:cNvSpPr>
            <a:spLocks noGrp="1"/>
          </p:cNvSpPr>
          <p:nvPr/>
        </p:nvSpPr>
        <p:spPr>
          <a:xfrm>
            <a:off x="838200" y="2419350"/>
            <a:ext cx="95250" cy="95250"/>
          </a:xfrm>
          <a:prstGeom prst="ellipse">
            <a:avLst/>
          </a:prstGeom>
          <a:solidFill>
            <a:srgbClr val="38699C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98445F4B-02CB-4A08-893E-34A884FA00BD}"/>
              </a:ext>
            </a:extLst>
          </p:cNvPr>
          <p:cNvSpPr>
            <a:spLocks noGrp="1"/>
          </p:cNvSpPr>
          <p:nvPr/>
        </p:nvSpPr>
        <p:spPr>
          <a:xfrm>
            <a:off x="1123950" y="2305050"/>
            <a:ext cx="9620250" cy="523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650">
                <a:solidFill>
                  <a:srgbClr val="17212B"/>
                </a:solidFill>
              </a:defRPr>
            </a:pPr>
            <a:r>
              <a:rPr sz="1650">
                <a:solidFill>
                  <a:srgbClr val="17212B"/>
                </a:solidFill>
              </a:rPr>
              <a:t>Use severity, ownership, and runbooks to reduce confusion during incidents.</a:t>
            </a:r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D516C4FA-6412-4E59-A346-9EEF212FBEA3}"/>
              </a:ext>
            </a:extLst>
          </p:cNvPr>
          <p:cNvSpPr>
            <a:spLocks noGrp="1"/>
          </p:cNvSpPr>
          <p:nvPr/>
        </p:nvSpPr>
        <p:spPr>
          <a:xfrm>
            <a:off x="838200" y="3162300"/>
            <a:ext cx="95250" cy="95250"/>
          </a:xfrm>
          <a:prstGeom prst="ellipse">
            <a:avLst/>
          </a:prstGeom>
          <a:solidFill>
            <a:srgbClr val="38699C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97DA1637-71DF-41F6-95CE-7951B23933BD}"/>
              </a:ext>
            </a:extLst>
          </p:cNvPr>
          <p:cNvSpPr>
            <a:spLocks noGrp="1"/>
          </p:cNvSpPr>
          <p:nvPr/>
        </p:nvSpPr>
        <p:spPr>
          <a:xfrm>
            <a:off x="1123950" y="3048000"/>
            <a:ext cx="9620250" cy="523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650">
                <a:solidFill>
                  <a:srgbClr val="17212B"/>
                </a:solidFill>
              </a:defRPr>
            </a:pPr>
            <a:r>
              <a:rPr sz="1650">
                <a:solidFill>
                  <a:srgbClr val="17212B"/>
                </a:solidFill>
              </a:rPr>
              <a:t>Too many noisy alerts train people to ignore all alerts.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CA1D6EB0-E7B6-4655-B206-62A2FCA73D1F}"/>
              </a:ext>
            </a:extLst>
          </p:cNvPr>
          <p:cNvSpPr>
            <a:spLocks noGrp="1"/>
          </p:cNvSpPr>
          <p:nvPr/>
        </p:nvSpPr>
        <p:spPr>
          <a:xfrm>
            <a:off x="685800" y="4953000"/>
            <a:ext cx="10820400" cy="590550"/>
          </a:xfrm>
          <a:prstGeom prst="rect">
            <a:avLst/>
          </a:prstGeom>
          <a:solidFill>
            <a:srgbClr val="EAF2FA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2EC8331E-0441-44A5-8E2E-4BC84A388EB3}"/>
              </a:ext>
            </a:extLst>
          </p:cNvPr>
          <p:cNvSpPr>
            <a:spLocks noGrp="1"/>
          </p:cNvSpPr>
          <p:nvPr/>
        </p:nvSpPr>
        <p:spPr>
          <a:xfrm>
            <a:off x="952500" y="5114925"/>
            <a:ext cx="102870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650" b="1">
                <a:solidFill>
                  <a:srgbClr val="123B6D"/>
                </a:solidFill>
              </a:defRPr>
            </a:pPr>
            <a:r>
              <a:rPr sz="1650" b="1">
                <a:solidFill>
                  <a:srgbClr val="123B6D"/>
                </a:solidFill>
              </a:rPr>
              <a:t>An alert is a request for human attention; use it carefully.</a:t>
            </a:r>
          </a:p>
        </p:txBody>
      </p:sp>
    </p:spTree>
    <p:extLst>
      <p:ext uri="{BB962C8B-B14F-4D97-AF65-F5344CB8AC3E}">
        <p14:creationId xmlns:p14="http://schemas.microsoft.com/office/powerpoint/2010/main" val="1253356114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13">
            <a:extLst>
              <a:ext uri="{FF2B5EF4-FFF2-40B4-BE49-F238E27FC236}">
                <a16:creationId xmlns:a16="http://schemas.microsoft.com/office/drawing/2014/main" id="{D487538D-ACD5-4152-AD5A-E04B8035F8E3}"/>
              </a:ext>
            </a:extLst>
          </p:cNvPr>
          <p:cNvSpPr>
            <a:spLocks noGrp="1"/>
          </p:cNvSpPr>
          <p:nvPr/>
        </p:nvSpPr>
        <p:spPr>
          <a:xfrm>
            <a:off x="685800" y="400050"/>
            <a:ext cx="10001250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2700" b="1">
                <a:solidFill>
                  <a:srgbClr val="123B6D"/>
                </a:solidFill>
              </a:defRPr>
            </a:pPr>
            <a:r>
              <a:rPr sz="2700" b="1">
                <a:solidFill>
                  <a:srgbClr val="123B6D"/>
                </a:solidFill>
              </a:rPr>
              <a:t>Cloud cost model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A44ECDBC-46A3-4C44-AD38-2ECFA2D4E3E7}"/>
              </a:ext>
            </a:extLst>
          </p:cNvPr>
          <p:cNvSpPr>
            <a:spLocks noGrp="1"/>
          </p:cNvSpPr>
          <p:nvPr/>
        </p:nvSpPr>
        <p:spPr>
          <a:xfrm>
            <a:off x="685800" y="1028700"/>
            <a:ext cx="10820400" cy="38100"/>
          </a:xfrm>
          <a:prstGeom prst="rect">
            <a:avLst/>
          </a:prstGeom>
          <a:solidFill>
            <a:srgbClr val="123B6D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278A251E-C28C-407E-A0F5-E3F9A51E2EC5}"/>
              </a:ext>
            </a:extLst>
          </p:cNvPr>
          <p:cNvSpPr>
            <a:spLocks noGrp="1"/>
          </p:cNvSpPr>
          <p:nvPr/>
        </p:nvSpPr>
        <p:spPr>
          <a:xfrm>
            <a:off x="685800" y="6419850"/>
            <a:ext cx="2143125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975">
                <a:solidFill>
                  <a:srgbClr val="52606D"/>
                </a:solidFill>
              </a:defRPr>
            </a:pPr>
            <a:r>
              <a:rPr sz="975">
                <a:solidFill>
                  <a:srgbClr val="52606D"/>
                </a:solidFill>
              </a:rPr>
              <a:t>Cloud Computing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18F4051C-F503-4CC9-8F0A-0E3240D32F79}"/>
              </a:ext>
            </a:extLst>
          </p:cNvPr>
          <p:cNvSpPr>
            <a:spLocks noGrp="1"/>
          </p:cNvSpPr>
          <p:nvPr/>
        </p:nvSpPr>
        <p:spPr>
          <a:xfrm>
            <a:off x="3381375" y="6419850"/>
            <a:ext cx="65722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975">
                <a:solidFill>
                  <a:srgbClr val="52606D"/>
                </a:solidFill>
              </a:defRPr>
            </a:pPr>
            <a:r>
              <a:rPr sz="975">
                <a:solidFill>
                  <a:srgbClr val="52606D"/>
                </a:solidFill>
              </a:rPr>
              <a:t>Presented by Gregor von Laszewski (laszewski@gmail.com)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2ABB3575-CBCF-44E6-B1C4-0CC079E075B8}"/>
              </a:ext>
            </a:extLst>
          </p:cNvPr>
          <p:cNvSpPr>
            <a:spLocks noGrp="1"/>
          </p:cNvSpPr>
          <p:nvPr/>
        </p:nvSpPr>
        <p:spPr>
          <a:xfrm>
            <a:off x="10858500" y="6419850"/>
            <a:ext cx="6477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975">
                <a:solidFill>
                  <a:srgbClr val="52606D"/>
                </a:solidFill>
              </a:defRPr>
            </a:pPr>
            <a:r>
              <a:rPr sz="975">
                <a:solidFill>
                  <a:srgbClr val="52606D"/>
                </a:solidFill>
              </a:rPr>
              <a:t>58</a:t>
            </a:r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9B6BDB72-9AD6-49E9-B4D2-5736E61ABDFF}"/>
              </a:ext>
            </a:extLst>
          </p:cNvPr>
          <p:cNvSpPr>
            <a:spLocks noGrp="1"/>
          </p:cNvSpPr>
          <p:nvPr/>
        </p:nvSpPr>
        <p:spPr>
          <a:xfrm>
            <a:off x="838200" y="1676400"/>
            <a:ext cx="95250" cy="95250"/>
          </a:xfrm>
          <a:prstGeom prst="ellipse">
            <a:avLst/>
          </a:prstGeom>
          <a:solidFill>
            <a:srgbClr val="38699C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FFA0D96C-B848-411A-9EB1-8869F2AD7C74}"/>
              </a:ext>
            </a:extLst>
          </p:cNvPr>
          <p:cNvSpPr>
            <a:spLocks noGrp="1"/>
          </p:cNvSpPr>
          <p:nvPr/>
        </p:nvSpPr>
        <p:spPr>
          <a:xfrm>
            <a:off x="1123950" y="1562100"/>
            <a:ext cx="9620250" cy="523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650">
                <a:solidFill>
                  <a:srgbClr val="17212B"/>
                </a:solidFill>
              </a:defRPr>
            </a:pPr>
            <a:r>
              <a:rPr sz="1650">
                <a:solidFill>
                  <a:srgbClr val="17212B"/>
                </a:solidFill>
              </a:rPr>
              <a:t>Cloud costs often combine capacity, usage, storage, requests, and data movement.</a:t>
            </a:r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39C0F428-677A-4112-90BC-06F454B45A7D}"/>
              </a:ext>
            </a:extLst>
          </p:cNvPr>
          <p:cNvSpPr>
            <a:spLocks noGrp="1"/>
          </p:cNvSpPr>
          <p:nvPr/>
        </p:nvSpPr>
        <p:spPr>
          <a:xfrm>
            <a:off x="838200" y="2419350"/>
            <a:ext cx="95250" cy="95250"/>
          </a:xfrm>
          <a:prstGeom prst="ellipse">
            <a:avLst/>
          </a:prstGeom>
          <a:solidFill>
            <a:srgbClr val="38699C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E53C06D5-D1EE-4C8E-82F1-7850157EA4D9}"/>
              </a:ext>
            </a:extLst>
          </p:cNvPr>
          <p:cNvSpPr>
            <a:spLocks noGrp="1"/>
          </p:cNvSpPr>
          <p:nvPr/>
        </p:nvSpPr>
        <p:spPr>
          <a:xfrm>
            <a:off x="1123950" y="2305050"/>
            <a:ext cx="9620250" cy="523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650">
                <a:solidFill>
                  <a:srgbClr val="17212B"/>
                </a:solidFill>
              </a:defRPr>
            </a:pPr>
            <a:r>
              <a:rPr sz="1650">
                <a:solidFill>
                  <a:srgbClr val="17212B"/>
                </a:solidFill>
              </a:rPr>
              <a:t>Pricing choices can change as scale, regions, and service models change.</a:t>
            </a:r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25D75112-D414-4DE9-AD98-0005558F3624}"/>
              </a:ext>
            </a:extLst>
          </p:cNvPr>
          <p:cNvSpPr>
            <a:spLocks noGrp="1"/>
          </p:cNvSpPr>
          <p:nvPr/>
        </p:nvSpPr>
        <p:spPr>
          <a:xfrm>
            <a:off x="838200" y="3162300"/>
            <a:ext cx="95250" cy="95250"/>
          </a:xfrm>
          <a:prstGeom prst="ellipse">
            <a:avLst/>
          </a:prstGeom>
          <a:solidFill>
            <a:srgbClr val="38699C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120BED33-81CA-4813-B72E-8DB243EE03C8}"/>
              </a:ext>
            </a:extLst>
          </p:cNvPr>
          <p:cNvSpPr>
            <a:spLocks noGrp="1"/>
          </p:cNvSpPr>
          <p:nvPr/>
        </p:nvSpPr>
        <p:spPr>
          <a:xfrm>
            <a:off x="1123950" y="3048000"/>
            <a:ext cx="9620250" cy="523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650">
                <a:solidFill>
                  <a:srgbClr val="17212B"/>
                </a:solidFill>
              </a:defRPr>
            </a:pPr>
            <a:r>
              <a:rPr sz="1650">
                <a:solidFill>
                  <a:srgbClr val="17212B"/>
                </a:solidFill>
              </a:rPr>
              <a:t>Costs need allocation: team, product, environment, or workload.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CE69898B-770D-4205-AC43-EF0241CD1A92}"/>
              </a:ext>
            </a:extLst>
          </p:cNvPr>
          <p:cNvSpPr>
            <a:spLocks noGrp="1"/>
          </p:cNvSpPr>
          <p:nvPr/>
        </p:nvSpPr>
        <p:spPr>
          <a:xfrm>
            <a:off x="685800" y="4953000"/>
            <a:ext cx="10820400" cy="590550"/>
          </a:xfrm>
          <a:prstGeom prst="rect">
            <a:avLst/>
          </a:prstGeom>
          <a:solidFill>
            <a:srgbClr val="EAF2FA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0381DEC3-BB7F-4C6C-BB4D-C26B2222CB92}"/>
              </a:ext>
            </a:extLst>
          </p:cNvPr>
          <p:cNvSpPr>
            <a:spLocks noGrp="1"/>
          </p:cNvSpPr>
          <p:nvPr/>
        </p:nvSpPr>
        <p:spPr>
          <a:xfrm>
            <a:off x="952500" y="5114925"/>
            <a:ext cx="102870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650" b="1">
                <a:solidFill>
                  <a:srgbClr val="123B6D"/>
                </a:solidFill>
              </a:defRPr>
            </a:pPr>
            <a:r>
              <a:rPr sz="1650" b="1">
                <a:solidFill>
                  <a:srgbClr val="123B6D"/>
                </a:solidFill>
              </a:rPr>
              <a:t>Make cost visible near the engineering decisions that create it.</a:t>
            </a:r>
          </a:p>
        </p:txBody>
      </p:sp>
    </p:spTree>
    <p:extLst>
      <p:ext uri="{BB962C8B-B14F-4D97-AF65-F5344CB8AC3E}">
        <p14:creationId xmlns:p14="http://schemas.microsoft.com/office/powerpoint/2010/main" val="124806997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13">
            <a:extLst>
              <a:ext uri="{FF2B5EF4-FFF2-40B4-BE49-F238E27FC236}">
                <a16:creationId xmlns:a16="http://schemas.microsoft.com/office/drawing/2014/main" id="{2FBE97A7-DC4F-4ED4-93F1-85A8131E22E3}"/>
              </a:ext>
            </a:extLst>
          </p:cNvPr>
          <p:cNvSpPr>
            <a:spLocks noGrp="1"/>
          </p:cNvSpPr>
          <p:nvPr/>
        </p:nvSpPr>
        <p:spPr>
          <a:xfrm>
            <a:off x="685800" y="400050"/>
            <a:ext cx="10001250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2700" b="1">
                <a:solidFill>
                  <a:srgbClr val="123B6D"/>
                </a:solidFill>
              </a:defRPr>
            </a:pPr>
            <a:r>
              <a:rPr sz="2700" b="1">
                <a:solidFill>
                  <a:srgbClr val="123B6D"/>
                </a:solidFill>
              </a:rPr>
              <a:t>FinOps habits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7BEF68E3-58D6-4C57-88FB-4E776AB38322}"/>
              </a:ext>
            </a:extLst>
          </p:cNvPr>
          <p:cNvSpPr>
            <a:spLocks noGrp="1"/>
          </p:cNvSpPr>
          <p:nvPr/>
        </p:nvSpPr>
        <p:spPr>
          <a:xfrm>
            <a:off x="685800" y="1028700"/>
            <a:ext cx="10820400" cy="38100"/>
          </a:xfrm>
          <a:prstGeom prst="rect">
            <a:avLst/>
          </a:prstGeom>
          <a:solidFill>
            <a:srgbClr val="123B6D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B3691F7A-05E1-40E4-B26A-F8B67E2F9DE6}"/>
              </a:ext>
            </a:extLst>
          </p:cNvPr>
          <p:cNvSpPr>
            <a:spLocks noGrp="1"/>
          </p:cNvSpPr>
          <p:nvPr/>
        </p:nvSpPr>
        <p:spPr>
          <a:xfrm>
            <a:off x="685800" y="6419850"/>
            <a:ext cx="2143125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975">
                <a:solidFill>
                  <a:srgbClr val="52606D"/>
                </a:solidFill>
              </a:defRPr>
            </a:pPr>
            <a:r>
              <a:rPr sz="975">
                <a:solidFill>
                  <a:srgbClr val="52606D"/>
                </a:solidFill>
              </a:rPr>
              <a:t>Cloud Computing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88B41B46-56E2-49A0-AF32-493A4AF7C4AC}"/>
              </a:ext>
            </a:extLst>
          </p:cNvPr>
          <p:cNvSpPr>
            <a:spLocks noGrp="1"/>
          </p:cNvSpPr>
          <p:nvPr/>
        </p:nvSpPr>
        <p:spPr>
          <a:xfrm>
            <a:off x="3381375" y="6419850"/>
            <a:ext cx="65722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975">
                <a:solidFill>
                  <a:srgbClr val="52606D"/>
                </a:solidFill>
              </a:defRPr>
            </a:pPr>
            <a:r>
              <a:rPr sz="975">
                <a:solidFill>
                  <a:srgbClr val="52606D"/>
                </a:solidFill>
              </a:rPr>
              <a:t>Presented by Gregor von Laszewski (laszewski@gmail.com)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1ABC9E2F-3E1E-4197-A38C-2A26C2F57086}"/>
              </a:ext>
            </a:extLst>
          </p:cNvPr>
          <p:cNvSpPr>
            <a:spLocks noGrp="1"/>
          </p:cNvSpPr>
          <p:nvPr/>
        </p:nvSpPr>
        <p:spPr>
          <a:xfrm>
            <a:off x="10858500" y="6419850"/>
            <a:ext cx="6477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975">
                <a:solidFill>
                  <a:srgbClr val="52606D"/>
                </a:solidFill>
              </a:defRPr>
            </a:pPr>
            <a:r>
              <a:rPr sz="975">
                <a:solidFill>
                  <a:srgbClr val="52606D"/>
                </a:solidFill>
              </a:rPr>
              <a:t>59</a:t>
            </a:r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CE587532-B7B0-4104-9643-AF4D2804136A}"/>
              </a:ext>
            </a:extLst>
          </p:cNvPr>
          <p:cNvSpPr>
            <a:spLocks noGrp="1"/>
          </p:cNvSpPr>
          <p:nvPr/>
        </p:nvSpPr>
        <p:spPr>
          <a:xfrm>
            <a:off x="838200" y="1676400"/>
            <a:ext cx="95250" cy="95250"/>
          </a:xfrm>
          <a:prstGeom prst="ellipse">
            <a:avLst/>
          </a:prstGeom>
          <a:solidFill>
            <a:srgbClr val="38699C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FC35741D-F186-415C-A95D-B04E203520CD}"/>
              </a:ext>
            </a:extLst>
          </p:cNvPr>
          <p:cNvSpPr>
            <a:spLocks noGrp="1"/>
          </p:cNvSpPr>
          <p:nvPr/>
        </p:nvSpPr>
        <p:spPr>
          <a:xfrm>
            <a:off x="1123950" y="1562100"/>
            <a:ext cx="9620250" cy="523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650">
                <a:solidFill>
                  <a:srgbClr val="17212B"/>
                </a:solidFill>
              </a:defRPr>
            </a:pPr>
            <a:r>
              <a:rPr sz="1650">
                <a:solidFill>
                  <a:srgbClr val="17212B"/>
                </a:solidFill>
              </a:rPr>
              <a:t>Tag resources consistently so spending can be understood.</a:t>
            </a:r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8CBF1F0C-A44D-4BE6-8C28-00266A357271}"/>
              </a:ext>
            </a:extLst>
          </p:cNvPr>
          <p:cNvSpPr>
            <a:spLocks noGrp="1"/>
          </p:cNvSpPr>
          <p:nvPr/>
        </p:nvSpPr>
        <p:spPr>
          <a:xfrm>
            <a:off x="838200" y="2419350"/>
            <a:ext cx="95250" cy="95250"/>
          </a:xfrm>
          <a:prstGeom prst="ellipse">
            <a:avLst/>
          </a:prstGeom>
          <a:solidFill>
            <a:srgbClr val="38699C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77C37D6C-E4B8-46B8-A938-E0D854B9F5FA}"/>
              </a:ext>
            </a:extLst>
          </p:cNvPr>
          <p:cNvSpPr>
            <a:spLocks noGrp="1"/>
          </p:cNvSpPr>
          <p:nvPr/>
        </p:nvSpPr>
        <p:spPr>
          <a:xfrm>
            <a:off x="1123950" y="2305050"/>
            <a:ext cx="9620250" cy="523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650">
                <a:solidFill>
                  <a:srgbClr val="17212B"/>
                </a:solidFill>
              </a:defRPr>
            </a:pPr>
            <a:r>
              <a:rPr sz="1650">
                <a:solidFill>
                  <a:srgbClr val="17212B"/>
                </a:solidFill>
              </a:rPr>
              <a:t>Create budgets and anomaly detection before a surprise bill.</a:t>
            </a:r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0F98B595-AA7B-451B-97BC-2C1B3F82BE81}"/>
              </a:ext>
            </a:extLst>
          </p:cNvPr>
          <p:cNvSpPr>
            <a:spLocks noGrp="1"/>
          </p:cNvSpPr>
          <p:nvPr/>
        </p:nvSpPr>
        <p:spPr>
          <a:xfrm>
            <a:off x="838200" y="3162300"/>
            <a:ext cx="95250" cy="95250"/>
          </a:xfrm>
          <a:prstGeom prst="ellipse">
            <a:avLst/>
          </a:prstGeom>
          <a:solidFill>
            <a:srgbClr val="38699C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2FFB1E36-7977-424F-9B1F-B00A03BAF3D2}"/>
              </a:ext>
            </a:extLst>
          </p:cNvPr>
          <p:cNvSpPr>
            <a:spLocks noGrp="1"/>
          </p:cNvSpPr>
          <p:nvPr/>
        </p:nvSpPr>
        <p:spPr>
          <a:xfrm>
            <a:off x="1123950" y="3048000"/>
            <a:ext cx="9620250" cy="523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650">
                <a:solidFill>
                  <a:srgbClr val="17212B"/>
                </a:solidFill>
              </a:defRPr>
            </a:pPr>
            <a:r>
              <a:rPr sz="1650">
                <a:solidFill>
                  <a:srgbClr val="17212B"/>
                </a:solidFill>
              </a:rPr>
              <a:t>Review idle, oversized, and duplicated resources regularly.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10739FAE-E2C2-4FF6-AF53-CC9B4D969239}"/>
              </a:ext>
            </a:extLst>
          </p:cNvPr>
          <p:cNvSpPr>
            <a:spLocks noGrp="1"/>
          </p:cNvSpPr>
          <p:nvPr/>
        </p:nvSpPr>
        <p:spPr>
          <a:xfrm>
            <a:off x="685800" y="4953000"/>
            <a:ext cx="10820400" cy="590550"/>
          </a:xfrm>
          <a:prstGeom prst="rect">
            <a:avLst/>
          </a:prstGeom>
          <a:solidFill>
            <a:srgbClr val="EAF2FA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12E3BA73-ECBD-4C54-B746-5AC82BFC7A7F}"/>
              </a:ext>
            </a:extLst>
          </p:cNvPr>
          <p:cNvSpPr>
            <a:spLocks noGrp="1"/>
          </p:cNvSpPr>
          <p:nvPr/>
        </p:nvSpPr>
        <p:spPr>
          <a:xfrm>
            <a:off x="952500" y="5114925"/>
            <a:ext cx="102870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650" b="1">
                <a:solidFill>
                  <a:srgbClr val="123B6D"/>
                </a:solidFill>
              </a:defRPr>
            </a:pPr>
            <a:r>
              <a:rPr sz="1650" b="1">
                <a:solidFill>
                  <a:srgbClr val="123B6D"/>
                </a:solidFill>
              </a:rPr>
              <a:t>Cost optimization is continuous product work, not a one-time cleanup.</a:t>
            </a:r>
          </a:p>
        </p:txBody>
      </p:sp>
    </p:spTree>
    <p:extLst>
      <p:ext uri="{BB962C8B-B14F-4D97-AF65-F5344CB8AC3E}">
        <p14:creationId xmlns:p14="http://schemas.microsoft.com/office/powerpoint/2010/main" val="321231037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13">
            <a:extLst>
              <a:ext uri="{FF2B5EF4-FFF2-40B4-BE49-F238E27FC236}">
                <a16:creationId xmlns:a16="http://schemas.microsoft.com/office/drawing/2014/main" id="{236EA17B-F6E4-4704-A7B6-AF65FA20A968}"/>
              </a:ext>
            </a:extLst>
          </p:cNvPr>
          <p:cNvSpPr>
            <a:spLocks noGrp="1"/>
          </p:cNvSpPr>
          <p:nvPr/>
        </p:nvSpPr>
        <p:spPr>
          <a:xfrm>
            <a:off x="685800" y="400050"/>
            <a:ext cx="10001250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2700" b="1">
                <a:solidFill>
                  <a:srgbClr val="123B6D"/>
                </a:solidFill>
              </a:defRPr>
            </a:pPr>
            <a:r>
              <a:rPr sz="2700" b="1">
                <a:solidFill>
                  <a:srgbClr val="123B6D"/>
                </a:solidFill>
              </a:rPr>
              <a:t>Governance enables safe speed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F20D383F-146C-41F4-B802-8AF800CB8707}"/>
              </a:ext>
            </a:extLst>
          </p:cNvPr>
          <p:cNvSpPr>
            <a:spLocks noGrp="1"/>
          </p:cNvSpPr>
          <p:nvPr/>
        </p:nvSpPr>
        <p:spPr>
          <a:xfrm>
            <a:off x="685800" y="1028700"/>
            <a:ext cx="10820400" cy="38100"/>
          </a:xfrm>
          <a:prstGeom prst="rect">
            <a:avLst/>
          </a:prstGeom>
          <a:solidFill>
            <a:srgbClr val="123B6D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5EC404D8-3811-46E4-8EDF-A22EAE3D5FB6}"/>
              </a:ext>
            </a:extLst>
          </p:cNvPr>
          <p:cNvSpPr>
            <a:spLocks noGrp="1"/>
          </p:cNvSpPr>
          <p:nvPr/>
        </p:nvSpPr>
        <p:spPr>
          <a:xfrm>
            <a:off x="685800" y="6419850"/>
            <a:ext cx="2143125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975">
                <a:solidFill>
                  <a:srgbClr val="52606D"/>
                </a:solidFill>
              </a:defRPr>
            </a:pPr>
            <a:r>
              <a:rPr sz="975">
                <a:solidFill>
                  <a:srgbClr val="52606D"/>
                </a:solidFill>
              </a:rPr>
              <a:t>Cloud Computing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209F20B3-C8D8-4910-9100-853CC90059DB}"/>
              </a:ext>
            </a:extLst>
          </p:cNvPr>
          <p:cNvSpPr>
            <a:spLocks noGrp="1"/>
          </p:cNvSpPr>
          <p:nvPr/>
        </p:nvSpPr>
        <p:spPr>
          <a:xfrm>
            <a:off x="3381375" y="6419850"/>
            <a:ext cx="65722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975">
                <a:solidFill>
                  <a:srgbClr val="52606D"/>
                </a:solidFill>
              </a:defRPr>
            </a:pPr>
            <a:r>
              <a:rPr sz="975">
                <a:solidFill>
                  <a:srgbClr val="52606D"/>
                </a:solidFill>
              </a:rPr>
              <a:t>Presented by Gregor von Laszewski (laszewski@gmail.com)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9F77C41A-EC6D-4C83-9050-BBEE4D5C0F92}"/>
              </a:ext>
            </a:extLst>
          </p:cNvPr>
          <p:cNvSpPr>
            <a:spLocks noGrp="1"/>
          </p:cNvSpPr>
          <p:nvPr/>
        </p:nvSpPr>
        <p:spPr>
          <a:xfrm>
            <a:off x="10858500" y="6419850"/>
            <a:ext cx="6477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975">
                <a:solidFill>
                  <a:srgbClr val="52606D"/>
                </a:solidFill>
              </a:defRPr>
            </a:pPr>
            <a:r>
              <a:rPr sz="975">
                <a:solidFill>
                  <a:srgbClr val="52606D"/>
                </a:solidFill>
              </a:rPr>
              <a:t>60</a:t>
            </a:r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9D7BE8C8-A49A-444D-A07D-8B64989CD09E}"/>
              </a:ext>
            </a:extLst>
          </p:cNvPr>
          <p:cNvSpPr>
            <a:spLocks noGrp="1"/>
          </p:cNvSpPr>
          <p:nvPr/>
        </p:nvSpPr>
        <p:spPr>
          <a:xfrm>
            <a:off x="838200" y="1676400"/>
            <a:ext cx="95250" cy="95250"/>
          </a:xfrm>
          <a:prstGeom prst="ellipse">
            <a:avLst/>
          </a:prstGeom>
          <a:solidFill>
            <a:srgbClr val="38699C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23A0727B-8389-4583-A659-1081533C7ECA}"/>
              </a:ext>
            </a:extLst>
          </p:cNvPr>
          <p:cNvSpPr>
            <a:spLocks noGrp="1"/>
          </p:cNvSpPr>
          <p:nvPr/>
        </p:nvSpPr>
        <p:spPr>
          <a:xfrm>
            <a:off x="1123950" y="1562100"/>
            <a:ext cx="9620250" cy="523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650">
                <a:solidFill>
                  <a:srgbClr val="17212B"/>
                </a:solidFill>
              </a:defRPr>
            </a:pPr>
            <a:r>
              <a:rPr sz="1650">
                <a:solidFill>
                  <a:srgbClr val="17212B"/>
                </a:solidFill>
              </a:rPr>
              <a:t>Policies define the boundaries for accounts, networks, data, and permissions.</a:t>
            </a:r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6AF111B8-05C1-459F-88C7-78C48DBA7B79}"/>
              </a:ext>
            </a:extLst>
          </p:cNvPr>
          <p:cNvSpPr>
            <a:spLocks noGrp="1"/>
          </p:cNvSpPr>
          <p:nvPr/>
        </p:nvSpPr>
        <p:spPr>
          <a:xfrm>
            <a:off x="838200" y="2419350"/>
            <a:ext cx="95250" cy="95250"/>
          </a:xfrm>
          <a:prstGeom prst="ellipse">
            <a:avLst/>
          </a:prstGeom>
          <a:solidFill>
            <a:srgbClr val="38699C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CC60E5A1-EAAF-4E82-8F92-3F2884A5E49B}"/>
              </a:ext>
            </a:extLst>
          </p:cNvPr>
          <p:cNvSpPr>
            <a:spLocks noGrp="1"/>
          </p:cNvSpPr>
          <p:nvPr/>
        </p:nvSpPr>
        <p:spPr>
          <a:xfrm>
            <a:off x="1123950" y="2305050"/>
            <a:ext cx="9620250" cy="523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650">
                <a:solidFill>
                  <a:srgbClr val="17212B"/>
                </a:solidFill>
              </a:defRPr>
            </a:pPr>
            <a:r>
              <a:rPr sz="1650">
                <a:solidFill>
                  <a:srgbClr val="17212B"/>
                </a:solidFill>
              </a:rPr>
              <a:t>Templates and automated checks turn policy into repeatable practice.</a:t>
            </a:r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7DE947F7-360F-4E04-8164-5946C301AD51}"/>
              </a:ext>
            </a:extLst>
          </p:cNvPr>
          <p:cNvSpPr>
            <a:spLocks noGrp="1"/>
          </p:cNvSpPr>
          <p:nvPr/>
        </p:nvSpPr>
        <p:spPr>
          <a:xfrm>
            <a:off x="838200" y="3162300"/>
            <a:ext cx="95250" cy="95250"/>
          </a:xfrm>
          <a:prstGeom prst="ellipse">
            <a:avLst/>
          </a:prstGeom>
          <a:solidFill>
            <a:srgbClr val="38699C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AD06980F-592E-41ED-8177-09A6AE7E17B2}"/>
              </a:ext>
            </a:extLst>
          </p:cNvPr>
          <p:cNvSpPr>
            <a:spLocks noGrp="1"/>
          </p:cNvSpPr>
          <p:nvPr/>
        </p:nvSpPr>
        <p:spPr>
          <a:xfrm>
            <a:off x="1123950" y="3048000"/>
            <a:ext cx="9620250" cy="523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650">
                <a:solidFill>
                  <a:srgbClr val="17212B"/>
                </a:solidFill>
              </a:defRPr>
            </a:pPr>
            <a:r>
              <a:rPr sz="1650">
                <a:solidFill>
                  <a:srgbClr val="17212B"/>
                </a:solidFill>
              </a:rPr>
              <a:t>Governance should help teams make the safe path the easy path.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F9A931FB-4B31-485D-AA1B-9096117A6F0F}"/>
              </a:ext>
            </a:extLst>
          </p:cNvPr>
          <p:cNvSpPr>
            <a:spLocks noGrp="1"/>
          </p:cNvSpPr>
          <p:nvPr/>
        </p:nvSpPr>
        <p:spPr>
          <a:xfrm>
            <a:off x="685800" y="4953000"/>
            <a:ext cx="10820400" cy="590550"/>
          </a:xfrm>
          <a:prstGeom prst="rect">
            <a:avLst/>
          </a:prstGeom>
          <a:solidFill>
            <a:srgbClr val="EAF2FA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630B5835-0587-4FE4-B03D-EC9D2F662E93}"/>
              </a:ext>
            </a:extLst>
          </p:cNvPr>
          <p:cNvSpPr>
            <a:spLocks noGrp="1"/>
          </p:cNvSpPr>
          <p:nvPr/>
        </p:nvSpPr>
        <p:spPr>
          <a:xfrm>
            <a:off x="952500" y="5114925"/>
            <a:ext cx="102870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650" b="1">
                <a:solidFill>
                  <a:srgbClr val="123B6D"/>
                </a:solidFill>
              </a:defRPr>
            </a:pPr>
            <a:r>
              <a:rPr sz="1650" b="1">
                <a:solidFill>
                  <a:srgbClr val="123B6D"/>
                </a:solidFill>
              </a:rPr>
              <a:t>A useful guardrail prevents a costly mistake without blocking ordinary work.</a:t>
            </a:r>
          </a:p>
        </p:txBody>
      </p:sp>
    </p:spTree>
    <p:extLst>
      <p:ext uri="{BB962C8B-B14F-4D97-AF65-F5344CB8AC3E}">
        <p14:creationId xmlns:p14="http://schemas.microsoft.com/office/powerpoint/2010/main" val="2139935190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13">
            <a:extLst>
              <a:ext uri="{FF2B5EF4-FFF2-40B4-BE49-F238E27FC236}">
                <a16:creationId xmlns:a16="http://schemas.microsoft.com/office/drawing/2014/main" id="{F0CEFA6C-991F-4C52-92F8-752708EBB775}"/>
              </a:ext>
            </a:extLst>
          </p:cNvPr>
          <p:cNvSpPr>
            <a:spLocks noGrp="1"/>
          </p:cNvSpPr>
          <p:nvPr/>
        </p:nvSpPr>
        <p:spPr>
          <a:xfrm>
            <a:off x="685800" y="400050"/>
            <a:ext cx="10001250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2700" b="1">
                <a:solidFill>
                  <a:srgbClr val="123B6D"/>
                </a:solidFill>
              </a:defRPr>
            </a:pPr>
            <a:r>
              <a:rPr sz="2700" b="1">
                <a:solidFill>
                  <a:srgbClr val="123B6D"/>
                </a:solidFill>
              </a:rPr>
              <a:t>Migration is a portfolio decision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F86D3179-9885-483D-9D7A-AFC68E9C3630}"/>
              </a:ext>
            </a:extLst>
          </p:cNvPr>
          <p:cNvSpPr>
            <a:spLocks noGrp="1"/>
          </p:cNvSpPr>
          <p:nvPr/>
        </p:nvSpPr>
        <p:spPr>
          <a:xfrm>
            <a:off x="685800" y="1028700"/>
            <a:ext cx="10820400" cy="38100"/>
          </a:xfrm>
          <a:prstGeom prst="rect">
            <a:avLst/>
          </a:prstGeom>
          <a:solidFill>
            <a:srgbClr val="123B6D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C1FE2ABA-8098-44AD-8E51-23BDC5D15D0E}"/>
              </a:ext>
            </a:extLst>
          </p:cNvPr>
          <p:cNvSpPr>
            <a:spLocks noGrp="1"/>
          </p:cNvSpPr>
          <p:nvPr/>
        </p:nvSpPr>
        <p:spPr>
          <a:xfrm>
            <a:off x="685800" y="6419850"/>
            <a:ext cx="2143125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975">
                <a:solidFill>
                  <a:srgbClr val="52606D"/>
                </a:solidFill>
              </a:defRPr>
            </a:pPr>
            <a:r>
              <a:rPr sz="975">
                <a:solidFill>
                  <a:srgbClr val="52606D"/>
                </a:solidFill>
              </a:rPr>
              <a:t>Cloud Computing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9D24F0B0-E6A8-448C-8AD1-FF7D4515A0A4}"/>
              </a:ext>
            </a:extLst>
          </p:cNvPr>
          <p:cNvSpPr>
            <a:spLocks noGrp="1"/>
          </p:cNvSpPr>
          <p:nvPr/>
        </p:nvSpPr>
        <p:spPr>
          <a:xfrm>
            <a:off x="3381375" y="6419850"/>
            <a:ext cx="65722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975">
                <a:solidFill>
                  <a:srgbClr val="52606D"/>
                </a:solidFill>
              </a:defRPr>
            </a:pPr>
            <a:r>
              <a:rPr sz="975">
                <a:solidFill>
                  <a:srgbClr val="52606D"/>
                </a:solidFill>
              </a:rPr>
              <a:t>Presented by Gregor von Laszewski (laszewski@gmail.com)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F738FF1B-0072-41CA-B732-0213C852D6A8}"/>
              </a:ext>
            </a:extLst>
          </p:cNvPr>
          <p:cNvSpPr>
            <a:spLocks noGrp="1"/>
          </p:cNvSpPr>
          <p:nvPr/>
        </p:nvSpPr>
        <p:spPr>
          <a:xfrm>
            <a:off x="10858500" y="6419850"/>
            <a:ext cx="6477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975">
                <a:solidFill>
                  <a:srgbClr val="52606D"/>
                </a:solidFill>
              </a:defRPr>
            </a:pPr>
            <a:r>
              <a:rPr sz="975">
                <a:solidFill>
                  <a:srgbClr val="52606D"/>
                </a:solidFill>
              </a:rPr>
              <a:t>61</a:t>
            </a:r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B080C51C-D7E0-464F-A782-DBC14C92D776}"/>
              </a:ext>
            </a:extLst>
          </p:cNvPr>
          <p:cNvSpPr>
            <a:spLocks noGrp="1"/>
          </p:cNvSpPr>
          <p:nvPr/>
        </p:nvSpPr>
        <p:spPr>
          <a:xfrm>
            <a:off x="838200" y="1676400"/>
            <a:ext cx="95250" cy="95250"/>
          </a:xfrm>
          <a:prstGeom prst="ellipse">
            <a:avLst/>
          </a:prstGeom>
          <a:solidFill>
            <a:srgbClr val="38699C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E456A0F4-E722-439A-BB10-008949A01E5A}"/>
              </a:ext>
            </a:extLst>
          </p:cNvPr>
          <p:cNvSpPr>
            <a:spLocks noGrp="1"/>
          </p:cNvSpPr>
          <p:nvPr/>
        </p:nvSpPr>
        <p:spPr>
          <a:xfrm>
            <a:off x="1123950" y="1562100"/>
            <a:ext cx="9620250" cy="523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650">
                <a:solidFill>
                  <a:srgbClr val="17212B"/>
                </a:solidFill>
              </a:defRPr>
            </a:pPr>
            <a:r>
              <a:rPr sz="1650">
                <a:solidFill>
                  <a:srgbClr val="17212B"/>
                </a:solidFill>
              </a:rPr>
              <a:t>Not every workload should move in the same way or at the same time.</a:t>
            </a:r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AD971F88-931A-4B77-9E7A-3315E6DF5304}"/>
              </a:ext>
            </a:extLst>
          </p:cNvPr>
          <p:cNvSpPr>
            <a:spLocks noGrp="1"/>
          </p:cNvSpPr>
          <p:nvPr/>
        </p:nvSpPr>
        <p:spPr>
          <a:xfrm>
            <a:off x="838200" y="2419350"/>
            <a:ext cx="95250" cy="95250"/>
          </a:xfrm>
          <a:prstGeom prst="ellipse">
            <a:avLst/>
          </a:prstGeom>
          <a:solidFill>
            <a:srgbClr val="38699C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9457DC40-8530-411F-86B1-2B9BBE732C4C}"/>
              </a:ext>
            </a:extLst>
          </p:cNvPr>
          <p:cNvSpPr>
            <a:spLocks noGrp="1"/>
          </p:cNvSpPr>
          <p:nvPr/>
        </p:nvSpPr>
        <p:spPr>
          <a:xfrm>
            <a:off x="1123950" y="2305050"/>
            <a:ext cx="9620250" cy="523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650">
                <a:solidFill>
                  <a:srgbClr val="17212B"/>
                </a:solidFill>
              </a:defRPr>
            </a:pPr>
            <a:r>
              <a:rPr sz="1650">
                <a:solidFill>
                  <a:srgbClr val="17212B"/>
                </a:solidFill>
              </a:rPr>
              <a:t>Evaluate value, risk, dependencies, data, and operating readiness.</a:t>
            </a:r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F503424A-EA3D-4F18-9143-2DD53ACB9765}"/>
              </a:ext>
            </a:extLst>
          </p:cNvPr>
          <p:cNvSpPr>
            <a:spLocks noGrp="1"/>
          </p:cNvSpPr>
          <p:nvPr/>
        </p:nvSpPr>
        <p:spPr>
          <a:xfrm>
            <a:off x="838200" y="3162300"/>
            <a:ext cx="95250" cy="95250"/>
          </a:xfrm>
          <a:prstGeom prst="ellipse">
            <a:avLst/>
          </a:prstGeom>
          <a:solidFill>
            <a:srgbClr val="38699C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83D605C1-BB57-4E01-956A-4CED3215A966}"/>
              </a:ext>
            </a:extLst>
          </p:cNvPr>
          <p:cNvSpPr>
            <a:spLocks noGrp="1"/>
          </p:cNvSpPr>
          <p:nvPr/>
        </p:nvSpPr>
        <p:spPr>
          <a:xfrm>
            <a:off x="1123950" y="3048000"/>
            <a:ext cx="9620250" cy="523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650">
                <a:solidFill>
                  <a:srgbClr val="17212B"/>
                </a:solidFill>
              </a:defRPr>
            </a:pPr>
            <a:r>
              <a:rPr sz="1650">
                <a:solidFill>
                  <a:srgbClr val="17212B"/>
                </a:solidFill>
              </a:rPr>
              <a:t>Migration is a change program involving people, process, and technology.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14190A81-750E-480D-BD9C-0B4AB85A827D}"/>
              </a:ext>
            </a:extLst>
          </p:cNvPr>
          <p:cNvSpPr>
            <a:spLocks noGrp="1"/>
          </p:cNvSpPr>
          <p:nvPr/>
        </p:nvSpPr>
        <p:spPr>
          <a:xfrm>
            <a:off x="685800" y="4953000"/>
            <a:ext cx="10820400" cy="590550"/>
          </a:xfrm>
          <a:prstGeom prst="rect">
            <a:avLst/>
          </a:prstGeom>
          <a:solidFill>
            <a:srgbClr val="EAF2FA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5F636D3F-BA24-43B4-98FA-D87A2D75D821}"/>
              </a:ext>
            </a:extLst>
          </p:cNvPr>
          <p:cNvSpPr>
            <a:spLocks noGrp="1"/>
          </p:cNvSpPr>
          <p:nvPr/>
        </p:nvSpPr>
        <p:spPr>
          <a:xfrm>
            <a:off x="952500" y="5114925"/>
            <a:ext cx="102870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650" b="1">
                <a:solidFill>
                  <a:srgbClr val="123B6D"/>
                </a:solidFill>
              </a:defRPr>
            </a:pPr>
            <a:r>
              <a:rPr sz="1650" b="1">
                <a:solidFill>
                  <a:srgbClr val="123B6D"/>
                </a:solidFill>
              </a:rPr>
              <a:t>Move with a reason and a plan—not because “cloud-first” sounds decisive.</a:t>
            </a:r>
          </a:p>
        </p:txBody>
      </p:sp>
    </p:spTree>
    <p:extLst>
      <p:ext uri="{BB962C8B-B14F-4D97-AF65-F5344CB8AC3E}">
        <p14:creationId xmlns:p14="http://schemas.microsoft.com/office/powerpoint/2010/main" val="1619132951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15">
            <a:extLst>
              <a:ext uri="{FF2B5EF4-FFF2-40B4-BE49-F238E27FC236}">
                <a16:creationId xmlns:a16="http://schemas.microsoft.com/office/drawing/2014/main" id="{8AFC29B2-A535-4977-A959-57390F1FA4C1}"/>
              </a:ext>
            </a:extLst>
          </p:cNvPr>
          <p:cNvSpPr>
            <a:spLocks noGrp="1"/>
          </p:cNvSpPr>
          <p:nvPr/>
        </p:nvSpPr>
        <p:spPr>
          <a:xfrm>
            <a:off x="685800" y="400050"/>
            <a:ext cx="10001250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2700" b="1">
                <a:solidFill>
                  <a:srgbClr val="123B6D"/>
                </a:solidFill>
              </a:defRPr>
            </a:pPr>
            <a:r>
              <a:rPr sz="2700" b="1">
                <a:solidFill>
                  <a:srgbClr val="123B6D"/>
                </a:solidFill>
              </a:rPr>
              <a:t>Migration strategies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E2C323D9-5B38-42D6-A673-7850C8C8DF2A}"/>
              </a:ext>
            </a:extLst>
          </p:cNvPr>
          <p:cNvSpPr>
            <a:spLocks noGrp="1"/>
          </p:cNvSpPr>
          <p:nvPr/>
        </p:nvSpPr>
        <p:spPr>
          <a:xfrm>
            <a:off x="685800" y="1028700"/>
            <a:ext cx="10820400" cy="38100"/>
          </a:xfrm>
          <a:prstGeom prst="rect">
            <a:avLst/>
          </a:prstGeom>
          <a:solidFill>
            <a:srgbClr val="123B6D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6ABE0213-08BD-417F-A260-31549DE3350A}"/>
              </a:ext>
            </a:extLst>
          </p:cNvPr>
          <p:cNvSpPr>
            <a:spLocks noGrp="1"/>
          </p:cNvSpPr>
          <p:nvPr/>
        </p:nvSpPr>
        <p:spPr>
          <a:xfrm>
            <a:off x="685800" y="6419850"/>
            <a:ext cx="2143125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975">
                <a:solidFill>
                  <a:srgbClr val="52606D"/>
                </a:solidFill>
              </a:defRPr>
            </a:pPr>
            <a:r>
              <a:rPr sz="975">
                <a:solidFill>
                  <a:srgbClr val="52606D"/>
                </a:solidFill>
              </a:rPr>
              <a:t>Cloud Computing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E1F127AC-7001-464E-B669-2F436147BC26}"/>
              </a:ext>
            </a:extLst>
          </p:cNvPr>
          <p:cNvSpPr>
            <a:spLocks noGrp="1"/>
          </p:cNvSpPr>
          <p:nvPr/>
        </p:nvSpPr>
        <p:spPr>
          <a:xfrm>
            <a:off x="3381375" y="6419850"/>
            <a:ext cx="65722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975">
                <a:solidFill>
                  <a:srgbClr val="52606D"/>
                </a:solidFill>
              </a:defRPr>
            </a:pPr>
            <a:r>
              <a:rPr sz="975">
                <a:solidFill>
                  <a:srgbClr val="52606D"/>
                </a:solidFill>
              </a:rPr>
              <a:t>Presented by Gregor von Laszewski (laszewski@gmail.com)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A3C82AC0-4BE9-4A4B-BC70-16A78DF2A3FD}"/>
              </a:ext>
            </a:extLst>
          </p:cNvPr>
          <p:cNvSpPr>
            <a:spLocks noGrp="1"/>
          </p:cNvSpPr>
          <p:nvPr/>
        </p:nvSpPr>
        <p:spPr>
          <a:xfrm>
            <a:off x="10858500" y="6419850"/>
            <a:ext cx="6477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975">
                <a:solidFill>
                  <a:srgbClr val="52606D"/>
                </a:solidFill>
              </a:defRPr>
            </a:pPr>
            <a:r>
              <a:rPr sz="975">
                <a:solidFill>
                  <a:srgbClr val="52606D"/>
                </a:solidFill>
              </a:rPr>
              <a:t>62</a:t>
            </a:r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8471A665-996D-4C67-A98A-5093C96F495A}"/>
              </a:ext>
            </a:extLst>
          </p:cNvPr>
          <p:cNvSpPr>
            <a:spLocks noGrp="1"/>
          </p:cNvSpPr>
          <p:nvPr/>
        </p:nvSpPr>
        <p:spPr>
          <a:xfrm>
            <a:off x="838200" y="1676400"/>
            <a:ext cx="95250" cy="95250"/>
          </a:xfrm>
          <a:prstGeom prst="ellipse">
            <a:avLst/>
          </a:prstGeom>
          <a:solidFill>
            <a:srgbClr val="38699C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6152151C-7229-4B87-9B4C-B9C81E9D4A92}"/>
              </a:ext>
            </a:extLst>
          </p:cNvPr>
          <p:cNvSpPr>
            <a:spLocks noGrp="1"/>
          </p:cNvSpPr>
          <p:nvPr/>
        </p:nvSpPr>
        <p:spPr>
          <a:xfrm>
            <a:off x="1123950" y="1562100"/>
            <a:ext cx="9620250" cy="523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650">
                <a:solidFill>
                  <a:srgbClr val="17212B"/>
                </a:solidFill>
              </a:defRPr>
            </a:pPr>
            <a:r>
              <a:rPr sz="1650">
                <a:solidFill>
                  <a:srgbClr val="17212B"/>
                </a:solidFill>
              </a:rPr>
              <a:t>Rehost moves an application with minimal change.</a:t>
            </a:r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286481D7-4CDB-4052-AA29-3672F70E3081}"/>
              </a:ext>
            </a:extLst>
          </p:cNvPr>
          <p:cNvSpPr>
            <a:spLocks noGrp="1"/>
          </p:cNvSpPr>
          <p:nvPr/>
        </p:nvSpPr>
        <p:spPr>
          <a:xfrm>
            <a:off x="838200" y="2419350"/>
            <a:ext cx="95250" cy="95250"/>
          </a:xfrm>
          <a:prstGeom prst="ellipse">
            <a:avLst/>
          </a:prstGeom>
          <a:solidFill>
            <a:srgbClr val="38699C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25AB0312-DB66-4CC9-BE85-A9C2BBAA8360}"/>
              </a:ext>
            </a:extLst>
          </p:cNvPr>
          <p:cNvSpPr>
            <a:spLocks noGrp="1"/>
          </p:cNvSpPr>
          <p:nvPr/>
        </p:nvSpPr>
        <p:spPr>
          <a:xfrm>
            <a:off x="1123950" y="2305050"/>
            <a:ext cx="9620250" cy="523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650">
                <a:solidFill>
                  <a:srgbClr val="17212B"/>
                </a:solidFill>
              </a:defRPr>
            </a:pPr>
            <a:r>
              <a:rPr sz="1650">
                <a:solidFill>
                  <a:srgbClr val="17212B"/>
                </a:solidFill>
              </a:rPr>
              <a:t>Replatform makes selected platform improvements.</a:t>
            </a:r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5F4E9AE4-7ECA-44E6-A5E2-12182200FA92}"/>
              </a:ext>
            </a:extLst>
          </p:cNvPr>
          <p:cNvSpPr>
            <a:spLocks noGrp="1"/>
          </p:cNvSpPr>
          <p:nvPr/>
        </p:nvSpPr>
        <p:spPr>
          <a:xfrm>
            <a:off x="838200" y="3162300"/>
            <a:ext cx="95250" cy="95250"/>
          </a:xfrm>
          <a:prstGeom prst="ellipse">
            <a:avLst/>
          </a:prstGeom>
          <a:solidFill>
            <a:srgbClr val="38699C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DB6FD999-9344-41E1-B92C-103ED8814140}"/>
              </a:ext>
            </a:extLst>
          </p:cNvPr>
          <p:cNvSpPr>
            <a:spLocks noGrp="1"/>
          </p:cNvSpPr>
          <p:nvPr/>
        </p:nvSpPr>
        <p:spPr>
          <a:xfrm>
            <a:off x="1123950" y="3048000"/>
            <a:ext cx="9620250" cy="523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650">
                <a:solidFill>
                  <a:srgbClr val="17212B"/>
                </a:solidFill>
              </a:defRPr>
            </a:pPr>
            <a:r>
              <a:rPr sz="1650">
                <a:solidFill>
                  <a:srgbClr val="17212B"/>
                </a:solidFill>
              </a:rPr>
              <a:t>Refactor redesigns for cloud-native capabilities.</a:t>
            </a:r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2C150607-8DBD-48A0-B00F-0397458892D1}"/>
              </a:ext>
            </a:extLst>
          </p:cNvPr>
          <p:cNvSpPr>
            <a:spLocks noGrp="1"/>
          </p:cNvSpPr>
          <p:nvPr/>
        </p:nvSpPr>
        <p:spPr>
          <a:xfrm>
            <a:off x="838200" y="3905250"/>
            <a:ext cx="95250" cy="95250"/>
          </a:xfrm>
          <a:prstGeom prst="ellipse">
            <a:avLst/>
          </a:prstGeom>
          <a:solidFill>
            <a:srgbClr val="38699C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CA37C665-8A75-4350-906F-A4FD51233632}"/>
              </a:ext>
            </a:extLst>
          </p:cNvPr>
          <p:cNvSpPr>
            <a:spLocks noGrp="1"/>
          </p:cNvSpPr>
          <p:nvPr/>
        </p:nvSpPr>
        <p:spPr>
          <a:xfrm>
            <a:off x="1123950" y="3790950"/>
            <a:ext cx="9620250" cy="523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650">
                <a:solidFill>
                  <a:srgbClr val="17212B"/>
                </a:solidFill>
              </a:defRPr>
            </a:pPr>
            <a:r>
              <a:rPr sz="1650">
                <a:solidFill>
                  <a:srgbClr val="17212B"/>
                </a:solidFill>
              </a:rPr>
              <a:t>Retain, retire, or replace may be better choices for some workloads.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8554A0F7-7155-480F-BCDB-69768EF52775}"/>
              </a:ext>
            </a:extLst>
          </p:cNvPr>
          <p:cNvSpPr>
            <a:spLocks noGrp="1"/>
          </p:cNvSpPr>
          <p:nvPr/>
        </p:nvSpPr>
        <p:spPr>
          <a:xfrm>
            <a:off x="685800" y="4953000"/>
            <a:ext cx="10820400" cy="590550"/>
          </a:xfrm>
          <a:prstGeom prst="rect">
            <a:avLst/>
          </a:prstGeom>
          <a:solidFill>
            <a:srgbClr val="EAF2FA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C5D438C3-3B6A-433F-B071-25746055370A}"/>
              </a:ext>
            </a:extLst>
          </p:cNvPr>
          <p:cNvSpPr>
            <a:spLocks noGrp="1"/>
          </p:cNvSpPr>
          <p:nvPr/>
        </p:nvSpPr>
        <p:spPr>
          <a:xfrm>
            <a:off x="952500" y="5114925"/>
            <a:ext cx="102870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650" b="1">
                <a:solidFill>
                  <a:srgbClr val="123B6D"/>
                </a:solidFill>
              </a:defRPr>
            </a:pPr>
            <a:r>
              <a:rPr sz="1650" b="1">
                <a:solidFill>
                  <a:srgbClr val="123B6D"/>
                </a:solidFill>
              </a:rPr>
              <a:t>Choose the smallest change that delivers the required value.</a:t>
            </a:r>
          </a:p>
        </p:txBody>
      </p:sp>
    </p:spTree>
    <p:extLst>
      <p:ext uri="{BB962C8B-B14F-4D97-AF65-F5344CB8AC3E}">
        <p14:creationId xmlns:p14="http://schemas.microsoft.com/office/powerpoint/2010/main" val="401658129"/>
      </p:ext>
    </p:extLst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13">
            <a:extLst>
              <a:ext uri="{FF2B5EF4-FFF2-40B4-BE49-F238E27FC236}">
                <a16:creationId xmlns:a16="http://schemas.microsoft.com/office/drawing/2014/main" id="{CB32CD3A-5B15-4556-B430-22BF37DF99CF}"/>
              </a:ext>
            </a:extLst>
          </p:cNvPr>
          <p:cNvSpPr>
            <a:spLocks noGrp="1"/>
          </p:cNvSpPr>
          <p:nvPr/>
        </p:nvSpPr>
        <p:spPr>
          <a:xfrm>
            <a:off x="685800" y="400050"/>
            <a:ext cx="10001250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2700" b="1">
                <a:solidFill>
                  <a:srgbClr val="123B6D"/>
                </a:solidFill>
              </a:defRPr>
            </a:pPr>
            <a:r>
              <a:rPr sz="2700" b="1">
                <a:solidFill>
                  <a:srgbClr val="123B6D"/>
                </a:solidFill>
              </a:rPr>
              <a:t>A well-architected mindset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FC3595C5-EA14-42BC-9D97-F264C67E0B14}"/>
              </a:ext>
            </a:extLst>
          </p:cNvPr>
          <p:cNvSpPr>
            <a:spLocks noGrp="1"/>
          </p:cNvSpPr>
          <p:nvPr/>
        </p:nvSpPr>
        <p:spPr>
          <a:xfrm>
            <a:off x="685800" y="1028700"/>
            <a:ext cx="10820400" cy="38100"/>
          </a:xfrm>
          <a:prstGeom prst="rect">
            <a:avLst/>
          </a:prstGeom>
          <a:solidFill>
            <a:srgbClr val="123B6D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01AB5A93-4C56-4528-BF08-98B3E2B6AC86}"/>
              </a:ext>
            </a:extLst>
          </p:cNvPr>
          <p:cNvSpPr>
            <a:spLocks noGrp="1"/>
          </p:cNvSpPr>
          <p:nvPr/>
        </p:nvSpPr>
        <p:spPr>
          <a:xfrm>
            <a:off x="685800" y="6419850"/>
            <a:ext cx="2143125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975">
                <a:solidFill>
                  <a:srgbClr val="52606D"/>
                </a:solidFill>
              </a:defRPr>
            </a:pPr>
            <a:r>
              <a:rPr sz="975">
                <a:solidFill>
                  <a:srgbClr val="52606D"/>
                </a:solidFill>
              </a:rPr>
              <a:t>Cloud Computing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4FC688BA-4789-46B6-8AF2-E59A0139BEA9}"/>
              </a:ext>
            </a:extLst>
          </p:cNvPr>
          <p:cNvSpPr>
            <a:spLocks noGrp="1"/>
          </p:cNvSpPr>
          <p:nvPr/>
        </p:nvSpPr>
        <p:spPr>
          <a:xfrm>
            <a:off x="3381375" y="6419850"/>
            <a:ext cx="65722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975">
                <a:solidFill>
                  <a:srgbClr val="52606D"/>
                </a:solidFill>
              </a:defRPr>
            </a:pPr>
            <a:r>
              <a:rPr sz="975">
                <a:solidFill>
                  <a:srgbClr val="52606D"/>
                </a:solidFill>
              </a:rPr>
              <a:t>Presented by Gregor von Laszewski (laszewski@gmail.com)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D54BEC19-B326-4408-B7DD-F79119FDF874}"/>
              </a:ext>
            </a:extLst>
          </p:cNvPr>
          <p:cNvSpPr>
            <a:spLocks noGrp="1"/>
          </p:cNvSpPr>
          <p:nvPr/>
        </p:nvSpPr>
        <p:spPr>
          <a:xfrm>
            <a:off x="10858500" y="6419850"/>
            <a:ext cx="6477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975">
                <a:solidFill>
                  <a:srgbClr val="52606D"/>
                </a:solidFill>
              </a:defRPr>
            </a:pPr>
            <a:r>
              <a:rPr sz="975">
                <a:solidFill>
                  <a:srgbClr val="52606D"/>
                </a:solidFill>
              </a:rPr>
              <a:t>63</a:t>
            </a:r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3942687F-AA84-457A-8E57-0BA7EB2720E5}"/>
              </a:ext>
            </a:extLst>
          </p:cNvPr>
          <p:cNvSpPr>
            <a:spLocks noGrp="1"/>
          </p:cNvSpPr>
          <p:nvPr/>
        </p:nvSpPr>
        <p:spPr>
          <a:xfrm>
            <a:off x="838200" y="1676400"/>
            <a:ext cx="95250" cy="95250"/>
          </a:xfrm>
          <a:prstGeom prst="ellipse">
            <a:avLst/>
          </a:prstGeom>
          <a:solidFill>
            <a:srgbClr val="38699C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8696794A-6D42-463D-9BF3-3C11D1673DBE}"/>
              </a:ext>
            </a:extLst>
          </p:cNvPr>
          <p:cNvSpPr>
            <a:spLocks noGrp="1"/>
          </p:cNvSpPr>
          <p:nvPr/>
        </p:nvSpPr>
        <p:spPr>
          <a:xfrm>
            <a:off x="1123950" y="1562100"/>
            <a:ext cx="9620250" cy="523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650">
                <a:solidFill>
                  <a:srgbClr val="17212B"/>
                </a:solidFill>
              </a:defRPr>
            </a:pPr>
            <a:r>
              <a:rPr sz="1650">
                <a:solidFill>
                  <a:srgbClr val="17212B"/>
                </a:solidFill>
              </a:rPr>
              <a:t>Operational excellence: run and improve the system well.</a:t>
            </a:r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833DA6EB-D01C-4C66-8CBF-BAF1252BE5B1}"/>
              </a:ext>
            </a:extLst>
          </p:cNvPr>
          <p:cNvSpPr>
            <a:spLocks noGrp="1"/>
          </p:cNvSpPr>
          <p:nvPr/>
        </p:nvSpPr>
        <p:spPr>
          <a:xfrm>
            <a:off x="838200" y="2419350"/>
            <a:ext cx="95250" cy="95250"/>
          </a:xfrm>
          <a:prstGeom prst="ellipse">
            <a:avLst/>
          </a:prstGeom>
          <a:solidFill>
            <a:srgbClr val="38699C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EB0BA624-6A15-47CA-87DE-41D6B1293E96}"/>
              </a:ext>
            </a:extLst>
          </p:cNvPr>
          <p:cNvSpPr>
            <a:spLocks noGrp="1"/>
          </p:cNvSpPr>
          <p:nvPr/>
        </p:nvSpPr>
        <p:spPr>
          <a:xfrm>
            <a:off x="1123950" y="2305050"/>
            <a:ext cx="9620250" cy="523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650">
                <a:solidFill>
                  <a:srgbClr val="17212B"/>
                </a:solidFill>
              </a:defRPr>
            </a:pPr>
            <a:r>
              <a:rPr sz="1650">
                <a:solidFill>
                  <a:srgbClr val="17212B"/>
                </a:solidFill>
              </a:rPr>
              <a:t>Security: protect systems, data, and access.</a:t>
            </a:r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EE0DBD4E-E5CB-4FCD-A282-9182535B6E1E}"/>
              </a:ext>
            </a:extLst>
          </p:cNvPr>
          <p:cNvSpPr>
            <a:spLocks noGrp="1"/>
          </p:cNvSpPr>
          <p:nvPr/>
        </p:nvSpPr>
        <p:spPr>
          <a:xfrm>
            <a:off x="838200" y="3162300"/>
            <a:ext cx="95250" cy="95250"/>
          </a:xfrm>
          <a:prstGeom prst="ellipse">
            <a:avLst/>
          </a:prstGeom>
          <a:solidFill>
            <a:srgbClr val="38699C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AEBA63C8-E81E-46C6-954C-3D16C37955F3}"/>
              </a:ext>
            </a:extLst>
          </p:cNvPr>
          <p:cNvSpPr>
            <a:spLocks noGrp="1"/>
          </p:cNvSpPr>
          <p:nvPr/>
        </p:nvSpPr>
        <p:spPr>
          <a:xfrm>
            <a:off x="1123950" y="3048000"/>
            <a:ext cx="9620250" cy="523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650">
                <a:solidFill>
                  <a:srgbClr val="17212B"/>
                </a:solidFill>
              </a:defRPr>
            </a:pPr>
            <a:r>
              <a:rPr sz="1650">
                <a:solidFill>
                  <a:srgbClr val="17212B"/>
                </a:solidFill>
              </a:rPr>
              <a:t>Reliability, performance, and cost: make trade-offs deliberately.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C5F5DC64-3436-44D8-8858-D22B1DE9C4DE}"/>
              </a:ext>
            </a:extLst>
          </p:cNvPr>
          <p:cNvSpPr>
            <a:spLocks noGrp="1"/>
          </p:cNvSpPr>
          <p:nvPr/>
        </p:nvSpPr>
        <p:spPr>
          <a:xfrm>
            <a:off x="685800" y="4953000"/>
            <a:ext cx="10820400" cy="590550"/>
          </a:xfrm>
          <a:prstGeom prst="rect">
            <a:avLst/>
          </a:prstGeom>
          <a:solidFill>
            <a:srgbClr val="EAF2FA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8851D295-058E-4DF0-8429-FA3B833351B0}"/>
              </a:ext>
            </a:extLst>
          </p:cNvPr>
          <p:cNvSpPr>
            <a:spLocks noGrp="1"/>
          </p:cNvSpPr>
          <p:nvPr/>
        </p:nvSpPr>
        <p:spPr>
          <a:xfrm>
            <a:off x="952500" y="5114925"/>
            <a:ext cx="102870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650" b="1">
                <a:solidFill>
                  <a:srgbClr val="123B6D"/>
                </a:solidFill>
              </a:defRPr>
            </a:pPr>
            <a:r>
              <a:rPr sz="1650" b="1">
                <a:solidFill>
                  <a:srgbClr val="123B6D"/>
                </a:solidFill>
              </a:rPr>
              <a:t>Architecture is an ongoing practice of asking better questions.</a:t>
            </a:r>
          </a:p>
        </p:txBody>
      </p:sp>
    </p:spTree>
    <p:extLst>
      <p:ext uri="{BB962C8B-B14F-4D97-AF65-F5344CB8AC3E}">
        <p14:creationId xmlns:p14="http://schemas.microsoft.com/office/powerpoint/2010/main" val="616288167"/>
      </p:ext>
    </p:extLst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15">
            <a:extLst>
              <a:ext uri="{FF2B5EF4-FFF2-40B4-BE49-F238E27FC236}">
                <a16:creationId xmlns:a16="http://schemas.microsoft.com/office/drawing/2014/main" id="{4D522DAC-3A50-4055-9D9E-2BEF63E50E42}"/>
              </a:ext>
            </a:extLst>
          </p:cNvPr>
          <p:cNvSpPr>
            <a:spLocks noGrp="1"/>
          </p:cNvSpPr>
          <p:nvPr/>
        </p:nvSpPr>
        <p:spPr>
          <a:xfrm>
            <a:off x="685800" y="400050"/>
            <a:ext cx="10001250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2700" b="1">
                <a:solidFill>
                  <a:srgbClr val="123B6D"/>
                </a:solidFill>
              </a:defRPr>
            </a:pPr>
            <a:r>
              <a:rPr sz="2700" b="1">
                <a:solidFill>
                  <a:srgbClr val="123B6D"/>
                </a:solidFill>
              </a:rPr>
              <a:t>Case study: student-event platform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13540D37-FA73-4DED-9866-D653744A927F}"/>
              </a:ext>
            </a:extLst>
          </p:cNvPr>
          <p:cNvSpPr>
            <a:spLocks noGrp="1"/>
          </p:cNvSpPr>
          <p:nvPr/>
        </p:nvSpPr>
        <p:spPr>
          <a:xfrm>
            <a:off x="685800" y="1028700"/>
            <a:ext cx="10820400" cy="38100"/>
          </a:xfrm>
          <a:prstGeom prst="rect">
            <a:avLst/>
          </a:prstGeom>
          <a:solidFill>
            <a:srgbClr val="123B6D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E8034925-82BF-4661-82EC-DCFF752F527E}"/>
              </a:ext>
            </a:extLst>
          </p:cNvPr>
          <p:cNvSpPr>
            <a:spLocks noGrp="1"/>
          </p:cNvSpPr>
          <p:nvPr/>
        </p:nvSpPr>
        <p:spPr>
          <a:xfrm>
            <a:off x="685800" y="6419850"/>
            <a:ext cx="2143125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975">
                <a:solidFill>
                  <a:srgbClr val="52606D"/>
                </a:solidFill>
              </a:defRPr>
            </a:pPr>
            <a:r>
              <a:rPr sz="975">
                <a:solidFill>
                  <a:srgbClr val="52606D"/>
                </a:solidFill>
              </a:rPr>
              <a:t>Cloud Computing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8CF3776F-020A-4BD9-A7E3-5DC7965F82E0}"/>
              </a:ext>
            </a:extLst>
          </p:cNvPr>
          <p:cNvSpPr>
            <a:spLocks noGrp="1"/>
          </p:cNvSpPr>
          <p:nvPr/>
        </p:nvSpPr>
        <p:spPr>
          <a:xfrm>
            <a:off x="3381375" y="6419850"/>
            <a:ext cx="65722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975">
                <a:solidFill>
                  <a:srgbClr val="52606D"/>
                </a:solidFill>
              </a:defRPr>
            </a:pPr>
            <a:r>
              <a:rPr sz="975">
                <a:solidFill>
                  <a:srgbClr val="52606D"/>
                </a:solidFill>
              </a:rPr>
              <a:t>Presented by Gregor von Laszewski (laszewski@gmail.com)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5935C0A7-60A4-4DCA-9150-D28EEBF50373}"/>
              </a:ext>
            </a:extLst>
          </p:cNvPr>
          <p:cNvSpPr>
            <a:spLocks noGrp="1"/>
          </p:cNvSpPr>
          <p:nvPr/>
        </p:nvSpPr>
        <p:spPr>
          <a:xfrm>
            <a:off x="10858500" y="6419850"/>
            <a:ext cx="6477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975">
                <a:solidFill>
                  <a:srgbClr val="52606D"/>
                </a:solidFill>
              </a:defRPr>
            </a:pPr>
            <a:r>
              <a:rPr sz="975">
                <a:solidFill>
                  <a:srgbClr val="52606D"/>
                </a:solidFill>
              </a:rPr>
              <a:t>64</a:t>
            </a:r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570A7696-DA06-4A0C-AF65-2E52584BFD05}"/>
              </a:ext>
            </a:extLst>
          </p:cNvPr>
          <p:cNvSpPr>
            <a:spLocks noGrp="1"/>
          </p:cNvSpPr>
          <p:nvPr/>
        </p:nvSpPr>
        <p:spPr>
          <a:xfrm>
            <a:off x="838200" y="1676400"/>
            <a:ext cx="95250" cy="95250"/>
          </a:xfrm>
          <a:prstGeom prst="ellipse">
            <a:avLst/>
          </a:prstGeom>
          <a:solidFill>
            <a:srgbClr val="38699C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48D7C1DB-F180-4F72-8F60-0C03F721A0C3}"/>
              </a:ext>
            </a:extLst>
          </p:cNvPr>
          <p:cNvSpPr>
            <a:spLocks noGrp="1"/>
          </p:cNvSpPr>
          <p:nvPr/>
        </p:nvSpPr>
        <p:spPr>
          <a:xfrm>
            <a:off x="1123950" y="1562100"/>
            <a:ext cx="9620250" cy="523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650">
                <a:solidFill>
                  <a:srgbClr val="17212B"/>
                </a:solidFill>
              </a:defRPr>
            </a:pPr>
            <a:r>
              <a:rPr sz="1650">
                <a:solidFill>
                  <a:srgbClr val="17212B"/>
                </a:solidFill>
              </a:rPr>
              <a:t>Students browse events, register, and receive reminders.</a:t>
            </a:r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5B6E3E9C-1D26-43C2-AA38-B7F215619BBE}"/>
              </a:ext>
            </a:extLst>
          </p:cNvPr>
          <p:cNvSpPr>
            <a:spLocks noGrp="1"/>
          </p:cNvSpPr>
          <p:nvPr/>
        </p:nvSpPr>
        <p:spPr>
          <a:xfrm>
            <a:off x="838200" y="2419350"/>
            <a:ext cx="95250" cy="95250"/>
          </a:xfrm>
          <a:prstGeom prst="ellipse">
            <a:avLst/>
          </a:prstGeom>
          <a:solidFill>
            <a:srgbClr val="38699C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EB550459-285D-4559-ACFC-636DDE93C627}"/>
              </a:ext>
            </a:extLst>
          </p:cNvPr>
          <p:cNvSpPr>
            <a:spLocks noGrp="1"/>
          </p:cNvSpPr>
          <p:nvPr/>
        </p:nvSpPr>
        <p:spPr>
          <a:xfrm>
            <a:off x="1123950" y="2305050"/>
            <a:ext cx="9620250" cy="523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650">
                <a:solidFill>
                  <a:srgbClr val="17212B"/>
                </a:solidFill>
              </a:defRPr>
            </a:pPr>
            <a:r>
              <a:rPr sz="1650">
                <a:solidFill>
                  <a:srgbClr val="17212B"/>
                </a:solidFill>
              </a:rPr>
              <a:t>Demand spikes before popular events open.</a:t>
            </a:r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0D663B57-53C2-461B-93FD-FD63B264CF34}"/>
              </a:ext>
            </a:extLst>
          </p:cNvPr>
          <p:cNvSpPr>
            <a:spLocks noGrp="1"/>
          </p:cNvSpPr>
          <p:nvPr/>
        </p:nvSpPr>
        <p:spPr>
          <a:xfrm>
            <a:off x="838200" y="3162300"/>
            <a:ext cx="95250" cy="95250"/>
          </a:xfrm>
          <a:prstGeom prst="ellipse">
            <a:avLst/>
          </a:prstGeom>
          <a:solidFill>
            <a:srgbClr val="38699C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7C16E309-3CE6-4152-94C3-34EF1CCEB313}"/>
              </a:ext>
            </a:extLst>
          </p:cNvPr>
          <p:cNvSpPr>
            <a:spLocks noGrp="1"/>
          </p:cNvSpPr>
          <p:nvPr/>
        </p:nvSpPr>
        <p:spPr>
          <a:xfrm>
            <a:off x="1123950" y="3048000"/>
            <a:ext cx="9620250" cy="523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650">
                <a:solidFill>
                  <a:srgbClr val="17212B"/>
                </a:solidFill>
              </a:defRPr>
            </a:pPr>
            <a:r>
              <a:rPr sz="1650">
                <a:solidFill>
                  <a:srgbClr val="17212B"/>
                </a:solidFill>
              </a:rPr>
              <a:t>The platform handles personal data and must remain affordable.</a:t>
            </a:r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C93F9690-DFF9-4930-BD44-4A498620CD5A}"/>
              </a:ext>
            </a:extLst>
          </p:cNvPr>
          <p:cNvSpPr>
            <a:spLocks noGrp="1"/>
          </p:cNvSpPr>
          <p:nvPr/>
        </p:nvSpPr>
        <p:spPr>
          <a:xfrm>
            <a:off x="838200" y="3905250"/>
            <a:ext cx="95250" cy="95250"/>
          </a:xfrm>
          <a:prstGeom prst="ellipse">
            <a:avLst/>
          </a:prstGeom>
          <a:solidFill>
            <a:srgbClr val="38699C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4DF9BD45-7642-4C3A-9668-503895CBF488}"/>
              </a:ext>
            </a:extLst>
          </p:cNvPr>
          <p:cNvSpPr>
            <a:spLocks noGrp="1"/>
          </p:cNvSpPr>
          <p:nvPr/>
        </p:nvSpPr>
        <p:spPr>
          <a:xfrm>
            <a:off x="1123950" y="3790950"/>
            <a:ext cx="9620250" cy="523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650">
                <a:solidFill>
                  <a:srgbClr val="17212B"/>
                </a:solidFill>
              </a:defRPr>
            </a:pPr>
            <a:r>
              <a:rPr sz="1650">
                <a:solidFill>
                  <a:srgbClr val="17212B"/>
                </a:solidFill>
              </a:rPr>
              <a:t>The goal is a small, understandable starting architecture.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7EACE00D-6878-4313-84DB-FD75DACC293E}"/>
              </a:ext>
            </a:extLst>
          </p:cNvPr>
          <p:cNvSpPr>
            <a:spLocks noGrp="1"/>
          </p:cNvSpPr>
          <p:nvPr/>
        </p:nvSpPr>
        <p:spPr>
          <a:xfrm>
            <a:off x="685800" y="4953000"/>
            <a:ext cx="10820400" cy="590550"/>
          </a:xfrm>
          <a:prstGeom prst="rect">
            <a:avLst/>
          </a:prstGeom>
          <a:solidFill>
            <a:srgbClr val="EAF2FA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A84EF7CF-AD4C-48AD-849A-BFAAAF7ADCE2}"/>
              </a:ext>
            </a:extLst>
          </p:cNvPr>
          <p:cNvSpPr>
            <a:spLocks noGrp="1"/>
          </p:cNvSpPr>
          <p:nvPr/>
        </p:nvSpPr>
        <p:spPr>
          <a:xfrm>
            <a:off x="952500" y="5114925"/>
            <a:ext cx="102870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650" b="1">
                <a:solidFill>
                  <a:srgbClr val="123B6D"/>
                </a:solidFill>
              </a:defRPr>
            </a:pPr>
            <a:r>
              <a:rPr sz="1650" b="1">
                <a:solidFill>
                  <a:srgbClr val="123B6D"/>
                </a:solidFill>
              </a:rPr>
              <a:t>We will now connect the building blocks into one design.</a:t>
            </a:r>
          </a:p>
        </p:txBody>
      </p:sp>
    </p:spTree>
    <p:extLst>
      <p:ext uri="{BB962C8B-B14F-4D97-AF65-F5344CB8AC3E}">
        <p14:creationId xmlns:p14="http://schemas.microsoft.com/office/powerpoint/2010/main" val="902140428"/>
      </p:ext>
    </p:extLst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15">
            <a:extLst>
              <a:ext uri="{FF2B5EF4-FFF2-40B4-BE49-F238E27FC236}">
                <a16:creationId xmlns:a16="http://schemas.microsoft.com/office/drawing/2014/main" id="{49CC4448-BA69-4BA6-B9B2-C4D05607CEB7}"/>
              </a:ext>
            </a:extLst>
          </p:cNvPr>
          <p:cNvSpPr>
            <a:spLocks noGrp="1"/>
          </p:cNvSpPr>
          <p:nvPr/>
        </p:nvSpPr>
        <p:spPr>
          <a:xfrm>
            <a:off x="685800" y="400050"/>
            <a:ext cx="10001250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2700" b="1">
                <a:solidFill>
                  <a:srgbClr val="123B6D"/>
                </a:solidFill>
              </a:defRPr>
            </a:pPr>
            <a:r>
              <a:rPr sz="2700" b="1">
                <a:solidFill>
                  <a:srgbClr val="123B6D"/>
                </a:solidFill>
              </a:rPr>
              <a:t>Case study: request path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F2CD62BE-C8F2-4DDE-BE91-8F11F4CE9637}"/>
              </a:ext>
            </a:extLst>
          </p:cNvPr>
          <p:cNvSpPr>
            <a:spLocks noGrp="1"/>
          </p:cNvSpPr>
          <p:nvPr/>
        </p:nvSpPr>
        <p:spPr>
          <a:xfrm>
            <a:off x="685800" y="1028700"/>
            <a:ext cx="10820400" cy="38100"/>
          </a:xfrm>
          <a:prstGeom prst="rect">
            <a:avLst/>
          </a:prstGeom>
          <a:solidFill>
            <a:srgbClr val="123B6D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D74A7681-A965-4AE4-B27D-DA9526D9FFD0}"/>
              </a:ext>
            </a:extLst>
          </p:cNvPr>
          <p:cNvSpPr>
            <a:spLocks noGrp="1"/>
          </p:cNvSpPr>
          <p:nvPr/>
        </p:nvSpPr>
        <p:spPr>
          <a:xfrm>
            <a:off x="685800" y="6419850"/>
            <a:ext cx="2143125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975">
                <a:solidFill>
                  <a:srgbClr val="52606D"/>
                </a:solidFill>
              </a:defRPr>
            </a:pPr>
            <a:r>
              <a:rPr sz="975">
                <a:solidFill>
                  <a:srgbClr val="52606D"/>
                </a:solidFill>
              </a:rPr>
              <a:t>Cloud Computing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0E366885-2342-46CA-A43F-6E6776ACCCDD}"/>
              </a:ext>
            </a:extLst>
          </p:cNvPr>
          <p:cNvSpPr>
            <a:spLocks noGrp="1"/>
          </p:cNvSpPr>
          <p:nvPr/>
        </p:nvSpPr>
        <p:spPr>
          <a:xfrm>
            <a:off x="3381375" y="6419850"/>
            <a:ext cx="65722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975">
                <a:solidFill>
                  <a:srgbClr val="52606D"/>
                </a:solidFill>
              </a:defRPr>
            </a:pPr>
            <a:r>
              <a:rPr sz="975">
                <a:solidFill>
                  <a:srgbClr val="52606D"/>
                </a:solidFill>
              </a:rPr>
              <a:t>Presented by Gregor von Laszewski (laszewski@gmail.com)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300EBFAA-F93C-43B8-9FDC-084C42C120B7}"/>
              </a:ext>
            </a:extLst>
          </p:cNvPr>
          <p:cNvSpPr>
            <a:spLocks noGrp="1"/>
          </p:cNvSpPr>
          <p:nvPr/>
        </p:nvSpPr>
        <p:spPr>
          <a:xfrm>
            <a:off x="10858500" y="6419850"/>
            <a:ext cx="6477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975">
                <a:solidFill>
                  <a:srgbClr val="52606D"/>
                </a:solidFill>
              </a:defRPr>
            </a:pPr>
            <a:r>
              <a:rPr sz="975">
                <a:solidFill>
                  <a:srgbClr val="52606D"/>
                </a:solidFill>
              </a:rPr>
              <a:t>65</a:t>
            </a:r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93780C3E-C13D-4B3B-A66C-C86C6163780F}"/>
              </a:ext>
            </a:extLst>
          </p:cNvPr>
          <p:cNvSpPr>
            <a:spLocks noGrp="1"/>
          </p:cNvSpPr>
          <p:nvPr/>
        </p:nvSpPr>
        <p:spPr>
          <a:xfrm>
            <a:off x="838200" y="1676400"/>
            <a:ext cx="95250" cy="95250"/>
          </a:xfrm>
          <a:prstGeom prst="ellipse">
            <a:avLst/>
          </a:prstGeom>
          <a:solidFill>
            <a:srgbClr val="38699C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8494BE56-73FD-4610-BD76-A9A12C62F41C}"/>
              </a:ext>
            </a:extLst>
          </p:cNvPr>
          <p:cNvSpPr>
            <a:spLocks noGrp="1"/>
          </p:cNvSpPr>
          <p:nvPr/>
        </p:nvSpPr>
        <p:spPr>
          <a:xfrm>
            <a:off x="1123950" y="1562100"/>
            <a:ext cx="9620250" cy="523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650">
                <a:solidFill>
                  <a:srgbClr val="17212B"/>
                </a:solidFill>
              </a:defRPr>
            </a:pPr>
            <a:r>
              <a:rPr sz="1650">
                <a:solidFill>
                  <a:srgbClr val="17212B"/>
                </a:solidFill>
              </a:rPr>
              <a:t>A user reaches a web endpoint through DNS and a load balancer.</a:t>
            </a:r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5FD413D8-5F72-4D6D-80A4-A199084541E2}"/>
              </a:ext>
            </a:extLst>
          </p:cNvPr>
          <p:cNvSpPr>
            <a:spLocks noGrp="1"/>
          </p:cNvSpPr>
          <p:nvPr/>
        </p:nvSpPr>
        <p:spPr>
          <a:xfrm>
            <a:off x="838200" y="2419350"/>
            <a:ext cx="95250" cy="95250"/>
          </a:xfrm>
          <a:prstGeom prst="ellipse">
            <a:avLst/>
          </a:prstGeom>
          <a:solidFill>
            <a:srgbClr val="38699C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FF526D00-2F4E-49B7-9E9F-20FA7B244879}"/>
              </a:ext>
            </a:extLst>
          </p:cNvPr>
          <p:cNvSpPr>
            <a:spLocks noGrp="1"/>
          </p:cNvSpPr>
          <p:nvPr/>
        </p:nvSpPr>
        <p:spPr>
          <a:xfrm>
            <a:off x="1123950" y="2305050"/>
            <a:ext cx="9620250" cy="523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650">
                <a:solidFill>
                  <a:srgbClr val="17212B"/>
                </a:solidFill>
              </a:defRPr>
            </a:pPr>
            <a:r>
              <a:rPr sz="1650">
                <a:solidFill>
                  <a:srgbClr val="17212B"/>
                </a:solidFill>
              </a:rPr>
              <a:t>Application compute validates the request and writes registration data.</a:t>
            </a:r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06C391EB-842C-43F6-9AE2-B56FBD4E3241}"/>
              </a:ext>
            </a:extLst>
          </p:cNvPr>
          <p:cNvSpPr>
            <a:spLocks noGrp="1"/>
          </p:cNvSpPr>
          <p:nvPr/>
        </p:nvSpPr>
        <p:spPr>
          <a:xfrm>
            <a:off x="838200" y="3162300"/>
            <a:ext cx="95250" cy="95250"/>
          </a:xfrm>
          <a:prstGeom prst="ellipse">
            <a:avLst/>
          </a:prstGeom>
          <a:solidFill>
            <a:srgbClr val="38699C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70C1A36F-41C9-4D35-B45C-431C287B4A71}"/>
              </a:ext>
            </a:extLst>
          </p:cNvPr>
          <p:cNvSpPr>
            <a:spLocks noGrp="1"/>
          </p:cNvSpPr>
          <p:nvPr/>
        </p:nvSpPr>
        <p:spPr>
          <a:xfrm>
            <a:off x="1123950" y="3048000"/>
            <a:ext cx="9620250" cy="523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650">
                <a:solidFill>
                  <a:srgbClr val="17212B"/>
                </a:solidFill>
              </a:defRPr>
            </a:pPr>
            <a:r>
              <a:rPr sz="1650">
                <a:solidFill>
                  <a:srgbClr val="17212B"/>
                </a:solidFill>
              </a:rPr>
              <a:t>A queue can send reminder work to a separate worker.</a:t>
            </a:r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451FB7E1-C976-49E8-9946-9F7EAFD9D77B}"/>
              </a:ext>
            </a:extLst>
          </p:cNvPr>
          <p:cNvSpPr>
            <a:spLocks noGrp="1"/>
          </p:cNvSpPr>
          <p:nvPr/>
        </p:nvSpPr>
        <p:spPr>
          <a:xfrm>
            <a:off x="838200" y="3905250"/>
            <a:ext cx="95250" cy="95250"/>
          </a:xfrm>
          <a:prstGeom prst="ellipse">
            <a:avLst/>
          </a:prstGeom>
          <a:solidFill>
            <a:srgbClr val="38699C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0E899783-F600-4FE4-853C-AF9EF7DD8B65}"/>
              </a:ext>
            </a:extLst>
          </p:cNvPr>
          <p:cNvSpPr>
            <a:spLocks noGrp="1"/>
          </p:cNvSpPr>
          <p:nvPr/>
        </p:nvSpPr>
        <p:spPr>
          <a:xfrm>
            <a:off x="1123950" y="3790950"/>
            <a:ext cx="9620250" cy="523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650">
                <a:solidFill>
                  <a:srgbClr val="17212B"/>
                </a:solidFill>
              </a:defRPr>
            </a:pPr>
            <a:r>
              <a:rPr sz="1650">
                <a:solidFill>
                  <a:srgbClr val="17212B"/>
                </a:solidFill>
              </a:rPr>
              <a:t>Object storage can hold event images and attachments.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5F3727AF-9798-46F0-AD46-B6EAC3F93416}"/>
              </a:ext>
            </a:extLst>
          </p:cNvPr>
          <p:cNvSpPr>
            <a:spLocks noGrp="1"/>
          </p:cNvSpPr>
          <p:nvPr/>
        </p:nvSpPr>
        <p:spPr>
          <a:xfrm>
            <a:off x="685800" y="4953000"/>
            <a:ext cx="10820400" cy="590550"/>
          </a:xfrm>
          <a:prstGeom prst="rect">
            <a:avLst/>
          </a:prstGeom>
          <a:solidFill>
            <a:srgbClr val="EAF2FA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D5732DAB-3653-4A98-B22E-CB639B4A983E}"/>
              </a:ext>
            </a:extLst>
          </p:cNvPr>
          <p:cNvSpPr>
            <a:spLocks noGrp="1"/>
          </p:cNvSpPr>
          <p:nvPr/>
        </p:nvSpPr>
        <p:spPr>
          <a:xfrm>
            <a:off x="952500" y="5114925"/>
            <a:ext cx="102870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650" b="1">
                <a:solidFill>
                  <a:srgbClr val="123B6D"/>
                </a:solidFill>
              </a:defRPr>
            </a:pPr>
            <a:r>
              <a:rPr sz="1650" b="1">
                <a:solidFill>
                  <a:srgbClr val="123B6D"/>
                </a:solidFill>
              </a:rPr>
              <a:t>Follow one user action from browser to data and back again.</a:t>
            </a:r>
          </a:p>
        </p:txBody>
      </p:sp>
    </p:spTree>
    <p:extLst>
      <p:ext uri="{BB962C8B-B14F-4D97-AF65-F5344CB8AC3E}">
        <p14:creationId xmlns:p14="http://schemas.microsoft.com/office/powerpoint/2010/main" val="635646824"/>
      </p:ext>
    </p:extLst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15">
            <a:extLst>
              <a:ext uri="{FF2B5EF4-FFF2-40B4-BE49-F238E27FC236}">
                <a16:creationId xmlns:a16="http://schemas.microsoft.com/office/drawing/2014/main" id="{2231B7DB-F16B-4BB3-966F-03D6E71743AE}"/>
              </a:ext>
            </a:extLst>
          </p:cNvPr>
          <p:cNvSpPr>
            <a:spLocks noGrp="1"/>
          </p:cNvSpPr>
          <p:nvPr/>
        </p:nvSpPr>
        <p:spPr>
          <a:xfrm>
            <a:off x="685800" y="400050"/>
            <a:ext cx="10001250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2700" b="1">
                <a:solidFill>
                  <a:srgbClr val="123B6D"/>
                </a:solidFill>
              </a:defRPr>
            </a:pPr>
            <a:r>
              <a:rPr sz="2700" b="1">
                <a:solidFill>
                  <a:srgbClr val="123B6D"/>
                </a:solidFill>
              </a:rPr>
              <a:t>Case study: scaling and reliability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3D75F021-DE2E-42F1-AD69-592B781FA8C3}"/>
              </a:ext>
            </a:extLst>
          </p:cNvPr>
          <p:cNvSpPr>
            <a:spLocks noGrp="1"/>
          </p:cNvSpPr>
          <p:nvPr/>
        </p:nvSpPr>
        <p:spPr>
          <a:xfrm>
            <a:off x="685800" y="1028700"/>
            <a:ext cx="10820400" cy="38100"/>
          </a:xfrm>
          <a:prstGeom prst="rect">
            <a:avLst/>
          </a:prstGeom>
          <a:solidFill>
            <a:srgbClr val="123B6D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8B939AD0-A26D-4554-8ADB-88F3467343C5}"/>
              </a:ext>
            </a:extLst>
          </p:cNvPr>
          <p:cNvSpPr>
            <a:spLocks noGrp="1"/>
          </p:cNvSpPr>
          <p:nvPr/>
        </p:nvSpPr>
        <p:spPr>
          <a:xfrm>
            <a:off x="685800" y="6419850"/>
            <a:ext cx="2143125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975">
                <a:solidFill>
                  <a:srgbClr val="52606D"/>
                </a:solidFill>
              </a:defRPr>
            </a:pPr>
            <a:r>
              <a:rPr sz="975">
                <a:solidFill>
                  <a:srgbClr val="52606D"/>
                </a:solidFill>
              </a:rPr>
              <a:t>Cloud Computing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B3A890CC-AAAC-402D-8648-26221AB6B9F1}"/>
              </a:ext>
            </a:extLst>
          </p:cNvPr>
          <p:cNvSpPr>
            <a:spLocks noGrp="1"/>
          </p:cNvSpPr>
          <p:nvPr/>
        </p:nvSpPr>
        <p:spPr>
          <a:xfrm>
            <a:off x="3381375" y="6419850"/>
            <a:ext cx="65722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975">
                <a:solidFill>
                  <a:srgbClr val="52606D"/>
                </a:solidFill>
              </a:defRPr>
            </a:pPr>
            <a:r>
              <a:rPr sz="975">
                <a:solidFill>
                  <a:srgbClr val="52606D"/>
                </a:solidFill>
              </a:rPr>
              <a:t>Presented by Gregor von Laszewski (laszewski@gmail.com)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9B609884-1E7C-4AD7-94A6-916352400437}"/>
              </a:ext>
            </a:extLst>
          </p:cNvPr>
          <p:cNvSpPr>
            <a:spLocks noGrp="1"/>
          </p:cNvSpPr>
          <p:nvPr/>
        </p:nvSpPr>
        <p:spPr>
          <a:xfrm>
            <a:off x="10858500" y="6419850"/>
            <a:ext cx="6477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975">
                <a:solidFill>
                  <a:srgbClr val="52606D"/>
                </a:solidFill>
              </a:defRPr>
            </a:pPr>
            <a:r>
              <a:rPr sz="975">
                <a:solidFill>
                  <a:srgbClr val="52606D"/>
                </a:solidFill>
              </a:rPr>
              <a:t>66</a:t>
            </a:r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AFDDE321-1E55-4B11-9868-66764F7EEFF7}"/>
              </a:ext>
            </a:extLst>
          </p:cNvPr>
          <p:cNvSpPr>
            <a:spLocks noGrp="1"/>
          </p:cNvSpPr>
          <p:nvPr/>
        </p:nvSpPr>
        <p:spPr>
          <a:xfrm>
            <a:off x="838200" y="1676400"/>
            <a:ext cx="95250" cy="95250"/>
          </a:xfrm>
          <a:prstGeom prst="ellipse">
            <a:avLst/>
          </a:prstGeom>
          <a:solidFill>
            <a:srgbClr val="38699C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E63AC0BD-A9CA-4D8B-87C7-DD66F1DE38FA}"/>
              </a:ext>
            </a:extLst>
          </p:cNvPr>
          <p:cNvSpPr>
            <a:spLocks noGrp="1"/>
          </p:cNvSpPr>
          <p:nvPr/>
        </p:nvSpPr>
        <p:spPr>
          <a:xfrm>
            <a:off x="1123950" y="1562100"/>
            <a:ext cx="9620250" cy="523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650">
                <a:solidFill>
                  <a:srgbClr val="17212B"/>
                </a:solidFill>
              </a:defRPr>
            </a:pPr>
            <a:r>
              <a:rPr sz="1650">
                <a:solidFill>
                  <a:srgbClr val="17212B"/>
                </a:solidFill>
              </a:rPr>
              <a:t>Keep web and worker compute stateless where possible.</a:t>
            </a:r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A3342454-3B52-4DA4-9A33-92B6AC00689C}"/>
              </a:ext>
            </a:extLst>
          </p:cNvPr>
          <p:cNvSpPr>
            <a:spLocks noGrp="1"/>
          </p:cNvSpPr>
          <p:nvPr/>
        </p:nvSpPr>
        <p:spPr>
          <a:xfrm>
            <a:off x="838200" y="2419350"/>
            <a:ext cx="95250" cy="95250"/>
          </a:xfrm>
          <a:prstGeom prst="ellipse">
            <a:avLst/>
          </a:prstGeom>
          <a:solidFill>
            <a:srgbClr val="38699C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B5EDE67B-69F5-475A-857A-856DD8D08CFC}"/>
              </a:ext>
            </a:extLst>
          </p:cNvPr>
          <p:cNvSpPr>
            <a:spLocks noGrp="1"/>
          </p:cNvSpPr>
          <p:nvPr/>
        </p:nvSpPr>
        <p:spPr>
          <a:xfrm>
            <a:off x="1123950" y="2305050"/>
            <a:ext cx="9620250" cy="523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650">
                <a:solidFill>
                  <a:srgbClr val="17212B"/>
                </a:solidFill>
              </a:defRPr>
            </a:pPr>
            <a:r>
              <a:rPr sz="1650">
                <a:solidFill>
                  <a:srgbClr val="17212B"/>
                </a:solidFill>
              </a:rPr>
              <a:t>Use a managed data service with backup and recovery objectives.</a:t>
            </a:r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BBDF2A9C-C020-498B-91F3-5019386A5623}"/>
              </a:ext>
            </a:extLst>
          </p:cNvPr>
          <p:cNvSpPr>
            <a:spLocks noGrp="1"/>
          </p:cNvSpPr>
          <p:nvPr/>
        </p:nvSpPr>
        <p:spPr>
          <a:xfrm>
            <a:off x="838200" y="3162300"/>
            <a:ext cx="95250" cy="95250"/>
          </a:xfrm>
          <a:prstGeom prst="ellipse">
            <a:avLst/>
          </a:prstGeom>
          <a:solidFill>
            <a:srgbClr val="38699C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C07159F2-1F6B-4008-B0E4-BBB05B032C34}"/>
              </a:ext>
            </a:extLst>
          </p:cNvPr>
          <p:cNvSpPr>
            <a:spLocks noGrp="1"/>
          </p:cNvSpPr>
          <p:nvPr/>
        </p:nvSpPr>
        <p:spPr>
          <a:xfrm>
            <a:off x="1123950" y="3048000"/>
            <a:ext cx="9620250" cy="523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650">
                <a:solidFill>
                  <a:srgbClr val="17212B"/>
                </a:solidFill>
              </a:defRPr>
            </a:pPr>
            <a:r>
              <a:rPr sz="1650">
                <a:solidFill>
                  <a:srgbClr val="17212B"/>
                </a:solidFill>
              </a:rPr>
              <a:t>Place components across failure boundaries when the requirement justifies it.</a:t>
            </a:r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FBD20EC6-D7A5-4885-BCAE-F1853A42C5B0}"/>
              </a:ext>
            </a:extLst>
          </p:cNvPr>
          <p:cNvSpPr>
            <a:spLocks noGrp="1"/>
          </p:cNvSpPr>
          <p:nvPr/>
        </p:nvSpPr>
        <p:spPr>
          <a:xfrm>
            <a:off x="838200" y="3905250"/>
            <a:ext cx="95250" cy="95250"/>
          </a:xfrm>
          <a:prstGeom prst="ellipse">
            <a:avLst/>
          </a:prstGeom>
          <a:solidFill>
            <a:srgbClr val="38699C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AB6A6B4E-9B16-48E6-8379-284DB3C5B659}"/>
              </a:ext>
            </a:extLst>
          </p:cNvPr>
          <p:cNvSpPr>
            <a:spLocks noGrp="1"/>
          </p:cNvSpPr>
          <p:nvPr/>
        </p:nvSpPr>
        <p:spPr>
          <a:xfrm>
            <a:off x="1123950" y="3790950"/>
            <a:ext cx="9620250" cy="523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650">
                <a:solidFill>
                  <a:srgbClr val="17212B"/>
                </a:solidFill>
              </a:defRPr>
            </a:pPr>
            <a:r>
              <a:rPr sz="1650">
                <a:solidFill>
                  <a:srgbClr val="17212B"/>
                </a:solidFill>
              </a:rPr>
              <a:t>Use a queue to protect downstream processing during spikes.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738D3F21-A18E-4F49-9EB6-4D9D05071F8F}"/>
              </a:ext>
            </a:extLst>
          </p:cNvPr>
          <p:cNvSpPr>
            <a:spLocks noGrp="1"/>
          </p:cNvSpPr>
          <p:nvPr/>
        </p:nvSpPr>
        <p:spPr>
          <a:xfrm>
            <a:off x="685800" y="4953000"/>
            <a:ext cx="10820400" cy="590550"/>
          </a:xfrm>
          <a:prstGeom prst="rect">
            <a:avLst/>
          </a:prstGeom>
          <a:solidFill>
            <a:srgbClr val="EAF2FA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D63A96EC-8349-43C4-AAA0-3827390C2B1D}"/>
              </a:ext>
            </a:extLst>
          </p:cNvPr>
          <p:cNvSpPr>
            <a:spLocks noGrp="1"/>
          </p:cNvSpPr>
          <p:nvPr/>
        </p:nvSpPr>
        <p:spPr>
          <a:xfrm>
            <a:off x="952500" y="5114925"/>
            <a:ext cx="102870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650" b="1">
                <a:solidFill>
                  <a:srgbClr val="123B6D"/>
                </a:solidFill>
              </a:defRPr>
            </a:pPr>
            <a:r>
              <a:rPr sz="1650" b="1">
                <a:solidFill>
                  <a:srgbClr val="123B6D"/>
                </a:solidFill>
              </a:rPr>
              <a:t>Scale the path that is under pressure; do not scale everything by habit.</a:t>
            </a:r>
          </a:p>
        </p:txBody>
      </p:sp>
    </p:spTree>
    <p:extLst>
      <p:ext uri="{BB962C8B-B14F-4D97-AF65-F5344CB8AC3E}">
        <p14:creationId xmlns:p14="http://schemas.microsoft.com/office/powerpoint/2010/main" val="1809466359"/>
      </p:ext>
    </p:extLst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15">
            <a:extLst>
              <a:ext uri="{FF2B5EF4-FFF2-40B4-BE49-F238E27FC236}">
                <a16:creationId xmlns:a16="http://schemas.microsoft.com/office/drawing/2014/main" id="{4B547811-1607-40F8-9E60-9ECB9E66600A}"/>
              </a:ext>
            </a:extLst>
          </p:cNvPr>
          <p:cNvSpPr>
            <a:spLocks noGrp="1"/>
          </p:cNvSpPr>
          <p:nvPr/>
        </p:nvSpPr>
        <p:spPr>
          <a:xfrm>
            <a:off x="685800" y="400050"/>
            <a:ext cx="10001250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2700" b="1">
                <a:solidFill>
                  <a:srgbClr val="123B6D"/>
                </a:solidFill>
              </a:defRPr>
            </a:pPr>
            <a:r>
              <a:rPr sz="2700" b="1">
                <a:solidFill>
                  <a:srgbClr val="123B6D"/>
                </a:solidFill>
              </a:rPr>
              <a:t>Case study: security and cost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A5EFA2BF-CFD5-424C-8F40-186DD6390B7D}"/>
              </a:ext>
            </a:extLst>
          </p:cNvPr>
          <p:cNvSpPr>
            <a:spLocks noGrp="1"/>
          </p:cNvSpPr>
          <p:nvPr/>
        </p:nvSpPr>
        <p:spPr>
          <a:xfrm>
            <a:off x="685800" y="1028700"/>
            <a:ext cx="10820400" cy="38100"/>
          </a:xfrm>
          <a:prstGeom prst="rect">
            <a:avLst/>
          </a:prstGeom>
          <a:solidFill>
            <a:srgbClr val="123B6D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EF8C710D-900D-4268-9BCA-C135D8DDF5CB}"/>
              </a:ext>
            </a:extLst>
          </p:cNvPr>
          <p:cNvSpPr>
            <a:spLocks noGrp="1"/>
          </p:cNvSpPr>
          <p:nvPr/>
        </p:nvSpPr>
        <p:spPr>
          <a:xfrm>
            <a:off x="685800" y="6419850"/>
            <a:ext cx="2143125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975">
                <a:solidFill>
                  <a:srgbClr val="52606D"/>
                </a:solidFill>
              </a:defRPr>
            </a:pPr>
            <a:r>
              <a:rPr sz="975">
                <a:solidFill>
                  <a:srgbClr val="52606D"/>
                </a:solidFill>
              </a:rPr>
              <a:t>Cloud Computing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4BEA782A-7374-46D7-9CDC-905149444501}"/>
              </a:ext>
            </a:extLst>
          </p:cNvPr>
          <p:cNvSpPr>
            <a:spLocks noGrp="1"/>
          </p:cNvSpPr>
          <p:nvPr/>
        </p:nvSpPr>
        <p:spPr>
          <a:xfrm>
            <a:off x="3381375" y="6419850"/>
            <a:ext cx="65722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975">
                <a:solidFill>
                  <a:srgbClr val="52606D"/>
                </a:solidFill>
              </a:defRPr>
            </a:pPr>
            <a:r>
              <a:rPr sz="975">
                <a:solidFill>
                  <a:srgbClr val="52606D"/>
                </a:solidFill>
              </a:rPr>
              <a:t>Presented by Gregor von Laszewski (laszewski@gmail.com)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5CB402B9-31C8-4530-9B46-828ED14C9601}"/>
              </a:ext>
            </a:extLst>
          </p:cNvPr>
          <p:cNvSpPr>
            <a:spLocks noGrp="1"/>
          </p:cNvSpPr>
          <p:nvPr/>
        </p:nvSpPr>
        <p:spPr>
          <a:xfrm>
            <a:off x="10858500" y="6419850"/>
            <a:ext cx="6477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975">
                <a:solidFill>
                  <a:srgbClr val="52606D"/>
                </a:solidFill>
              </a:defRPr>
            </a:pPr>
            <a:r>
              <a:rPr sz="975">
                <a:solidFill>
                  <a:srgbClr val="52606D"/>
                </a:solidFill>
              </a:rPr>
              <a:t>67</a:t>
            </a:r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181AE350-6F9F-47F7-81D0-BBCCD508DDF3}"/>
              </a:ext>
            </a:extLst>
          </p:cNvPr>
          <p:cNvSpPr>
            <a:spLocks noGrp="1"/>
          </p:cNvSpPr>
          <p:nvPr/>
        </p:nvSpPr>
        <p:spPr>
          <a:xfrm>
            <a:off x="838200" y="1676400"/>
            <a:ext cx="95250" cy="95250"/>
          </a:xfrm>
          <a:prstGeom prst="ellipse">
            <a:avLst/>
          </a:prstGeom>
          <a:solidFill>
            <a:srgbClr val="38699C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77C44469-9395-494F-A20A-B4F7A204FE9C}"/>
              </a:ext>
            </a:extLst>
          </p:cNvPr>
          <p:cNvSpPr>
            <a:spLocks noGrp="1"/>
          </p:cNvSpPr>
          <p:nvPr/>
        </p:nvSpPr>
        <p:spPr>
          <a:xfrm>
            <a:off x="1123950" y="1562100"/>
            <a:ext cx="9620250" cy="523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650">
                <a:solidFill>
                  <a:srgbClr val="17212B"/>
                </a:solidFill>
              </a:defRPr>
            </a:pPr>
            <a:r>
              <a:rPr sz="1650">
                <a:solidFill>
                  <a:srgbClr val="17212B"/>
                </a:solidFill>
              </a:rPr>
              <a:t>Use least-privilege roles for each service component.</a:t>
            </a:r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DAD0D28A-B264-4CC0-8645-020482872850}"/>
              </a:ext>
            </a:extLst>
          </p:cNvPr>
          <p:cNvSpPr>
            <a:spLocks noGrp="1"/>
          </p:cNvSpPr>
          <p:nvPr/>
        </p:nvSpPr>
        <p:spPr>
          <a:xfrm>
            <a:off x="838200" y="2419350"/>
            <a:ext cx="95250" cy="95250"/>
          </a:xfrm>
          <a:prstGeom prst="ellipse">
            <a:avLst/>
          </a:prstGeom>
          <a:solidFill>
            <a:srgbClr val="38699C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AFA6A38B-08F5-4542-8F93-CF179DA8437B}"/>
              </a:ext>
            </a:extLst>
          </p:cNvPr>
          <p:cNvSpPr>
            <a:spLocks noGrp="1"/>
          </p:cNvSpPr>
          <p:nvPr/>
        </p:nvSpPr>
        <p:spPr>
          <a:xfrm>
            <a:off x="1123950" y="2305050"/>
            <a:ext cx="9620250" cy="523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650">
                <a:solidFill>
                  <a:srgbClr val="17212B"/>
                </a:solidFill>
              </a:defRPr>
            </a:pPr>
            <a:r>
              <a:rPr sz="1650">
                <a:solidFill>
                  <a:srgbClr val="17212B"/>
                </a:solidFill>
              </a:rPr>
              <a:t>Encrypt data and protect credentials in a secrets manager.</a:t>
            </a:r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1D5B09EE-B531-446E-81A6-856487AE0D2E}"/>
              </a:ext>
            </a:extLst>
          </p:cNvPr>
          <p:cNvSpPr>
            <a:spLocks noGrp="1"/>
          </p:cNvSpPr>
          <p:nvPr/>
        </p:nvSpPr>
        <p:spPr>
          <a:xfrm>
            <a:off x="838200" y="3162300"/>
            <a:ext cx="95250" cy="95250"/>
          </a:xfrm>
          <a:prstGeom prst="ellipse">
            <a:avLst/>
          </a:prstGeom>
          <a:solidFill>
            <a:srgbClr val="38699C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5E65FD66-A5C5-40DA-ADA3-4311FD0ABFA8}"/>
              </a:ext>
            </a:extLst>
          </p:cNvPr>
          <p:cNvSpPr>
            <a:spLocks noGrp="1"/>
          </p:cNvSpPr>
          <p:nvPr/>
        </p:nvSpPr>
        <p:spPr>
          <a:xfrm>
            <a:off x="1123950" y="3048000"/>
            <a:ext cx="9620250" cy="523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650">
                <a:solidFill>
                  <a:srgbClr val="17212B"/>
                </a:solidFill>
              </a:defRPr>
            </a:pPr>
            <a:r>
              <a:rPr sz="1650">
                <a:solidFill>
                  <a:srgbClr val="17212B"/>
                </a:solidFill>
              </a:rPr>
              <a:t>Tag resources by environment and feature.</a:t>
            </a:r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327C7596-D9F8-4CDA-8C75-652314F2CF29}"/>
              </a:ext>
            </a:extLst>
          </p:cNvPr>
          <p:cNvSpPr>
            <a:spLocks noGrp="1"/>
          </p:cNvSpPr>
          <p:nvPr/>
        </p:nvSpPr>
        <p:spPr>
          <a:xfrm>
            <a:off x="838200" y="3905250"/>
            <a:ext cx="95250" cy="95250"/>
          </a:xfrm>
          <a:prstGeom prst="ellipse">
            <a:avLst/>
          </a:prstGeom>
          <a:solidFill>
            <a:srgbClr val="38699C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BB7E90E7-990B-4D4E-B8C1-CE07311FE63B}"/>
              </a:ext>
            </a:extLst>
          </p:cNvPr>
          <p:cNvSpPr>
            <a:spLocks noGrp="1"/>
          </p:cNvSpPr>
          <p:nvPr/>
        </p:nvSpPr>
        <p:spPr>
          <a:xfrm>
            <a:off x="1123950" y="3790950"/>
            <a:ext cx="9620250" cy="523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650">
                <a:solidFill>
                  <a:srgbClr val="17212B"/>
                </a:solidFill>
              </a:defRPr>
            </a:pPr>
            <a:r>
              <a:rPr sz="1650">
                <a:solidFill>
                  <a:srgbClr val="17212B"/>
                </a:solidFill>
              </a:rPr>
              <a:t>Set budgets and watch the most expensive usage dimensions.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8CA9694E-4EAA-4A00-92C8-04B77F0E3472}"/>
              </a:ext>
            </a:extLst>
          </p:cNvPr>
          <p:cNvSpPr>
            <a:spLocks noGrp="1"/>
          </p:cNvSpPr>
          <p:nvPr/>
        </p:nvSpPr>
        <p:spPr>
          <a:xfrm>
            <a:off x="685800" y="4953000"/>
            <a:ext cx="10820400" cy="590550"/>
          </a:xfrm>
          <a:prstGeom prst="rect">
            <a:avLst/>
          </a:prstGeom>
          <a:solidFill>
            <a:srgbClr val="EAF2FA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EC17BC86-F2E8-4530-B6BB-F4FCAE75F9BC}"/>
              </a:ext>
            </a:extLst>
          </p:cNvPr>
          <p:cNvSpPr>
            <a:spLocks noGrp="1"/>
          </p:cNvSpPr>
          <p:nvPr/>
        </p:nvSpPr>
        <p:spPr>
          <a:xfrm>
            <a:off x="952500" y="5114925"/>
            <a:ext cx="102870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650" b="1">
                <a:solidFill>
                  <a:srgbClr val="123B6D"/>
                </a:solidFill>
              </a:defRPr>
            </a:pPr>
            <a:r>
              <a:rPr sz="1650" b="1">
                <a:solidFill>
                  <a:srgbClr val="123B6D"/>
                </a:solidFill>
              </a:rPr>
              <a:t>Security and cost are design inputs, not end-of-project reviews.</a:t>
            </a:r>
          </a:p>
        </p:txBody>
      </p:sp>
    </p:spTree>
    <p:extLst>
      <p:ext uri="{BB962C8B-B14F-4D97-AF65-F5344CB8AC3E}">
        <p14:creationId xmlns:p14="http://schemas.microsoft.com/office/powerpoint/2010/main" val="1389319481"/>
      </p:ext>
    </p:extLst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15">
            <a:extLst>
              <a:ext uri="{FF2B5EF4-FFF2-40B4-BE49-F238E27FC236}">
                <a16:creationId xmlns:a16="http://schemas.microsoft.com/office/drawing/2014/main" id="{F413F62D-F576-49D6-B3EC-F0BCEB21A207}"/>
              </a:ext>
            </a:extLst>
          </p:cNvPr>
          <p:cNvSpPr>
            <a:spLocks noGrp="1"/>
          </p:cNvSpPr>
          <p:nvPr/>
        </p:nvSpPr>
        <p:spPr>
          <a:xfrm>
            <a:off x="685800" y="400050"/>
            <a:ext cx="10001250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2700" b="1">
                <a:solidFill>
                  <a:srgbClr val="123B6D"/>
                </a:solidFill>
              </a:defRPr>
            </a:pPr>
            <a:r>
              <a:rPr sz="2700" b="1">
                <a:solidFill>
                  <a:srgbClr val="123B6D"/>
                </a:solidFill>
              </a:rPr>
              <a:t>Design challenge instructions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E92B6ED0-630D-4E91-9267-4C441A44CED9}"/>
              </a:ext>
            </a:extLst>
          </p:cNvPr>
          <p:cNvSpPr>
            <a:spLocks noGrp="1"/>
          </p:cNvSpPr>
          <p:nvPr/>
        </p:nvSpPr>
        <p:spPr>
          <a:xfrm>
            <a:off x="685800" y="1028700"/>
            <a:ext cx="10820400" cy="38100"/>
          </a:xfrm>
          <a:prstGeom prst="rect">
            <a:avLst/>
          </a:prstGeom>
          <a:solidFill>
            <a:srgbClr val="123B6D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5799EDC3-746C-4EDF-9C3B-350C83719FF5}"/>
              </a:ext>
            </a:extLst>
          </p:cNvPr>
          <p:cNvSpPr>
            <a:spLocks noGrp="1"/>
          </p:cNvSpPr>
          <p:nvPr/>
        </p:nvSpPr>
        <p:spPr>
          <a:xfrm>
            <a:off x="685800" y="6419850"/>
            <a:ext cx="2143125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975">
                <a:solidFill>
                  <a:srgbClr val="52606D"/>
                </a:solidFill>
              </a:defRPr>
            </a:pPr>
            <a:r>
              <a:rPr sz="975">
                <a:solidFill>
                  <a:srgbClr val="52606D"/>
                </a:solidFill>
              </a:rPr>
              <a:t>Cloud Computing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DF16E2D8-3B13-4CFE-9766-ACB6E559DB37}"/>
              </a:ext>
            </a:extLst>
          </p:cNvPr>
          <p:cNvSpPr>
            <a:spLocks noGrp="1"/>
          </p:cNvSpPr>
          <p:nvPr/>
        </p:nvSpPr>
        <p:spPr>
          <a:xfrm>
            <a:off x="3381375" y="6419850"/>
            <a:ext cx="65722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975">
                <a:solidFill>
                  <a:srgbClr val="52606D"/>
                </a:solidFill>
              </a:defRPr>
            </a:pPr>
            <a:r>
              <a:rPr sz="975">
                <a:solidFill>
                  <a:srgbClr val="52606D"/>
                </a:solidFill>
              </a:rPr>
              <a:t>Presented by Gregor von Laszewski (laszewski@gmail.com)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B78952E4-F589-4EA7-AF93-26D24ACC1D4C}"/>
              </a:ext>
            </a:extLst>
          </p:cNvPr>
          <p:cNvSpPr>
            <a:spLocks noGrp="1"/>
          </p:cNvSpPr>
          <p:nvPr/>
        </p:nvSpPr>
        <p:spPr>
          <a:xfrm>
            <a:off x="10858500" y="6419850"/>
            <a:ext cx="6477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975">
                <a:solidFill>
                  <a:srgbClr val="52606D"/>
                </a:solidFill>
              </a:defRPr>
            </a:pPr>
            <a:r>
              <a:rPr sz="975">
                <a:solidFill>
                  <a:srgbClr val="52606D"/>
                </a:solidFill>
              </a:rPr>
              <a:t>68</a:t>
            </a:r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25B1E0E9-BA5B-4727-B158-05F2E8C8B532}"/>
              </a:ext>
            </a:extLst>
          </p:cNvPr>
          <p:cNvSpPr>
            <a:spLocks noGrp="1"/>
          </p:cNvSpPr>
          <p:nvPr/>
        </p:nvSpPr>
        <p:spPr>
          <a:xfrm>
            <a:off x="838200" y="1676400"/>
            <a:ext cx="95250" cy="95250"/>
          </a:xfrm>
          <a:prstGeom prst="ellipse">
            <a:avLst/>
          </a:prstGeom>
          <a:solidFill>
            <a:srgbClr val="38699C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69F99654-15C8-43D1-A6AE-A61193A062C2}"/>
              </a:ext>
            </a:extLst>
          </p:cNvPr>
          <p:cNvSpPr>
            <a:spLocks noGrp="1"/>
          </p:cNvSpPr>
          <p:nvPr/>
        </p:nvSpPr>
        <p:spPr>
          <a:xfrm>
            <a:off x="1123950" y="1562100"/>
            <a:ext cx="9620250" cy="523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650">
                <a:solidFill>
                  <a:srgbClr val="17212B"/>
                </a:solidFill>
              </a:defRPr>
            </a:pPr>
            <a:r>
              <a:rPr sz="1650">
                <a:solidFill>
                  <a:srgbClr val="17212B"/>
                </a:solidFill>
              </a:rPr>
              <a:t>Work in groups of three or four.</a:t>
            </a:r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37DFBE84-196F-4F1E-BA35-E040340AB086}"/>
              </a:ext>
            </a:extLst>
          </p:cNvPr>
          <p:cNvSpPr>
            <a:spLocks noGrp="1"/>
          </p:cNvSpPr>
          <p:nvPr/>
        </p:nvSpPr>
        <p:spPr>
          <a:xfrm>
            <a:off x="838200" y="2419350"/>
            <a:ext cx="95250" cy="95250"/>
          </a:xfrm>
          <a:prstGeom prst="ellipse">
            <a:avLst/>
          </a:prstGeom>
          <a:solidFill>
            <a:srgbClr val="38699C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11226146-6FBC-40C0-9780-D92CFC0F7DDC}"/>
              </a:ext>
            </a:extLst>
          </p:cNvPr>
          <p:cNvSpPr>
            <a:spLocks noGrp="1"/>
          </p:cNvSpPr>
          <p:nvPr/>
        </p:nvSpPr>
        <p:spPr>
          <a:xfrm>
            <a:off x="1123950" y="2305050"/>
            <a:ext cx="9620250" cy="523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650">
                <a:solidFill>
                  <a:srgbClr val="17212B"/>
                </a:solidFill>
              </a:defRPr>
            </a:pPr>
            <a:r>
              <a:rPr sz="1650">
                <a:solidFill>
                  <a:srgbClr val="17212B"/>
                </a:solidFill>
              </a:rPr>
              <a:t>Sketch the event platform using a service model and four building blocks.</a:t>
            </a:r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1F5EC435-F107-4EAF-BC31-381A4A7E0B3C}"/>
              </a:ext>
            </a:extLst>
          </p:cNvPr>
          <p:cNvSpPr>
            <a:spLocks noGrp="1"/>
          </p:cNvSpPr>
          <p:nvPr/>
        </p:nvSpPr>
        <p:spPr>
          <a:xfrm>
            <a:off x="838200" y="3162300"/>
            <a:ext cx="95250" cy="95250"/>
          </a:xfrm>
          <a:prstGeom prst="ellipse">
            <a:avLst/>
          </a:prstGeom>
          <a:solidFill>
            <a:srgbClr val="38699C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B72095D7-94B1-45C5-9E5C-A7A921B31342}"/>
              </a:ext>
            </a:extLst>
          </p:cNvPr>
          <p:cNvSpPr>
            <a:spLocks noGrp="1"/>
          </p:cNvSpPr>
          <p:nvPr/>
        </p:nvSpPr>
        <p:spPr>
          <a:xfrm>
            <a:off x="1123950" y="3048000"/>
            <a:ext cx="9620250" cy="523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650">
                <a:solidFill>
                  <a:srgbClr val="17212B"/>
                </a:solidFill>
              </a:defRPr>
            </a:pPr>
            <a:r>
              <a:rPr sz="1650">
                <a:solidFill>
                  <a:srgbClr val="17212B"/>
                </a:solidFill>
              </a:rPr>
              <a:t>Name one resilience decision, one security decision, and one cost control.</a:t>
            </a:r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73EEC38E-A80F-440B-973D-9708983203E4}"/>
              </a:ext>
            </a:extLst>
          </p:cNvPr>
          <p:cNvSpPr>
            <a:spLocks noGrp="1"/>
          </p:cNvSpPr>
          <p:nvPr/>
        </p:nvSpPr>
        <p:spPr>
          <a:xfrm>
            <a:off x="838200" y="3905250"/>
            <a:ext cx="95250" cy="95250"/>
          </a:xfrm>
          <a:prstGeom prst="ellipse">
            <a:avLst/>
          </a:prstGeom>
          <a:solidFill>
            <a:srgbClr val="38699C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DB5085B8-C5DD-4FC7-8117-A6E71BBD9DAF}"/>
              </a:ext>
            </a:extLst>
          </p:cNvPr>
          <p:cNvSpPr>
            <a:spLocks noGrp="1"/>
          </p:cNvSpPr>
          <p:nvPr/>
        </p:nvSpPr>
        <p:spPr>
          <a:xfrm>
            <a:off x="1123950" y="3790950"/>
            <a:ext cx="9620250" cy="523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650">
                <a:solidFill>
                  <a:srgbClr val="17212B"/>
                </a:solidFill>
              </a:defRPr>
            </a:pPr>
            <a:r>
              <a:rPr sz="1650">
                <a:solidFill>
                  <a:srgbClr val="17212B"/>
                </a:solidFill>
              </a:rPr>
              <a:t>Prepare to explain one trade-off in 60 seconds.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3F357F89-9EB5-4E7D-B7EB-DBD986D10B4D}"/>
              </a:ext>
            </a:extLst>
          </p:cNvPr>
          <p:cNvSpPr>
            <a:spLocks noGrp="1"/>
          </p:cNvSpPr>
          <p:nvPr/>
        </p:nvSpPr>
        <p:spPr>
          <a:xfrm>
            <a:off x="685800" y="4953000"/>
            <a:ext cx="10820400" cy="590550"/>
          </a:xfrm>
          <a:prstGeom prst="rect">
            <a:avLst/>
          </a:prstGeom>
          <a:solidFill>
            <a:srgbClr val="EAF2FA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7828AA94-9F4A-456B-831D-814429FB8CEA}"/>
              </a:ext>
            </a:extLst>
          </p:cNvPr>
          <p:cNvSpPr>
            <a:spLocks noGrp="1"/>
          </p:cNvSpPr>
          <p:nvPr/>
        </p:nvSpPr>
        <p:spPr>
          <a:xfrm>
            <a:off x="952500" y="5114925"/>
            <a:ext cx="102870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650" b="1">
                <a:solidFill>
                  <a:srgbClr val="123B6D"/>
                </a:solidFill>
              </a:defRPr>
            </a:pPr>
            <a:r>
              <a:rPr sz="1650" b="1">
                <a:solidFill>
                  <a:srgbClr val="123B6D"/>
                </a:solidFill>
              </a:rPr>
              <a:t>A good design is clear about what it chooses not to optimize.</a:t>
            </a:r>
          </a:p>
        </p:txBody>
      </p:sp>
    </p:spTree>
    <p:extLst>
      <p:ext uri="{BB962C8B-B14F-4D97-AF65-F5344CB8AC3E}">
        <p14:creationId xmlns:p14="http://schemas.microsoft.com/office/powerpoint/2010/main" val="1388313814"/>
      </p:ext>
    </p:extLst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13">
            <a:extLst>
              <a:ext uri="{FF2B5EF4-FFF2-40B4-BE49-F238E27FC236}">
                <a16:creationId xmlns:a16="http://schemas.microsoft.com/office/drawing/2014/main" id="{F0260AA3-8193-4A32-8A75-FF2E70404949}"/>
              </a:ext>
            </a:extLst>
          </p:cNvPr>
          <p:cNvSpPr>
            <a:spLocks noGrp="1"/>
          </p:cNvSpPr>
          <p:nvPr/>
        </p:nvSpPr>
        <p:spPr>
          <a:xfrm>
            <a:off x="685800" y="400050"/>
            <a:ext cx="10001250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2700" b="1">
                <a:solidFill>
                  <a:srgbClr val="123B6D"/>
                </a:solidFill>
              </a:defRPr>
            </a:pPr>
            <a:r>
              <a:rPr sz="2700" b="1">
                <a:solidFill>
                  <a:srgbClr val="123B6D"/>
                </a:solidFill>
              </a:rPr>
              <a:t>Design challenge prompt 1: service model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9512C479-7630-4261-80D1-BFB2F04DA381}"/>
              </a:ext>
            </a:extLst>
          </p:cNvPr>
          <p:cNvSpPr>
            <a:spLocks noGrp="1"/>
          </p:cNvSpPr>
          <p:nvPr/>
        </p:nvSpPr>
        <p:spPr>
          <a:xfrm>
            <a:off x="685800" y="1028700"/>
            <a:ext cx="10820400" cy="38100"/>
          </a:xfrm>
          <a:prstGeom prst="rect">
            <a:avLst/>
          </a:prstGeom>
          <a:solidFill>
            <a:srgbClr val="123B6D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1E37C69A-10E6-44B4-9A33-6108B38A949B}"/>
              </a:ext>
            </a:extLst>
          </p:cNvPr>
          <p:cNvSpPr>
            <a:spLocks noGrp="1"/>
          </p:cNvSpPr>
          <p:nvPr/>
        </p:nvSpPr>
        <p:spPr>
          <a:xfrm>
            <a:off x="685800" y="6419850"/>
            <a:ext cx="2143125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975">
                <a:solidFill>
                  <a:srgbClr val="52606D"/>
                </a:solidFill>
              </a:defRPr>
            </a:pPr>
            <a:r>
              <a:rPr sz="975">
                <a:solidFill>
                  <a:srgbClr val="52606D"/>
                </a:solidFill>
              </a:rPr>
              <a:t>Cloud Computing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91243908-78E9-4270-8F90-A6DC79626557}"/>
              </a:ext>
            </a:extLst>
          </p:cNvPr>
          <p:cNvSpPr>
            <a:spLocks noGrp="1"/>
          </p:cNvSpPr>
          <p:nvPr/>
        </p:nvSpPr>
        <p:spPr>
          <a:xfrm>
            <a:off x="3381375" y="6419850"/>
            <a:ext cx="65722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975">
                <a:solidFill>
                  <a:srgbClr val="52606D"/>
                </a:solidFill>
              </a:defRPr>
            </a:pPr>
            <a:r>
              <a:rPr sz="975">
                <a:solidFill>
                  <a:srgbClr val="52606D"/>
                </a:solidFill>
              </a:rPr>
              <a:t>Presented by Gregor von Laszewski (laszewski@gmail.com)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9B346980-8C26-4E31-89F7-2D16AB1910BD}"/>
              </a:ext>
            </a:extLst>
          </p:cNvPr>
          <p:cNvSpPr>
            <a:spLocks noGrp="1"/>
          </p:cNvSpPr>
          <p:nvPr/>
        </p:nvSpPr>
        <p:spPr>
          <a:xfrm>
            <a:off x="10858500" y="6419850"/>
            <a:ext cx="6477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975">
                <a:solidFill>
                  <a:srgbClr val="52606D"/>
                </a:solidFill>
              </a:defRPr>
            </a:pPr>
            <a:r>
              <a:rPr sz="975">
                <a:solidFill>
                  <a:srgbClr val="52606D"/>
                </a:solidFill>
              </a:rPr>
              <a:t>69</a:t>
            </a:r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7EB6D7F8-F5AA-455D-AD16-1E90820B01FC}"/>
              </a:ext>
            </a:extLst>
          </p:cNvPr>
          <p:cNvSpPr>
            <a:spLocks noGrp="1"/>
          </p:cNvSpPr>
          <p:nvPr/>
        </p:nvSpPr>
        <p:spPr>
          <a:xfrm>
            <a:off x="838200" y="1676400"/>
            <a:ext cx="95250" cy="95250"/>
          </a:xfrm>
          <a:prstGeom prst="ellipse">
            <a:avLst/>
          </a:prstGeom>
          <a:solidFill>
            <a:srgbClr val="38699C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32ED8B3C-070F-427A-8BB4-B85DE624AE4B}"/>
              </a:ext>
            </a:extLst>
          </p:cNvPr>
          <p:cNvSpPr>
            <a:spLocks noGrp="1"/>
          </p:cNvSpPr>
          <p:nvPr/>
        </p:nvSpPr>
        <p:spPr>
          <a:xfrm>
            <a:off x="1123950" y="1562100"/>
            <a:ext cx="9620250" cy="523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650">
                <a:solidFill>
                  <a:srgbClr val="17212B"/>
                </a:solidFill>
              </a:defRPr>
            </a:pPr>
            <a:r>
              <a:rPr sz="1650">
                <a:solidFill>
                  <a:srgbClr val="17212B"/>
                </a:solidFill>
              </a:rPr>
              <a:t>Which parts could use SaaS, PaaS, IaaS, or functions?</a:t>
            </a:r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D11788B2-CCEC-4965-849C-E568EBDE6706}"/>
              </a:ext>
            </a:extLst>
          </p:cNvPr>
          <p:cNvSpPr>
            <a:spLocks noGrp="1"/>
          </p:cNvSpPr>
          <p:nvPr/>
        </p:nvSpPr>
        <p:spPr>
          <a:xfrm>
            <a:off x="838200" y="2419350"/>
            <a:ext cx="95250" cy="95250"/>
          </a:xfrm>
          <a:prstGeom prst="ellipse">
            <a:avLst/>
          </a:prstGeom>
          <a:solidFill>
            <a:srgbClr val="38699C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0243826A-25BE-414B-87B8-25B9673647D5}"/>
              </a:ext>
            </a:extLst>
          </p:cNvPr>
          <p:cNvSpPr>
            <a:spLocks noGrp="1"/>
          </p:cNvSpPr>
          <p:nvPr/>
        </p:nvSpPr>
        <p:spPr>
          <a:xfrm>
            <a:off x="1123950" y="2305050"/>
            <a:ext cx="9620250" cy="523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650">
                <a:solidFill>
                  <a:srgbClr val="17212B"/>
                </a:solidFill>
              </a:defRPr>
            </a:pPr>
            <a:r>
              <a:rPr sz="1650">
                <a:solidFill>
                  <a:srgbClr val="17212B"/>
                </a:solidFill>
              </a:rPr>
              <a:t>Where does the team need special control?</a:t>
            </a:r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05D254B5-0DC7-4D18-B614-BA0F50769E31}"/>
              </a:ext>
            </a:extLst>
          </p:cNvPr>
          <p:cNvSpPr>
            <a:spLocks noGrp="1"/>
          </p:cNvSpPr>
          <p:nvPr/>
        </p:nvSpPr>
        <p:spPr>
          <a:xfrm>
            <a:off x="838200" y="3162300"/>
            <a:ext cx="95250" cy="95250"/>
          </a:xfrm>
          <a:prstGeom prst="ellipse">
            <a:avLst/>
          </a:prstGeom>
          <a:solidFill>
            <a:srgbClr val="38699C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2DCAC9D3-8BFA-48AB-A78E-21753B72A2E1}"/>
              </a:ext>
            </a:extLst>
          </p:cNvPr>
          <p:cNvSpPr>
            <a:spLocks noGrp="1"/>
          </p:cNvSpPr>
          <p:nvPr/>
        </p:nvSpPr>
        <p:spPr>
          <a:xfrm>
            <a:off x="1123950" y="3048000"/>
            <a:ext cx="9620250" cy="523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650">
                <a:solidFill>
                  <a:srgbClr val="17212B"/>
                </a:solidFill>
              </a:defRPr>
            </a:pPr>
            <a:r>
              <a:rPr sz="1650">
                <a:solidFill>
                  <a:srgbClr val="17212B"/>
                </a:solidFill>
              </a:rPr>
              <a:t>Where would a managed service reduce distracting operating work?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A210BCD9-2286-4F72-9A4A-C2EC3F4EAE28}"/>
              </a:ext>
            </a:extLst>
          </p:cNvPr>
          <p:cNvSpPr>
            <a:spLocks noGrp="1"/>
          </p:cNvSpPr>
          <p:nvPr/>
        </p:nvSpPr>
        <p:spPr>
          <a:xfrm>
            <a:off x="685800" y="4953000"/>
            <a:ext cx="10820400" cy="590550"/>
          </a:xfrm>
          <a:prstGeom prst="rect">
            <a:avLst/>
          </a:prstGeom>
          <a:solidFill>
            <a:srgbClr val="EAF2FA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267FA1B2-EE20-455A-92D3-F9297D436126}"/>
              </a:ext>
            </a:extLst>
          </p:cNvPr>
          <p:cNvSpPr>
            <a:spLocks noGrp="1"/>
          </p:cNvSpPr>
          <p:nvPr/>
        </p:nvSpPr>
        <p:spPr>
          <a:xfrm>
            <a:off x="952500" y="5114925"/>
            <a:ext cx="102870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650" b="1">
                <a:solidFill>
                  <a:srgbClr val="123B6D"/>
                </a:solidFill>
              </a:defRPr>
            </a:pPr>
            <a:r>
              <a:rPr sz="1650" b="1">
                <a:solidFill>
                  <a:srgbClr val="123B6D"/>
                </a:solidFill>
              </a:rPr>
              <a:t>Start with the smallest operational burden that still meets the need.</a:t>
            </a:r>
          </a:p>
        </p:txBody>
      </p:sp>
    </p:spTree>
    <p:extLst>
      <p:ext uri="{BB962C8B-B14F-4D97-AF65-F5344CB8AC3E}">
        <p14:creationId xmlns:p14="http://schemas.microsoft.com/office/powerpoint/2010/main" val="2004357869"/>
      </p:ext>
    </p:extLst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13">
            <a:extLst>
              <a:ext uri="{FF2B5EF4-FFF2-40B4-BE49-F238E27FC236}">
                <a16:creationId xmlns:a16="http://schemas.microsoft.com/office/drawing/2014/main" id="{EDB25F74-57A4-43A5-91FF-3974F08A5228}"/>
              </a:ext>
            </a:extLst>
          </p:cNvPr>
          <p:cNvSpPr>
            <a:spLocks noGrp="1"/>
          </p:cNvSpPr>
          <p:nvPr/>
        </p:nvSpPr>
        <p:spPr>
          <a:xfrm>
            <a:off x="685800" y="400050"/>
            <a:ext cx="10001250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2700" b="1">
                <a:solidFill>
                  <a:srgbClr val="123B6D"/>
                </a:solidFill>
              </a:defRPr>
            </a:pPr>
            <a:r>
              <a:rPr sz="2700" b="1">
                <a:solidFill>
                  <a:srgbClr val="123B6D"/>
                </a:solidFill>
              </a:rPr>
              <a:t>Design challenge prompt 2: failure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389EA674-3C3D-42E1-8BB7-A04AB7766144}"/>
              </a:ext>
            </a:extLst>
          </p:cNvPr>
          <p:cNvSpPr>
            <a:spLocks noGrp="1"/>
          </p:cNvSpPr>
          <p:nvPr/>
        </p:nvSpPr>
        <p:spPr>
          <a:xfrm>
            <a:off x="685800" y="1028700"/>
            <a:ext cx="10820400" cy="38100"/>
          </a:xfrm>
          <a:prstGeom prst="rect">
            <a:avLst/>
          </a:prstGeom>
          <a:solidFill>
            <a:srgbClr val="123B6D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B615E025-D245-4801-A992-F3AECD7F7B3F}"/>
              </a:ext>
            </a:extLst>
          </p:cNvPr>
          <p:cNvSpPr>
            <a:spLocks noGrp="1"/>
          </p:cNvSpPr>
          <p:nvPr/>
        </p:nvSpPr>
        <p:spPr>
          <a:xfrm>
            <a:off x="685800" y="6419850"/>
            <a:ext cx="2143125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975">
                <a:solidFill>
                  <a:srgbClr val="52606D"/>
                </a:solidFill>
              </a:defRPr>
            </a:pPr>
            <a:r>
              <a:rPr sz="975">
                <a:solidFill>
                  <a:srgbClr val="52606D"/>
                </a:solidFill>
              </a:rPr>
              <a:t>Cloud Computing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B3B8A294-EE63-4453-9343-0820D35C4E20}"/>
              </a:ext>
            </a:extLst>
          </p:cNvPr>
          <p:cNvSpPr>
            <a:spLocks noGrp="1"/>
          </p:cNvSpPr>
          <p:nvPr/>
        </p:nvSpPr>
        <p:spPr>
          <a:xfrm>
            <a:off x="3381375" y="6419850"/>
            <a:ext cx="65722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975">
                <a:solidFill>
                  <a:srgbClr val="52606D"/>
                </a:solidFill>
              </a:defRPr>
            </a:pPr>
            <a:r>
              <a:rPr sz="975">
                <a:solidFill>
                  <a:srgbClr val="52606D"/>
                </a:solidFill>
              </a:rPr>
              <a:t>Presented by Gregor von Laszewski (laszewski@gmail.com)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BAED0305-5EBA-44FB-B08C-407FF17FF886}"/>
              </a:ext>
            </a:extLst>
          </p:cNvPr>
          <p:cNvSpPr>
            <a:spLocks noGrp="1"/>
          </p:cNvSpPr>
          <p:nvPr/>
        </p:nvSpPr>
        <p:spPr>
          <a:xfrm>
            <a:off x="10858500" y="6419850"/>
            <a:ext cx="6477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975">
                <a:solidFill>
                  <a:srgbClr val="52606D"/>
                </a:solidFill>
              </a:defRPr>
            </a:pPr>
            <a:r>
              <a:rPr sz="975">
                <a:solidFill>
                  <a:srgbClr val="52606D"/>
                </a:solidFill>
              </a:rPr>
              <a:t>70</a:t>
            </a:r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D0D96E08-084D-4ACE-B775-17E6787C9706}"/>
              </a:ext>
            </a:extLst>
          </p:cNvPr>
          <p:cNvSpPr>
            <a:spLocks noGrp="1"/>
          </p:cNvSpPr>
          <p:nvPr/>
        </p:nvSpPr>
        <p:spPr>
          <a:xfrm>
            <a:off x="838200" y="1676400"/>
            <a:ext cx="95250" cy="95250"/>
          </a:xfrm>
          <a:prstGeom prst="ellipse">
            <a:avLst/>
          </a:prstGeom>
          <a:solidFill>
            <a:srgbClr val="38699C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C79C8FD9-5D4D-4CF6-AE50-2A2FCDC8A767}"/>
              </a:ext>
            </a:extLst>
          </p:cNvPr>
          <p:cNvSpPr>
            <a:spLocks noGrp="1"/>
          </p:cNvSpPr>
          <p:nvPr/>
        </p:nvSpPr>
        <p:spPr>
          <a:xfrm>
            <a:off x="1123950" y="1562100"/>
            <a:ext cx="9620250" cy="523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650">
                <a:solidFill>
                  <a:srgbClr val="17212B"/>
                </a:solidFill>
              </a:defRPr>
            </a:pPr>
            <a:r>
              <a:rPr sz="1650">
                <a:solidFill>
                  <a:srgbClr val="17212B"/>
                </a:solidFill>
              </a:rPr>
              <a:t>What happens if registrations surge tenfold?</a:t>
            </a:r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C76970C6-DF7E-449D-A31F-CD9BBEE1D073}"/>
              </a:ext>
            </a:extLst>
          </p:cNvPr>
          <p:cNvSpPr>
            <a:spLocks noGrp="1"/>
          </p:cNvSpPr>
          <p:nvPr/>
        </p:nvSpPr>
        <p:spPr>
          <a:xfrm>
            <a:off x="838200" y="2419350"/>
            <a:ext cx="95250" cy="95250"/>
          </a:xfrm>
          <a:prstGeom prst="ellipse">
            <a:avLst/>
          </a:prstGeom>
          <a:solidFill>
            <a:srgbClr val="38699C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983201CD-E369-4357-ACC0-4D3B4D847ED9}"/>
              </a:ext>
            </a:extLst>
          </p:cNvPr>
          <p:cNvSpPr>
            <a:spLocks noGrp="1"/>
          </p:cNvSpPr>
          <p:nvPr/>
        </p:nvSpPr>
        <p:spPr>
          <a:xfrm>
            <a:off x="1123950" y="2305050"/>
            <a:ext cx="9620250" cy="523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650">
                <a:solidFill>
                  <a:srgbClr val="17212B"/>
                </a:solidFill>
              </a:defRPr>
            </a:pPr>
            <a:r>
              <a:rPr sz="1650">
                <a:solidFill>
                  <a:srgbClr val="17212B"/>
                </a:solidFill>
              </a:rPr>
              <a:t>What happens if a background reminder fails?</a:t>
            </a:r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6230B517-FA55-42AF-A571-49D3D45D96E9}"/>
              </a:ext>
            </a:extLst>
          </p:cNvPr>
          <p:cNvSpPr>
            <a:spLocks noGrp="1"/>
          </p:cNvSpPr>
          <p:nvPr/>
        </p:nvSpPr>
        <p:spPr>
          <a:xfrm>
            <a:off x="838200" y="3162300"/>
            <a:ext cx="95250" cy="95250"/>
          </a:xfrm>
          <a:prstGeom prst="ellipse">
            <a:avLst/>
          </a:prstGeom>
          <a:solidFill>
            <a:srgbClr val="38699C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1BBB9918-CBC1-4318-92EA-066AC0057FAA}"/>
              </a:ext>
            </a:extLst>
          </p:cNvPr>
          <p:cNvSpPr>
            <a:spLocks noGrp="1"/>
          </p:cNvSpPr>
          <p:nvPr/>
        </p:nvSpPr>
        <p:spPr>
          <a:xfrm>
            <a:off x="1123950" y="3048000"/>
            <a:ext cx="9620250" cy="523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650">
                <a:solidFill>
                  <a:srgbClr val="17212B"/>
                </a:solidFill>
              </a:defRPr>
            </a:pPr>
            <a:r>
              <a:rPr sz="1650">
                <a:solidFill>
                  <a:srgbClr val="17212B"/>
                </a:solidFill>
              </a:rPr>
              <a:t>What happens if the data store is briefly unavailable?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0A58C0F5-1100-483A-88C1-C86FD5479C1D}"/>
              </a:ext>
            </a:extLst>
          </p:cNvPr>
          <p:cNvSpPr>
            <a:spLocks noGrp="1"/>
          </p:cNvSpPr>
          <p:nvPr/>
        </p:nvSpPr>
        <p:spPr>
          <a:xfrm>
            <a:off x="685800" y="4953000"/>
            <a:ext cx="10820400" cy="590550"/>
          </a:xfrm>
          <a:prstGeom prst="rect">
            <a:avLst/>
          </a:prstGeom>
          <a:solidFill>
            <a:srgbClr val="EAF2FA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C995E0FC-4796-4055-951F-F6FD1457D611}"/>
              </a:ext>
            </a:extLst>
          </p:cNvPr>
          <p:cNvSpPr>
            <a:spLocks noGrp="1"/>
          </p:cNvSpPr>
          <p:nvPr/>
        </p:nvSpPr>
        <p:spPr>
          <a:xfrm>
            <a:off x="952500" y="5114925"/>
            <a:ext cx="102870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650" b="1">
                <a:solidFill>
                  <a:srgbClr val="123B6D"/>
                </a:solidFill>
              </a:defRPr>
            </a:pPr>
            <a:r>
              <a:rPr sz="1650" b="1">
                <a:solidFill>
                  <a:srgbClr val="123B6D"/>
                </a:solidFill>
              </a:rPr>
              <a:t>Name one user action that must succeed and one that can wait.</a:t>
            </a:r>
          </a:p>
        </p:txBody>
      </p:sp>
    </p:spTree>
    <p:extLst>
      <p:ext uri="{BB962C8B-B14F-4D97-AF65-F5344CB8AC3E}">
        <p14:creationId xmlns:p14="http://schemas.microsoft.com/office/powerpoint/2010/main" val="1369023208"/>
      </p:ext>
    </p:extLst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13">
            <a:extLst>
              <a:ext uri="{FF2B5EF4-FFF2-40B4-BE49-F238E27FC236}">
                <a16:creationId xmlns:a16="http://schemas.microsoft.com/office/drawing/2014/main" id="{353F5047-5026-4379-9887-FB6494B71679}"/>
              </a:ext>
            </a:extLst>
          </p:cNvPr>
          <p:cNvSpPr>
            <a:spLocks noGrp="1"/>
          </p:cNvSpPr>
          <p:nvPr/>
        </p:nvSpPr>
        <p:spPr>
          <a:xfrm>
            <a:off x="685800" y="400050"/>
            <a:ext cx="10001250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2700" b="1">
                <a:solidFill>
                  <a:srgbClr val="123B6D"/>
                </a:solidFill>
              </a:defRPr>
            </a:pPr>
            <a:r>
              <a:rPr sz="2700" b="1">
                <a:solidFill>
                  <a:srgbClr val="123B6D"/>
                </a:solidFill>
              </a:rPr>
              <a:t>Design challenge prompt 3: governance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DCE9C09D-3DA5-4963-9297-5AACED312CBE}"/>
              </a:ext>
            </a:extLst>
          </p:cNvPr>
          <p:cNvSpPr>
            <a:spLocks noGrp="1"/>
          </p:cNvSpPr>
          <p:nvPr/>
        </p:nvSpPr>
        <p:spPr>
          <a:xfrm>
            <a:off x="685800" y="1028700"/>
            <a:ext cx="10820400" cy="38100"/>
          </a:xfrm>
          <a:prstGeom prst="rect">
            <a:avLst/>
          </a:prstGeom>
          <a:solidFill>
            <a:srgbClr val="123B6D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2D48F726-BEFE-439D-BF91-0AA47E9AC513}"/>
              </a:ext>
            </a:extLst>
          </p:cNvPr>
          <p:cNvSpPr>
            <a:spLocks noGrp="1"/>
          </p:cNvSpPr>
          <p:nvPr/>
        </p:nvSpPr>
        <p:spPr>
          <a:xfrm>
            <a:off x="685800" y="6419850"/>
            <a:ext cx="2143125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975">
                <a:solidFill>
                  <a:srgbClr val="52606D"/>
                </a:solidFill>
              </a:defRPr>
            </a:pPr>
            <a:r>
              <a:rPr sz="975">
                <a:solidFill>
                  <a:srgbClr val="52606D"/>
                </a:solidFill>
              </a:rPr>
              <a:t>Cloud Computing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7FDA3E00-E606-4FFD-8CD5-3B2F0070540B}"/>
              </a:ext>
            </a:extLst>
          </p:cNvPr>
          <p:cNvSpPr>
            <a:spLocks noGrp="1"/>
          </p:cNvSpPr>
          <p:nvPr/>
        </p:nvSpPr>
        <p:spPr>
          <a:xfrm>
            <a:off x="3381375" y="6419850"/>
            <a:ext cx="65722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975">
                <a:solidFill>
                  <a:srgbClr val="52606D"/>
                </a:solidFill>
              </a:defRPr>
            </a:pPr>
            <a:r>
              <a:rPr sz="975">
                <a:solidFill>
                  <a:srgbClr val="52606D"/>
                </a:solidFill>
              </a:rPr>
              <a:t>Presented by Gregor von Laszewski (laszewski@gmail.com)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6CDBE86D-5D08-49C3-BBCC-3991863739A4}"/>
              </a:ext>
            </a:extLst>
          </p:cNvPr>
          <p:cNvSpPr>
            <a:spLocks noGrp="1"/>
          </p:cNvSpPr>
          <p:nvPr/>
        </p:nvSpPr>
        <p:spPr>
          <a:xfrm>
            <a:off x="10858500" y="6419850"/>
            <a:ext cx="6477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975">
                <a:solidFill>
                  <a:srgbClr val="52606D"/>
                </a:solidFill>
              </a:defRPr>
            </a:pPr>
            <a:r>
              <a:rPr sz="975">
                <a:solidFill>
                  <a:srgbClr val="52606D"/>
                </a:solidFill>
              </a:rPr>
              <a:t>71</a:t>
            </a:r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3582F899-BF48-4C7D-BFB5-0E144CF5A98C}"/>
              </a:ext>
            </a:extLst>
          </p:cNvPr>
          <p:cNvSpPr>
            <a:spLocks noGrp="1"/>
          </p:cNvSpPr>
          <p:nvPr/>
        </p:nvSpPr>
        <p:spPr>
          <a:xfrm>
            <a:off x="838200" y="1676400"/>
            <a:ext cx="95250" cy="95250"/>
          </a:xfrm>
          <a:prstGeom prst="ellipse">
            <a:avLst/>
          </a:prstGeom>
          <a:solidFill>
            <a:srgbClr val="38699C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7EEA5370-A5D4-44E2-91C4-88D5210C9F96}"/>
              </a:ext>
            </a:extLst>
          </p:cNvPr>
          <p:cNvSpPr>
            <a:spLocks noGrp="1"/>
          </p:cNvSpPr>
          <p:nvPr/>
        </p:nvSpPr>
        <p:spPr>
          <a:xfrm>
            <a:off x="1123950" y="1562100"/>
            <a:ext cx="9620250" cy="523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650">
                <a:solidFill>
                  <a:srgbClr val="17212B"/>
                </a:solidFill>
              </a:defRPr>
            </a:pPr>
            <a:r>
              <a:rPr sz="1650">
                <a:solidFill>
                  <a:srgbClr val="17212B"/>
                </a:solidFill>
              </a:rPr>
              <a:t>Who can deploy to production?</a:t>
            </a:r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01AACDDB-14C2-43F8-9445-5CA81EAEDB64}"/>
              </a:ext>
            </a:extLst>
          </p:cNvPr>
          <p:cNvSpPr>
            <a:spLocks noGrp="1"/>
          </p:cNvSpPr>
          <p:nvPr/>
        </p:nvSpPr>
        <p:spPr>
          <a:xfrm>
            <a:off x="838200" y="2419350"/>
            <a:ext cx="95250" cy="95250"/>
          </a:xfrm>
          <a:prstGeom prst="ellipse">
            <a:avLst/>
          </a:prstGeom>
          <a:solidFill>
            <a:srgbClr val="38699C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DFAECFAD-A6A9-4700-863B-DA5E17EEE564}"/>
              </a:ext>
            </a:extLst>
          </p:cNvPr>
          <p:cNvSpPr>
            <a:spLocks noGrp="1"/>
          </p:cNvSpPr>
          <p:nvPr/>
        </p:nvSpPr>
        <p:spPr>
          <a:xfrm>
            <a:off x="1123950" y="2305050"/>
            <a:ext cx="9620250" cy="523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650">
                <a:solidFill>
                  <a:srgbClr val="17212B"/>
                </a:solidFill>
              </a:defRPr>
            </a:pPr>
            <a:r>
              <a:rPr sz="1650">
                <a:solidFill>
                  <a:srgbClr val="17212B"/>
                </a:solidFill>
              </a:rPr>
              <a:t>Which data should be restricted?</a:t>
            </a:r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076048BD-DCBA-4C3A-AB7F-824625197745}"/>
              </a:ext>
            </a:extLst>
          </p:cNvPr>
          <p:cNvSpPr>
            <a:spLocks noGrp="1"/>
          </p:cNvSpPr>
          <p:nvPr/>
        </p:nvSpPr>
        <p:spPr>
          <a:xfrm>
            <a:off x="838200" y="3162300"/>
            <a:ext cx="95250" cy="95250"/>
          </a:xfrm>
          <a:prstGeom prst="ellipse">
            <a:avLst/>
          </a:prstGeom>
          <a:solidFill>
            <a:srgbClr val="38699C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705628C7-71F0-42AA-9CBE-69B2DEAD96B8}"/>
              </a:ext>
            </a:extLst>
          </p:cNvPr>
          <p:cNvSpPr>
            <a:spLocks noGrp="1"/>
          </p:cNvSpPr>
          <p:nvPr/>
        </p:nvSpPr>
        <p:spPr>
          <a:xfrm>
            <a:off x="1123950" y="3048000"/>
            <a:ext cx="9620250" cy="523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650">
                <a:solidFill>
                  <a:srgbClr val="17212B"/>
                </a:solidFill>
              </a:defRPr>
            </a:pPr>
            <a:r>
              <a:rPr sz="1650">
                <a:solidFill>
                  <a:srgbClr val="17212B"/>
                </a:solidFill>
              </a:rPr>
              <a:t>How will costs be attributed to the event platform?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5AEC4983-A667-43A7-A381-B809228A43FF}"/>
              </a:ext>
            </a:extLst>
          </p:cNvPr>
          <p:cNvSpPr>
            <a:spLocks noGrp="1"/>
          </p:cNvSpPr>
          <p:nvPr/>
        </p:nvSpPr>
        <p:spPr>
          <a:xfrm>
            <a:off x="685800" y="4953000"/>
            <a:ext cx="10820400" cy="590550"/>
          </a:xfrm>
          <a:prstGeom prst="rect">
            <a:avLst/>
          </a:prstGeom>
          <a:solidFill>
            <a:srgbClr val="EAF2FA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FB185C29-71B8-46C0-9094-E37D0160C8FD}"/>
              </a:ext>
            </a:extLst>
          </p:cNvPr>
          <p:cNvSpPr>
            <a:spLocks noGrp="1"/>
          </p:cNvSpPr>
          <p:nvPr/>
        </p:nvSpPr>
        <p:spPr>
          <a:xfrm>
            <a:off x="952500" y="5114925"/>
            <a:ext cx="102870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650" b="1">
                <a:solidFill>
                  <a:srgbClr val="123B6D"/>
                </a:solidFill>
              </a:defRPr>
            </a:pPr>
            <a:r>
              <a:rPr sz="1650" b="1">
                <a:solidFill>
                  <a:srgbClr val="123B6D"/>
                </a:solidFill>
              </a:rPr>
              <a:t>Good answers connect people, policy, and technology.</a:t>
            </a:r>
          </a:p>
        </p:txBody>
      </p:sp>
    </p:spTree>
    <p:extLst>
      <p:ext uri="{BB962C8B-B14F-4D97-AF65-F5344CB8AC3E}">
        <p14:creationId xmlns:p14="http://schemas.microsoft.com/office/powerpoint/2010/main" val="2078337721"/>
      </p:ext>
    </p:extLst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13">
            <a:extLst>
              <a:ext uri="{FF2B5EF4-FFF2-40B4-BE49-F238E27FC236}">
                <a16:creationId xmlns:a16="http://schemas.microsoft.com/office/drawing/2014/main" id="{09B29C90-914C-42B4-9B9F-47B8B7F64C96}"/>
              </a:ext>
            </a:extLst>
          </p:cNvPr>
          <p:cNvSpPr>
            <a:spLocks noGrp="1"/>
          </p:cNvSpPr>
          <p:nvPr/>
        </p:nvSpPr>
        <p:spPr>
          <a:xfrm>
            <a:off x="685800" y="400050"/>
            <a:ext cx="10001250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2700" b="1">
                <a:solidFill>
                  <a:srgbClr val="123B6D"/>
                </a:solidFill>
              </a:defRPr>
            </a:pPr>
            <a:r>
              <a:rPr sz="2700" b="1">
                <a:solidFill>
                  <a:srgbClr val="123B6D"/>
                </a:solidFill>
              </a:rPr>
              <a:t>Debrief: compare trade-offs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70F3C09A-4911-40D7-8575-65A2640BCD11}"/>
              </a:ext>
            </a:extLst>
          </p:cNvPr>
          <p:cNvSpPr>
            <a:spLocks noGrp="1"/>
          </p:cNvSpPr>
          <p:nvPr/>
        </p:nvSpPr>
        <p:spPr>
          <a:xfrm>
            <a:off x="685800" y="1028700"/>
            <a:ext cx="10820400" cy="38100"/>
          </a:xfrm>
          <a:prstGeom prst="rect">
            <a:avLst/>
          </a:prstGeom>
          <a:solidFill>
            <a:srgbClr val="123B6D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08A036B9-7418-4171-B658-9517D1088842}"/>
              </a:ext>
            </a:extLst>
          </p:cNvPr>
          <p:cNvSpPr>
            <a:spLocks noGrp="1"/>
          </p:cNvSpPr>
          <p:nvPr/>
        </p:nvSpPr>
        <p:spPr>
          <a:xfrm>
            <a:off x="685800" y="6419850"/>
            <a:ext cx="2143125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975">
                <a:solidFill>
                  <a:srgbClr val="52606D"/>
                </a:solidFill>
              </a:defRPr>
            </a:pPr>
            <a:r>
              <a:rPr sz="975">
                <a:solidFill>
                  <a:srgbClr val="52606D"/>
                </a:solidFill>
              </a:rPr>
              <a:t>Cloud Computing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2AE66655-D404-43C9-8811-1BFA0F1BDEC7}"/>
              </a:ext>
            </a:extLst>
          </p:cNvPr>
          <p:cNvSpPr>
            <a:spLocks noGrp="1"/>
          </p:cNvSpPr>
          <p:nvPr/>
        </p:nvSpPr>
        <p:spPr>
          <a:xfrm>
            <a:off x="3381375" y="6419850"/>
            <a:ext cx="65722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975">
                <a:solidFill>
                  <a:srgbClr val="52606D"/>
                </a:solidFill>
              </a:defRPr>
            </a:pPr>
            <a:r>
              <a:rPr sz="975">
                <a:solidFill>
                  <a:srgbClr val="52606D"/>
                </a:solidFill>
              </a:rPr>
              <a:t>Presented by Gregor von Laszewski (laszewski@gmail.com)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0FCD4B8F-0DCB-484C-8BCF-7AD43EB3989B}"/>
              </a:ext>
            </a:extLst>
          </p:cNvPr>
          <p:cNvSpPr>
            <a:spLocks noGrp="1"/>
          </p:cNvSpPr>
          <p:nvPr/>
        </p:nvSpPr>
        <p:spPr>
          <a:xfrm>
            <a:off x="10858500" y="6419850"/>
            <a:ext cx="6477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975">
                <a:solidFill>
                  <a:srgbClr val="52606D"/>
                </a:solidFill>
              </a:defRPr>
            </a:pPr>
            <a:r>
              <a:rPr sz="975">
                <a:solidFill>
                  <a:srgbClr val="52606D"/>
                </a:solidFill>
              </a:rPr>
              <a:t>72</a:t>
            </a:r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F1DF7EA2-DD81-4FB5-9E66-900F9F80789F}"/>
              </a:ext>
            </a:extLst>
          </p:cNvPr>
          <p:cNvSpPr>
            <a:spLocks noGrp="1"/>
          </p:cNvSpPr>
          <p:nvPr/>
        </p:nvSpPr>
        <p:spPr>
          <a:xfrm>
            <a:off x="838200" y="1676400"/>
            <a:ext cx="95250" cy="95250"/>
          </a:xfrm>
          <a:prstGeom prst="ellipse">
            <a:avLst/>
          </a:prstGeom>
          <a:solidFill>
            <a:srgbClr val="38699C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FAD4495C-4ACA-47D4-820B-1C740CBA99C7}"/>
              </a:ext>
            </a:extLst>
          </p:cNvPr>
          <p:cNvSpPr>
            <a:spLocks noGrp="1"/>
          </p:cNvSpPr>
          <p:nvPr/>
        </p:nvSpPr>
        <p:spPr>
          <a:xfrm>
            <a:off x="1123950" y="1562100"/>
            <a:ext cx="9620250" cy="523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650">
                <a:solidFill>
                  <a:srgbClr val="17212B"/>
                </a:solidFill>
              </a:defRPr>
            </a:pPr>
            <a:r>
              <a:rPr sz="1650">
                <a:solidFill>
                  <a:srgbClr val="17212B"/>
                </a:solidFill>
              </a:rPr>
              <a:t>One team may favor a simple managed platform.</a:t>
            </a:r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1AE78BA1-E3F7-4CEC-AC33-115ADF99F3FA}"/>
              </a:ext>
            </a:extLst>
          </p:cNvPr>
          <p:cNvSpPr>
            <a:spLocks noGrp="1"/>
          </p:cNvSpPr>
          <p:nvPr/>
        </p:nvSpPr>
        <p:spPr>
          <a:xfrm>
            <a:off x="838200" y="2419350"/>
            <a:ext cx="95250" cy="95250"/>
          </a:xfrm>
          <a:prstGeom prst="ellipse">
            <a:avLst/>
          </a:prstGeom>
          <a:solidFill>
            <a:srgbClr val="38699C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0AFECA86-5237-4AC6-8C7D-1DEE34194D76}"/>
              </a:ext>
            </a:extLst>
          </p:cNvPr>
          <p:cNvSpPr>
            <a:spLocks noGrp="1"/>
          </p:cNvSpPr>
          <p:nvPr/>
        </p:nvSpPr>
        <p:spPr>
          <a:xfrm>
            <a:off x="1123950" y="2305050"/>
            <a:ext cx="9620250" cy="523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650">
                <a:solidFill>
                  <a:srgbClr val="17212B"/>
                </a:solidFill>
              </a:defRPr>
            </a:pPr>
            <a:r>
              <a:rPr sz="1650">
                <a:solidFill>
                  <a:srgbClr val="17212B"/>
                </a:solidFill>
              </a:rPr>
              <a:t>Another may choose more components for specialized requirements.</a:t>
            </a:r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7F93B0B7-05DD-49DD-9BD2-DC83D54E1BBC}"/>
              </a:ext>
            </a:extLst>
          </p:cNvPr>
          <p:cNvSpPr>
            <a:spLocks noGrp="1"/>
          </p:cNvSpPr>
          <p:nvPr/>
        </p:nvSpPr>
        <p:spPr>
          <a:xfrm>
            <a:off x="838200" y="3162300"/>
            <a:ext cx="95250" cy="95250"/>
          </a:xfrm>
          <a:prstGeom prst="ellipse">
            <a:avLst/>
          </a:prstGeom>
          <a:solidFill>
            <a:srgbClr val="38699C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40275F03-0BA2-4852-B838-75A976920C9C}"/>
              </a:ext>
            </a:extLst>
          </p:cNvPr>
          <p:cNvSpPr>
            <a:spLocks noGrp="1"/>
          </p:cNvSpPr>
          <p:nvPr/>
        </p:nvSpPr>
        <p:spPr>
          <a:xfrm>
            <a:off x="1123950" y="3048000"/>
            <a:ext cx="9620250" cy="523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650">
                <a:solidFill>
                  <a:srgbClr val="17212B"/>
                </a:solidFill>
              </a:defRPr>
            </a:pPr>
            <a:r>
              <a:rPr sz="1650">
                <a:solidFill>
                  <a:srgbClr val="17212B"/>
                </a:solidFill>
              </a:rPr>
              <a:t>Neither is automatically better; evaluate the reason, risk, and operating cost.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C7EFA9B3-FFA5-45FB-A986-D50EB7B57B88}"/>
              </a:ext>
            </a:extLst>
          </p:cNvPr>
          <p:cNvSpPr>
            <a:spLocks noGrp="1"/>
          </p:cNvSpPr>
          <p:nvPr/>
        </p:nvSpPr>
        <p:spPr>
          <a:xfrm>
            <a:off x="685800" y="4953000"/>
            <a:ext cx="10820400" cy="590550"/>
          </a:xfrm>
          <a:prstGeom prst="rect">
            <a:avLst/>
          </a:prstGeom>
          <a:solidFill>
            <a:srgbClr val="EAF2FA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0E2E0832-35DF-4639-A550-94D36E933314}"/>
              </a:ext>
            </a:extLst>
          </p:cNvPr>
          <p:cNvSpPr>
            <a:spLocks noGrp="1"/>
          </p:cNvSpPr>
          <p:nvPr/>
        </p:nvSpPr>
        <p:spPr>
          <a:xfrm>
            <a:off x="952500" y="5114925"/>
            <a:ext cx="102870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650" b="1">
                <a:solidFill>
                  <a:srgbClr val="123B6D"/>
                </a:solidFill>
              </a:defRPr>
            </a:pPr>
            <a:r>
              <a:rPr sz="1650" b="1">
                <a:solidFill>
                  <a:srgbClr val="123B6D"/>
                </a:solidFill>
              </a:rPr>
              <a:t>Architecture reviews should make assumptions visible and testable.</a:t>
            </a:r>
          </a:p>
        </p:txBody>
      </p:sp>
    </p:spTree>
    <p:extLst>
      <p:ext uri="{BB962C8B-B14F-4D97-AF65-F5344CB8AC3E}">
        <p14:creationId xmlns:p14="http://schemas.microsoft.com/office/powerpoint/2010/main" val="1599663081"/>
      </p:ext>
    </p:extLst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15">
            <a:extLst>
              <a:ext uri="{FF2B5EF4-FFF2-40B4-BE49-F238E27FC236}">
                <a16:creationId xmlns:a16="http://schemas.microsoft.com/office/drawing/2014/main" id="{148E7CAD-9211-4844-AEF1-9ED68587E622}"/>
              </a:ext>
            </a:extLst>
          </p:cNvPr>
          <p:cNvSpPr>
            <a:spLocks noGrp="1"/>
          </p:cNvSpPr>
          <p:nvPr/>
        </p:nvSpPr>
        <p:spPr>
          <a:xfrm>
            <a:off x="685800" y="400050"/>
            <a:ext cx="10001250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2700" b="1">
                <a:solidFill>
                  <a:srgbClr val="123B6D"/>
                </a:solidFill>
              </a:defRPr>
            </a:pPr>
            <a:r>
              <a:rPr sz="2700" b="1">
                <a:solidFill>
                  <a:srgbClr val="123B6D"/>
                </a:solidFill>
              </a:rPr>
              <a:t>Cloud design checklist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BF2B6972-445E-4014-AF04-55CDD62B04D0}"/>
              </a:ext>
            </a:extLst>
          </p:cNvPr>
          <p:cNvSpPr>
            <a:spLocks noGrp="1"/>
          </p:cNvSpPr>
          <p:nvPr/>
        </p:nvSpPr>
        <p:spPr>
          <a:xfrm>
            <a:off x="685800" y="1028700"/>
            <a:ext cx="10820400" cy="38100"/>
          </a:xfrm>
          <a:prstGeom prst="rect">
            <a:avLst/>
          </a:prstGeom>
          <a:solidFill>
            <a:srgbClr val="123B6D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355A24FE-0019-49C0-A989-FA9C3F645F66}"/>
              </a:ext>
            </a:extLst>
          </p:cNvPr>
          <p:cNvSpPr>
            <a:spLocks noGrp="1"/>
          </p:cNvSpPr>
          <p:nvPr/>
        </p:nvSpPr>
        <p:spPr>
          <a:xfrm>
            <a:off x="685800" y="6419850"/>
            <a:ext cx="2143125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975">
                <a:solidFill>
                  <a:srgbClr val="52606D"/>
                </a:solidFill>
              </a:defRPr>
            </a:pPr>
            <a:r>
              <a:rPr sz="975">
                <a:solidFill>
                  <a:srgbClr val="52606D"/>
                </a:solidFill>
              </a:rPr>
              <a:t>Cloud Computing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A9F80FB6-59E3-443E-86EB-FB6238305A72}"/>
              </a:ext>
            </a:extLst>
          </p:cNvPr>
          <p:cNvSpPr>
            <a:spLocks noGrp="1"/>
          </p:cNvSpPr>
          <p:nvPr/>
        </p:nvSpPr>
        <p:spPr>
          <a:xfrm>
            <a:off x="3381375" y="6419850"/>
            <a:ext cx="65722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975">
                <a:solidFill>
                  <a:srgbClr val="52606D"/>
                </a:solidFill>
              </a:defRPr>
            </a:pPr>
            <a:r>
              <a:rPr sz="975">
                <a:solidFill>
                  <a:srgbClr val="52606D"/>
                </a:solidFill>
              </a:rPr>
              <a:t>Presented by Gregor von Laszewski (laszewski@gmail.com)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49CFF692-124F-4BDC-A075-B4E58C6F0EB8}"/>
              </a:ext>
            </a:extLst>
          </p:cNvPr>
          <p:cNvSpPr>
            <a:spLocks noGrp="1"/>
          </p:cNvSpPr>
          <p:nvPr/>
        </p:nvSpPr>
        <p:spPr>
          <a:xfrm>
            <a:off x="10858500" y="6419850"/>
            <a:ext cx="6477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975">
                <a:solidFill>
                  <a:srgbClr val="52606D"/>
                </a:solidFill>
              </a:defRPr>
            </a:pPr>
            <a:r>
              <a:rPr sz="975">
                <a:solidFill>
                  <a:srgbClr val="52606D"/>
                </a:solidFill>
              </a:rPr>
              <a:t>73</a:t>
            </a:r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E190223F-4151-45B0-91B2-303B682B035F}"/>
              </a:ext>
            </a:extLst>
          </p:cNvPr>
          <p:cNvSpPr>
            <a:spLocks noGrp="1"/>
          </p:cNvSpPr>
          <p:nvPr/>
        </p:nvSpPr>
        <p:spPr>
          <a:xfrm>
            <a:off x="838200" y="1676400"/>
            <a:ext cx="95250" cy="95250"/>
          </a:xfrm>
          <a:prstGeom prst="ellipse">
            <a:avLst/>
          </a:prstGeom>
          <a:solidFill>
            <a:srgbClr val="38699C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0D5E8E5A-05A2-45F7-855E-5D7828A67518}"/>
              </a:ext>
            </a:extLst>
          </p:cNvPr>
          <p:cNvSpPr>
            <a:spLocks noGrp="1"/>
          </p:cNvSpPr>
          <p:nvPr/>
        </p:nvSpPr>
        <p:spPr>
          <a:xfrm>
            <a:off x="1123950" y="1562100"/>
            <a:ext cx="9620250" cy="523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650">
                <a:solidFill>
                  <a:srgbClr val="17212B"/>
                </a:solidFill>
              </a:defRPr>
            </a:pPr>
            <a:r>
              <a:rPr sz="1650">
                <a:solidFill>
                  <a:srgbClr val="17212B"/>
                </a:solidFill>
              </a:rPr>
              <a:t>Outcome: what user or business value must improve?</a:t>
            </a:r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0C6D024C-B824-4A31-8EFE-5848AC3FE051}"/>
              </a:ext>
            </a:extLst>
          </p:cNvPr>
          <p:cNvSpPr>
            <a:spLocks noGrp="1"/>
          </p:cNvSpPr>
          <p:nvPr/>
        </p:nvSpPr>
        <p:spPr>
          <a:xfrm>
            <a:off x="838200" y="2419350"/>
            <a:ext cx="95250" cy="95250"/>
          </a:xfrm>
          <a:prstGeom prst="ellipse">
            <a:avLst/>
          </a:prstGeom>
          <a:solidFill>
            <a:srgbClr val="38699C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BBC8D3D7-B6F4-4BE1-A5A3-05BBA82C6ADA}"/>
              </a:ext>
            </a:extLst>
          </p:cNvPr>
          <p:cNvSpPr>
            <a:spLocks noGrp="1"/>
          </p:cNvSpPr>
          <p:nvPr/>
        </p:nvSpPr>
        <p:spPr>
          <a:xfrm>
            <a:off x="1123950" y="2305050"/>
            <a:ext cx="9620250" cy="523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650">
                <a:solidFill>
                  <a:srgbClr val="17212B"/>
                </a:solidFill>
              </a:defRPr>
            </a:pPr>
            <a:r>
              <a:rPr sz="1650">
                <a:solidFill>
                  <a:srgbClr val="17212B"/>
                </a:solidFill>
              </a:rPr>
              <a:t>Model: what service and deployment choices fit the need?</a:t>
            </a:r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9BD7B991-3650-4139-9281-68613C508C16}"/>
              </a:ext>
            </a:extLst>
          </p:cNvPr>
          <p:cNvSpPr>
            <a:spLocks noGrp="1"/>
          </p:cNvSpPr>
          <p:nvPr/>
        </p:nvSpPr>
        <p:spPr>
          <a:xfrm>
            <a:off x="838200" y="3162300"/>
            <a:ext cx="95250" cy="95250"/>
          </a:xfrm>
          <a:prstGeom prst="ellipse">
            <a:avLst/>
          </a:prstGeom>
          <a:solidFill>
            <a:srgbClr val="38699C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8ECE18EA-FD31-4A86-B401-5D4705CA0D54}"/>
              </a:ext>
            </a:extLst>
          </p:cNvPr>
          <p:cNvSpPr>
            <a:spLocks noGrp="1"/>
          </p:cNvSpPr>
          <p:nvPr/>
        </p:nvSpPr>
        <p:spPr>
          <a:xfrm>
            <a:off x="1123950" y="3048000"/>
            <a:ext cx="9620250" cy="523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650">
                <a:solidFill>
                  <a:srgbClr val="17212B"/>
                </a:solidFill>
              </a:defRPr>
            </a:pPr>
            <a:r>
              <a:rPr sz="1650">
                <a:solidFill>
                  <a:srgbClr val="17212B"/>
                </a:solidFill>
              </a:rPr>
              <a:t>Reliability: how will the system fail safely and recover?</a:t>
            </a:r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CF151CB6-B44A-4128-B24A-424939896538}"/>
              </a:ext>
            </a:extLst>
          </p:cNvPr>
          <p:cNvSpPr>
            <a:spLocks noGrp="1"/>
          </p:cNvSpPr>
          <p:nvPr/>
        </p:nvSpPr>
        <p:spPr>
          <a:xfrm>
            <a:off x="838200" y="3905250"/>
            <a:ext cx="95250" cy="95250"/>
          </a:xfrm>
          <a:prstGeom prst="ellipse">
            <a:avLst/>
          </a:prstGeom>
          <a:solidFill>
            <a:srgbClr val="38699C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F7A86188-C936-4D51-9510-C7EB741E92AD}"/>
              </a:ext>
            </a:extLst>
          </p:cNvPr>
          <p:cNvSpPr>
            <a:spLocks noGrp="1"/>
          </p:cNvSpPr>
          <p:nvPr/>
        </p:nvSpPr>
        <p:spPr>
          <a:xfrm>
            <a:off x="1123950" y="3790950"/>
            <a:ext cx="9620250" cy="523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650">
                <a:solidFill>
                  <a:srgbClr val="17212B"/>
                </a:solidFill>
              </a:defRPr>
            </a:pPr>
            <a:r>
              <a:rPr sz="1650">
                <a:solidFill>
                  <a:srgbClr val="17212B"/>
                </a:solidFill>
              </a:rPr>
              <a:t>Security and cost: how will access and usage be controlled?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7A062F36-6918-44C0-9371-F2F750E9BD39}"/>
              </a:ext>
            </a:extLst>
          </p:cNvPr>
          <p:cNvSpPr>
            <a:spLocks noGrp="1"/>
          </p:cNvSpPr>
          <p:nvPr/>
        </p:nvSpPr>
        <p:spPr>
          <a:xfrm>
            <a:off x="685800" y="4953000"/>
            <a:ext cx="10820400" cy="590550"/>
          </a:xfrm>
          <a:prstGeom prst="rect">
            <a:avLst/>
          </a:prstGeom>
          <a:solidFill>
            <a:srgbClr val="EAF2FA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7D9D3796-AB75-4BD9-B3AC-DB8AA886A767}"/>
              </a:ext>
            </a:extLst>
          </p:cNvPr>
          <p:cNvSpPr>
            <a:spLocks noGrp="1"/>
          </p:cNvSpPr>
          <p:nvPr/>
        </p:nvSpPr>
        <p:spPr>
          <a:xfrm>
            <a:off x="952500" y="5114925"/>
            <a:ext cx="102870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650" b="1">
                <a:solidFill>
                  <a:srgbClr val="123B6D"/>
                </a:solidFill>
              </a:defRPr>
            </a:pPr>
            <a:r>
              <a:rPr sz="1650" b="1">
                <a:solidFill>
                  <a:srgbClr val="123B6D"/>
                </a:solidFill>
              </a:rPr>
              <a:t>Use this checklist before selecting a provider product.</a:t>
            </a:r>
          </a:p>
        </p:txBody>
      </p:sp>
    </p:spTree>
    <p:extLst>
      <p:ext uri="{BB962C8B-B14F-4D97-AF65-F5344CB8AC3E}">
        <p14:creationId xmlns:p14="http://schemas.microsoft.com/office/powerpoint/2010/main" val="1162057667"/>
      </p:ext>
    </p:extLst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15">
            <a:extLst>
              <a:ext uri="{FF2B5EF4-FFF2-40B4-BE49-F238E27FC236}">
                <a16:creationId xmlns:a16="http://schemas.microsoft.com/office/drawing/2014/main" id="{387FE877-4E54-4E55-AA90-3ADDAFA7BB2D}"/>
              </a:ext>
            </a:extLst>
          </p:cNvPr>
          <p:cNvSpPr>
            <a:spLocks noGrp="1"/>
          </p:cNvSpPr>
          <p:nvPr/>
        </p:nvSpPr>
        <p:spPr>
          <a:xfrm>
            <a:off x="685800" y="400050"/>
            <a:ext cx="10001250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2700" b="1">
                <a:solidFill>
                  <a:srgbClr val="123B6D"/>
                </a:solidFill>
              </a:defRPr>
            </a:pPr>
            <a:r>
              <a:rPr sz="2700" b="1">
                <a:solidFill>
                  <a:srgbClr val="123B6D"/>
                </a:solidFill>
              </a:rPr>
              <a:t>Common misconceptions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DC314E44-3C54-4922-A14E-11449D4283BB}"/>
              </a:ext>
            </a:extLst>
          </p:cNvPr>
          <p:cNvSpPr>
            <a:spLocks noGrp="1"/>
          </p:cNvSpPr>
          <p:nvPr/>
        </p:nvSpPr>
        <p:spPr>
          <a:xfrm>
            <a:off x="685800" y="1028700"/>
            <a:ext cx="10820400" cy="38100"/>
          </a:xfrm>
          <a:prstGeom prst="rect">
            <a:avLst/>
          </a:prstGeom>
          <a:solidFill>
            <a:srgbClr val="123B6D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7271D637-22B7-4470-B97F-731E926572EA}"/>
              </a:ext>
            </a:extLst>
          </p:cNvPr>
          <p:cNvSpPr>
            <a:spLocks noGrp="1"/>
          </p:cNvSpPr>
          <p:nvPr/>
        </p:nvSpPr>
        <p:spPr>
          <a:xfrm>
            <a:off x="685800" y="6419850"/>
            <a:ext cx="2143125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975">
                <a:solidFill>
                  <a:srgbClr val="52606D"/>
                </a:solidFill>
              </a:defRPr>
            </a:pPr>
            <a:r>
              <a:rPr sz="975">
                <a:solidFill>
                  <a:srgbClr val="52606D"/>
                </a:solidFill>
              </a:rPr>
              <a:t>Cloud Computing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08441497-0E13-432E-96C1-12D7DEB78AD6}"/>
              </a:ext>
            </a:extLst>
          </p:cNvPr>
          <p:cNvSpPr>
            <a:spLocks noGrp="1"/>
          </p:cNvSpPr>
          <p:nvPr/>
        </p:nvSpPr>
        <p:spPr>
          <a:xfrm>
            <a:off x="3381375" y="6419850"/>
            <a:ext cx="65722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975">
                <a:solidFill>
                  <a:srgbClr val="52606D"/>
                </a:solidFill>
              </a:defRPr>
            </a:pPr>
            <a:r>
              <a:rPr sz="975">
                <a:solidFill>
                  <a:srgbClr val="52606D"/>
                </a:solidFill>
              </a:rPr>
              <a:t>Presented by Gregor von Laszewski (laszewski@gmail.com)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BCCC5F37-B1E0-4488-8431-19DF80AE302E}"/>
              </a:ext>
            </a:extLst>
          </p:cNvPr>
          <p:cNvSpPr>
            <a:spLocks noGrp="1"/>
          </p:cNvSpPr>
          <p:nvPr/>
        </p:nvSpPr>
        <p:spPr>
          <a:xfrm>
            <a:off x="10858500" y="6419850"/>
            <a:ext cx="6477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975">
                <a:solidFill>
                  <a:srgbClr val="52606D"/>
                </a:solidFill>
              </a:defRPr>
            </a:pPr>
            <a:r>
              <a:rPr sz="975">
                <a:solidFill>
                  <a:srgbClr val="52606D"/>
                </a:solidFill>
              </a:rPr>
              <a:t>74</a:t>
            </a:r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6FA83437-5D61-4B14-B45B-5B8692AAC1B4}"/>
              </a:ext>
            </a:extLst>
          </p:cNvPr>
          <p:cNvSpPr>
            <a:spLocks noGrp="1"/>
          </p:cNvSpPr>
          <p:nvPr/>
        </p:nvSpPr>
        <p:spPr>
          <a:xfrm>
            <a:off x="838200" y="1676400"/>
            <a:ext cx="95250" cy="95250"/>
          </a:xfrm>
          <a:prstGeom prst="ellipse">
            <a:avLst/>
          </a:prstGeom>
          <a:solidFill>
            <a:srgbClr val="38699C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A2948C32-7C8D-4861-9684-4B525F5A38C4}"/>
              </a:ext>
            </a:extLst>
          </p:cNvPr>
          <p:cNvSpPr>
            <a:spLocks noGrp="1"/>
          </p:cNvSpPr>
          <p:nvPr/>
        </p:nvSpPr>
        <p:spPr>
          <a:xfrm>
            <a:off x="1123950" y="1562100"/>
            <a:ext cx="9620250" cy="523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650">
                <a:solidFill>
                  <a:srgbClr val="17212B"/>
                </a:solidFill>
              </a:defRPr>
            </a:pPr>
            <a:r>
              <a:rPr sz="1650">
                <a:solidFill>
                  <a:srgbClr val="17212B"/>
                </a:solidFill>
              </a:rPr>
              <a:t>“Cloud is automatically cheaper.” Cost depends on design and use.</a:t>
            </a:r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F0691778-6C54-4573-B241-8E2A3EBDC01B}"/>
              </a:ext>
            </a:extLst>
          </p:cNvPr>
          <p:cNvSpPr>
            <a:spLocks noGrp="1"/>
          </p:cNvSpPr>
          <p:nvPr/>
        </p:nvSpPr>
        <p:spPr>
          <a:xfrm>
            <a:off x="838200" y="2419350"/>
            <a:ext cx="95250" cy="95250"/>
          </a:xfrm>
          <a:prstGeom prst="ellipse">
            <a:avLst/>
          </a:prstGeom>
          <a:solidFill>
            <a:srgbClr val="38699C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BA45E1F4-481D-4385-94A1-1DD5788ABD3D}"/>
              </a:ext>
            </a:extLst>
          </p:cNvPr>
          <p:cNvSpPr>
            <a:spLocks noGrp="1"/>
          </p:cNvSpPr>
          <p:nvPr/>
        </p:nvSpPr>
        <p:spPr>
          <a:xfrm>
            <a:off x="1123950" y="2305050"/>
            <a:ext cx="9620250" cy="523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650">
                <a:solidFill>
                  <a:srgbClr val="17212B"/>
                </a:solidFill>
              </a:defRPr>
            </a:pPr>
            <a:r>
              <a:rPr sz="1650">
                <a:solidFill>
                  <a:srgbClr val="17212B"/>
                </a:solidFill>
              </a:rPr>
              <a:t>“Cloud is automatically secure.” Security depends on responsibilities and controls.</a:t>
            </a:r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68448DAA-BD54-4FAE-A08D-BA51F03DD73C}"/>
              </a:ext>
            </a:extLst>
          </p:cNvPr>
          <p:cNvSpPr>
            <a:spLocks noGrp="1"/>
          </p:cNvSpPr>
          <p:nvPr/>
        </p:nvSpPr>
        <p:spPr>
          <a:xfrm>
            <a:off x="838200" y="3162300"/>
            <a:ext cx="95250" cy="95250"/>
          </a:xfrm>
          <a:prstGeom prst="ellipse">
            <a:avLst/>
          </a:prstGeom>
          <a:solidFill>
            <a:srgbClr val="38699C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0BF8E1B2-4F4C-4A8B-A708-9AD3F1778D76}"/>
              </a:ext>
            </a:extLst>
          </p:cNvPr>
          <p:cNvSpPr>
            <a:spLocks noGrp="1"/>
          </p:cNvSpPr>
          <p:nvPr/>
        </p:nvSpPr>
        <p:spPr>
          <a:xfrm>
            <a:off x="1123950" y="3048000"/>
            <a:ext cx="9620250" cy="523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650">
                <a:solidFill>
                  <a:srgbClr val="17212B"/>
                </a:solidFill>
              </a:defRPr>
            </a:pPr>
            <a:r>
              <a:rPr sz="1650">
                <a:solidFill>
                  <a:srgbClr val="17212B"/>
                </a:solidFill>
              </a:rPr>
              <a:t>“Containers solve architecture.” They are a packaging and execution choice.</a:t>
            </a:r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CCD05816-CC94-4C01-A81B-14E15DB97C5F}"/>
              </a:ext>
            </a:extLst>
          </p:cNvPr>
          <p:cNvSpPr>
            <a:spLocks noGrp="1"/>
          </p:cNvSpPr>
          <p:nvPr/>
        </p:nvSpPr>
        <p:spPr>
          <a:xfrm>
            <a:off x="838200" y="3905250"/>
            <a:ext cx="95250" cy="95250"/>
          </a:xfrm>
          <a:prstGeom prst="ellipse">
            <a:avLst/>
          </a:prstGeom>
          <a:solidFill>
            <a:srgbClr val="38699C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B0B41435-FC13-4CD4-AA87-42A5DC503B94}"/>
              </a:ext>
            </a:extLst>
          </p:cNvPr>
          <p:cNvSpPr>
            <a:spLocks noGrp="1"/>
          </p:cNvSpPr>
          <p:nvPr/>
        </p:nvSpPr>
        <p:spPr>
          <a:xfrm>
            <a:off x="1123950" y="3790950"/>
            <a:ext cx="9620250" cy="523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650">
                <a:solidFill>
                  <a:srgbClr val="17212B"/>
                </a:solidFill>
              </a:defRPr>
            </a:pPr>
            <a:r>
              <a:rPr sz="1650">
                <a:solidFill>
                  <a:srgbClr val="17212B"/>
                </a:solidFill>
              </a:rPr>
              <a:t>“Multicloud removes risk.” It can add significant complexity.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EE4C19AE-3991-489E-B768-59DE52D21483}"/>
              </a:ext>
            </a:extLst>
          </p:cNvPr>
          <p:cNvSpPr>
            <a:spLocks noGrp="1"/>
          </p:cNvSpPr>
          <p:nvPr/>
        </p:nvSpPr>
        <p:spPr>
          <a:xfrm>
            <a:off x="685800" y="4953000"/>
            <a:ext cx="10820400" cy="590550"/>
          </a:xfrm>
          <a:prstGeom prst="rect">
            <a:avLst/>
          </a:prstGeom>
          <a:solidFill>
            <a:srgbClr val="EAF2FA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D3E3ADD0-9370-4B93-A421-681F721E8D70}"/>
              </a:ext>
            </a:extLst>
          </p:cNvPr>
          <p:cNvSpPr>
            <a:spLocks noGrp="1"/>
          </p:cNvSpPr>
          <p:nvPr/>
        </p:nvSpPr>
        <p:spPr>
          <a:xfrm>
            <a:off x="952500" y="5114925"/>
            <a:ext cx="102870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650" b="1">
                <a:solidFill>
                  <a:srgbClr val="123B6D"/>
                </a:solidFill>
              </a:defRPr>
            </a:pPr>
            <a:r>
              <a:rPr sz="1650" b="1">
                <a:solidFill>
                  <a:srgbClr val="123B6D"/>
                </a:solidFill>
              </a:rPr>
              <a:t>Replace slogans with concrete design questions.</a:t>
            </a:r>
          </a:p>
        </p:txBody>
      </p:sp>
    </p:spTree>
    <p:extLst>
      <p:ext uri="{BB962C8B-B14F-4D97-AF65-F5344CB8AC3E}">
        <p14:creationId xmlns:p14="http://schemas.microsoft.com/office/powerpoint/2010/main" val="1986542807"/>
      </p:ext>
    </p:extLst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15">
            <a:extLst>
              <a:ext uri="{FF2B5EF4-FFF2-40B4-BE49-F238E27FC236}">
                <a16:creationId xmlns:a16="http://schemas.microsoft.com/office/drawing/2014/main" id="{B0BEA452-F092-4DAD-B622-8ECA178A6120}"/>
              </a:ext>
            </a:extLst>
          </p:cNvPr>
          <p:cNvSpPr>
            <a:spLocks noGrp="1"/>
          </p:cNvSpPr>
          <p:nvPr/>
        </p:nvSpPr>
        <p:spPr>
          <a:xfrm>
            <a:off x="685800" y="400050"/>
            <a:ext cx="10001250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2700" b="1">
                <a:solidFill>
                  <a:srgbClr val="123B6D"/>
                </a:solidFill>
              </a:defRPr>
            </a:pPr>
            <a:r>
              <a:rPr sz="2700" b="1">
                <a:solidFill>
                  <a:srgbClr val="123B6D"/>
                </a:solidFill>
              </a:rPr>
              <a:t>Connecting cloud to DevOps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FAA22EB1-C130-4DB9-8C1D-269FBF921523}"/>
              </a:ext>
            </a:extLst>
          </p:cNvPr>
          <p:cNvSpPr>
            <a:spLocks noGrp="1"/>
          </p:cNvSpPr>
          <p:nvPr/>
        </p:nvSpPr>
        <p:spPr>
          <a:xfrm>
            <a:off x="685800" y="1028700"/>
            <a:ext cx="10820400" cy="38100"/>
          </a:xfrm>
          <a:prstGeom prst="rect">
            <a:avLst/>
          </a:prstGeom>
          <a:solidFill>
            <a:srgbClr val="123B6D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BA10EBA1-7013-43E8-A816-A01D9DB6B78D}"/>
              </a:ext>
            </a:extLst>
          </p:cNvPr>
          <p:cNvSpPr>
            <a:spLocks noGrp="1"/>
          </p:cNvSpPr>
          <p:nvPr/>
        </p:nvSpPr>
        <p:spPr>
          <a:xfrm>
            <a:off x="685800" y="6419850"/>
            <a:ext cx="2143125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975">
                <a:solidFill>
                  <a:srgbClr val="52606D"/>
                </a:solidFill>
              </a:defRPr>
            </a:pPr>
            <a:r>
              <a:rPr sz="975">
                <a:solidFill>
                  <a:srgbClr val="52606D"/>
                </a:solidFill>
              </a:rPr>
              <a:t>Cloud Computing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9BD51518-1283-43CA-AA22-6EBCDA92FBCA}"/>
              </a:ext>
            </a:extLst>
          </p:cNvPr>
          <p:cNvSpPr>
            <a:spLocks noGrp="1"/>
          </p:cNvSpPr>
          <p:nvPr/>
        </p:nvSpPr>
        <p:spPr>
          <a:xfrm>
            <a:off x="3381375" y="6419850"/>
            <a:ext cx="65722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975">
                <a:solidFill>
                  <a:srgbClr val="52606D"/>
                </a:solidFill>
              </a:defRPr>
            </a:pPr>
            <a:r>
              <a:rPr sz="975">
                <a:solidFill>
                  <a:srgbClr val="52606D"/>
                </a:solidFill>
              </a:rPr>
              <a:t>Presented by Gregor von Laszewski (laszewski@gmail.com)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F2D81DA0-CE04-4860-993F-80A5F4F66AD4}"/>
              </a:ext>
            </a:extLst>
          </p:cNvPr>
          <p:cNvSpPr>
            <a:spLocks noGrp="1"/>
          </p:cNvSpPr>
          <p:nvPr/>
        </p:nvSpPr>
        <p:spPr>
          <a:xfrm>
            <a:off x="10858500" y="6419850"/>
            <a:ext cx="6477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975">
                <a:solidFill>
                  <a:srgbClr val="52606D"/>
                </a:solidFill>
              </a:defRPr>
            </a:pPr>
            <a:r>
              <a:rPr sz="975">
                <a:solidFill>
                  <a:srgbClr val="52606D"/>
                </a:solidFill>
              </a:rPr>
              <a:t>75</a:t>
            </a:r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FFAAB0E1-F6EE-45B8-BF1E-0DC24B441A02}"/>
              </a:ext>
            </a:extLst>
          </p:cNvPr>
          <p:cNvSpPr>
            <a:spLocks noGrp="1"/>
          </p:cNvSpPr>
          <p:nvPr/>
        </p:nvSpPr>
        <p:spPr>
          <a:xfrm>
            <a:off x="838200" y="1676400"/>
            <a:ext cx="95250" cy="95250"/>
          </a:xfrm>
          <a:prstGeom prst="ellipse">
            <a:avLst/>
          </a:prstGeom>
          <a:solidFill>
            <a:srgbClr val="38699C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C8A552E3-F6BC-49FD-BD71-3C6E9E4D5861}"/>
              </a:ext>
            </a:extLst>
          </p:cNvPr>
          <p:cNvSpPr>
            <a:spLocks noGrp="1"/>
          </p:cNvSpPr>
          <p:nvPr/>
        </p:nvSpPr>
        <p:spPr>
          <a:xfrm>
            <a:off x="1123950" y="1562100"/>
            <a:ext cx="9620250" cy="523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650">
                <a:solidFill>
                  <a:srgbClr val="17212B"/>
                </a:solidFill>
              </a:defRPr>
            </a:pPr>
            <a:r>
              <a:rPr sz="1650">
                <a:solidFill>
                  <a:srgbClr val="17212B"/>
                </a:solidFill>
              </a:rPr>
              <a:t>Cloud provides programmable building blocks.</a:t>
            </a:r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9DE8BBAB-AD5D-44F6-BF1C-2EECEF9ABC1D}"/>
              </a:ext>
            </a:extLst>
          </p:cNvPr>
          <p:cNvSpPr>
            <a:spLocks noGrp="1"/>
          </p:cNvSpPr>
          <p:nvPr/>
        </p:nvSpPr>
        <p:spPr>
          <a:xfrm>
            <a:off x="838200" y="2419350"/>
            <a:ext cx="95250" cy="95250"/>
          </a:xfrm>
          <a:prstGeom prst="ellipse">
            <a:avLst/>
          </a:prstGeom>
          <a:solidFill>
            <a:srgbClr val="38699C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F36EC72C-F396-42CF-BC97-18FDC811CE9E}"/>
              </a:ext>
            </a:extLst>
          </p:cNvPr>
          <p:cNvSpPr>
            <a:spLocks noGrp="1"/>
          </p:cNvSpPr>
          <p:nvPr/>
        </p:nvSpPr>
        <p:spPr>
          <a:xfrm>
            <a:off x="1123950" y="2305050"/>
            <a:ext cx="9620250" cy="523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650">
                <a:solidFill>
                  <a:srgbClr val="17212B"/>
                </a:solidFill>
              </a:defRPr>
            </a:pPr>
            <a:r>
              <a:rPr sz="1650">
                <a:solidFill>
                  <a:srgbClr val="17212B"/>
                </a:solidFill>
              </a:rPr>
              <a:t>DevOps provides practices for delivering and operating change reliably.</a:t>
            </a:r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3818F9BC-3D2F-443C-9992-12180BD930D8}"/>
              </a:ext>
            </a:extLst>
          </p:cNvPr>
          <p:cNvSpPr>
            <a:spLocks noGrp="1"/>
          </p:cNvSpPr>
          <p:nvPr/>
        </p:nvSpPr>
        <p:spPr>
          <a:xfrm>
            <a:off x="838200" y="3162300"/>
            <a:ext cx="95250" cy="95250"/>
          </a:xfrm>
          <a:prstGeom prst="ellipse">
            <a:avLst/>
          </a:prstGeom>
          <a:solidFill>
            <a:srgbClr val="38699C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354B2B65-EE98-4802-A89F-6E4848314758}"/>
              </a:ext>
            </a:extLst>
          </p:cNvPr>
          <p:cNvSpPr>
            <a:spLocks noGrp="1"/>
          </p:cNvSpPr>
          <p:nvPr/>
        </p:nvSpPr>
        <p:spPr>
          <a:xfrm>
            <a:off x="1123950" y="3048000"/>
            <a:ext cx="9620250" cy="523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650">
                <a:solidFill>
                  <a:srgbClr val="17212B"/>
                </a:solidFill>
              </a:defRPr>
            </a:pPr>
            <a:r>
              <a:rPr sz="1650">
                <a:solidFill>
                  <a:srgbClr val="17212B"/>
                </a:solidFill>
              </a:rPr>
              <a:t>Automation, observability, and collaboration connect the two.</a:t>
            </a:r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6139CC42-BB64-4E5D-B824-4183B14F24B0}"/>
              </a:ext>
            </a:extLst>
          </p:cNvPr>
          <p:cNvSpPr>
            <a:spLocks noGrp="1"/>
          </p:cNvSpPr>
          <p:nvPr/>
        </p:nvSpPr>
        <p:spPr>
          <a:xfrm>
            <a:off x="838200" y="3905250"/>
            <a:ext cx="95250" cy="95250"/>
          </a:xfrm>
          <a:prstGeom prst="ellipse">
            <a:avLst/>
          </a:prstGeom>
          <a:solidFill>
            <a:srgbClr val="38699C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68175A21-8735-43C1-BB03-9886FCAAC3BC}"/>
              </a:ext>
            </a:extLst>
          </p:cNvPr>
          <p:cNvSpPr>
            <a:spLocks noGrp="1"/>
          </p:cNvSpPr>
          <p:nvPr/>
        </p:nvSpPr>
        <p:spPr>
          <a:xfrm>
            <a:off x="1123950" y="3790950"/>
            <a:ext cx="9620250" cy="523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650">
                <a:solidFill>
                  <a:srgbClr val="17212B"/>
                </a:solidFill>
              </a:defRPr>
            </a:pPr>
            <a:r>
              <a:rPr sz="1650">
                <a:solidFill>
                  <a:srgbClr val="17212B"/>
                </a:solidFill>
              </a:rPr>
              <a:t>The next lecture turns cloud choices into a repeatable delivery practice.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3A82B53D-77A2-4B89-8E4C-525842A28563}"/>
              </a:ext>
            </a:extLst>
          </p:cNvPr>
          <p:cNvSpPr>
            <a:spLocks noGrp="1"/>
          </p:cNvSpPr>
          <p:nvPr/>
        </p:nvSpPr>
        <p:spPr>
          <a:xfrm>
            <a:off x="685800" y="4953000"/>
            <a:ext cx="10820400" cy="590550"/>
          </a:xfrm>
          <a:prstGeom prst="rect">
            <a:avLst/>
          </a:prstGeom>
          <a:solidFill>
            <a:srgbClr val="EAF2FA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1DB97D89-441D-4725-BEB3-3F5759EB96EF}"/>
              </a:ext>
            </a:extLst>
          </p:cNvPr>
          <p:cNvSpPr>
            <a:spLocks noGrp="1"/>
          </p:cNvSpPr>
          <p:nvPr/>
        </p:nvSpPr>
        <p:spPr>
          <a:xfrm>
            <a:off x="952500" y="5114925"/>
            <a:ext cx="102870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650" b="1">
                <a:solidFill>
                  <a:srgbClr val="123B6D"/>
                </a:solidFill>
              </a:defRPr>
            </a:pPr>
            <a:r>
              <a:rPr sz="1650" b="1">
                <a:solidFill>
                  <a:srgbClr val="123B6D"/>
                </a:solidFill>
              </a:rPr>
              <a:t>Cloud makes change possible; DevOps helps teams make change safe.</a:t>
            </a:r>
          </a:p>
        </p:txBody>
      </p:sp>
    </p:spTree>
    <p:extLst>
      <p:ext uri="{BB962C8B-B14F-4D97-AF65-F5344CB8AC3E}">
        <p14:creationId xmlns:p14="http://schemas.microsoft.com/office/powerpoint/2010/main" val="1203755240"/>
      </p:ext>
    </p:extLst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15">
            <a:extLst>
              <a:ext uri="{FF2B5EF4-FFF2-40B4-BE49-F238E27FC236}">
                <a16:creationId xmlns:a16="http://schemas.microsoft.com/office/drawing/2014/main" id="{EECFE9D0-E2D6-4190-B166-C4946C6728C6}"/>
              </a:ext>
            </a:extLst>
          </p:cNvPr>
          <p:cNvSpPr>
            <a:spLocks noGrp="1"/>
          </p:cNvSpPr>
          <p:nvPr/>
        </p:nvSpPr>
        <p:spPr>
          <a:xfrm>
            <a:off x="685800" y="400050"/>
            <a:ext cx="10001250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2700" b="1">
                <a:solidFill>
                  <a:srgbClr val="123B6D"/>
                </a:solidFill>
              </a:defRPr>
            </a:pPr>
            <a:r>
              <a:rPr sz="2700" b="1">
                <a:solidFill>
                  <a:srgbClr val="123B6D"/>
                </a:solidFill>
              </a:rPr>
              <a:t>Knowledge check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9323978D-B971-41CA-A1DE-46800378FF7F}"/>
              </a:ext>
            </a:extLst>
          </p:cNvPr>
          <p:cNvSpPr>
            <a:spLocks noGrp="1"/>
          </p:cNvSpPr>
          <p:nvPr/>
        </p:nvSpPr>
        <p:spPr>
          <a:xfrm>
            <a:off x="685800" y="1028700"/>
            <a:ext cx="10820400" cy="38100"/>
          </a:xfrm>
          <a:prstGeom prst="rect">
            <a:avLst/>
          </a:prstGeom>
          <a:solidFill>
            <a:srgbClr val="123B6D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E6A9FF8D-EB59-41C1-9887-E7C804223B65}"/>
              </a:ext>
            </a:extLst>
          </p:cNvPr>
          <p:cNvSpPr>
            <a:spLocks noGrp="1"/>
          </p:cNvSpPr>
          <p:nvPr/>
        </p:nvSpPr>
        <p:spPr>
          <a:xfrm>
            <a:off x="685800" y="6419850"/>
            <a:ext cx="2143125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975">
                <a:solidFill>
                  <a:srgbClr val="52606D"/>
                </a:solidFill>
              </a:defRPr>
            </a:pPr>
            <a:r>
              <a:rPr sz="975">
                <a:solidFill>
                  <a:srgbClr val="52606D"/>
                </a:solidFill>
              </a:rPr>
              <a:t>Cloud Computing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05286614-7613-4B2E-9199-7EB879206C80}"/>
              </a:ext>
            </a:extLst>
          </p:cNvPr>
          <p:cNvSpPr>
            <a:spLocks noGrp="1"/>
          </p:cNvSpPr>
          <p:nvPr/>
        </p:nvSpPr>
        <p:spPr>
          <a:xfrm>
            <a:off x="3381375" y="6419850"/>
            <a:ext cx="65722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975">
                <a:solidFill>
                  <a:srgbClr val="52606D"/>
                </a:solidFill>
              </a:defRPr>
            </a:pPr>
            <a:r>
              <a:rPr sz="975">
                <a:solidFill>
                  <a:srgbClr val="52606D"/>
                </a:solidFill>
              </a:rPr>
              <a:t>Presented by Gregor von Laszewski (laszewski@gmail.com)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4A4D75E7-DEB1-4D1E-B39E-9A5F3D2B386A}"/>
              </a:ext>
            </a:extLst>
          </p:cNvPr>
          <p:cNvSpPr>
            <a:spLocks noGrp="1"/>
          </p:cNvSpPr>
          <p:nvPr/>
        </p:nvSpPr>
        <p:spPr>
          <a:xfrm>
            <a:off x="10858500" y="6419850"/>
            <a:ext cx="6477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975">
                <a:solidFill>
                  <a:srgbClr val="52606D"/>
                </a:solidFill>
              </a:defRPr>
            </a:pPr>
            <a:r>
              <a:rPr sz="975">
                <a:solidFill>
                  <a:srgbClr val="52606D"/>
                </a:solidFill>
              </a:rPr>
              <a:t>76</a:t>
            </a:r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B3F581BB-DD38-4A7F-A1D1-F21289D0C5E0}"/>
              </a:ext>
            </a:extLst>
          </p:cNvPr>
          <p:cNvSpPr>
            <a:spLocks noGrp="1"/>
          </p:cNvSpPr>
          <p:nvPr/>
        </p:nvSpPr>
        <p:spPr>
          <a:xfrm>
            <a:off x="838200" y="1676400"/>
            <a:ext cx="95250" cy="95250"/>
          </a:xfrm>
          <a:prstGeom prst="ellipse">
            <a:avLst/>
          </a:prstGeom>
          <a:solidFill>
            <a:srgbClr val="38699C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D760BAF4-30D3-4365-BF33-7A5766AE4DE6}"/>
              </a:ext>
            </a:extLst>
          </p:cNvPr>
          <p:cNvSpPr>
            <a:spLocks noGrp="1"/>
          </p:cNvSpPr>
          <p:nvPr/>
        </p:nvSpPr>
        <p:spPr>
          <a:xfrm>
            <a:off x="1123950" y="1562100"/>
            <a:ext cx="9620250" cy="523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650">
                <a:solidFill>
                  <a:srgbClr val="17212B"/>
                </a:solidFill>
              </a:defRPr>
            </a:pPr>
            <a:r>
              <a:rPr sz="1650">
                <a:solidFill>
                  <a:srgbClr val="17212B"/>
                </a:solidFill>
              </a:rPr>
              <a:t>Which cloud characteristic makes usage visible?</a:t>
            </a:r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3B5F9BBF-1F37-46AA-85B2-4B174A3A478D}"/>
              </a:ext>
            </a:extLst>
          </p:cNvPr>
          <p:cNvSpPr>
            <a:spLocks noGrp="1"/>
          </p:cNvSpPr>
          <p:nvPr/>
        </p:nvSpPr>
        <p:spPr>
          <a:xfrm>
            <a:off x="838200" y="2419350"/>
            <a:ext cx="95250" cy="95250"/>
          </a:xfrm>
          <a:prstGeom prst="ellipse">
            <a:avLst/>
          </a:prstGeom>
          <a:solidFill>
            <a:srgbClr val="38699C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0AD22461-B549-4781-AE01-6FA99371F677}"/>
              </a:ext>
            </a:extLst>
          </p:cNvPr>
          <p:cNvSpPr>
            <a:spLocks noGrp="1"/>
          </p:cNvSpPr>
          <p:nvPr/>
        </p:nvSpPr>
        <p:spPr>
          <a:xfrm>
            <a:off x="1123950" y="2305050"/>
            <a:ext cx="9620250" cy="523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650">
                <a:solidFill>
                  <a:srgbClr val="17212B"/>
                </a:solidFill>
              </a:defRPr>
            </a:pPr>
            <a:r>
              <a:rPr sz="1650">
                <a:solidFill>
                  <a:srgbClr val="17212B"/>
                </a:solidFill>
              </a:rPr>
              <a:t>Which service model gives the customer the most runtime responsibility?</a:t>
            </a:r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34110A73-0A8E-4305-828F-82F83073A7D0}"/>
              </a:ext>
            </a:extLst>
          </p:cNvPr>
          <p:cNvSpPr>
            <a:spLocks noGrp="1"/>
          </p:cNvSpPr>
          <p:nvPr/>
        </p:nvSpPr>
        <p:spPr>
          <a:xfrm>
            <a:off x="838200" y="3162300"/>
            <a:ext cx="95250" cy="95250"/>
          </a:xfrm>
          <a:prstGeom prst="ellipse">
            <a:avLst/>
          </a:prstGeom>
          <a:solidFill>
            <a:srgbClr val="38699C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017E1FFD-6A5E-4DCB-92B9-EE97BF521D48}"/>
              </a:ext>
            </a:extLst>
          </p:cNvPr>
          <p:cNvSpPr>
            <a:spLocks noGrp="1"/>
          </p:cNvSpPr>
          <p:nvPr/>
        </p:nvSpPr>
        <p:spPr>
          <a:xfrm>
            <a:off x="1123950" y="3048000"/>
            <a:ext cx="9620250" cy="523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650">
                <a:solidFill>
                  <a:srgbClr val="17212B"/>
                </a:solidFill>
              </a:defRPr>
            </a:pPr>
            <a:r>
              <a:rPr sz="1650">
                <a:solidFill>
                  <a:srgbClr val="17212B"/>
                </a:solidFill>
              </a:rPr>
              <a:t>What is the difference between an availability objective and a recovery objective?</a:t>
            </a:r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7B5C55DC-EF89-429C-8875-E62420ED67FF}"/>
              </a:ext>
            </a:extLst>
          </p:cNvPr>
          <p:cNvSpPr>
            <a:spLocks noGrp="1"/>
          </p:cNvSpPr>
          <p:nvPr/>
        </p:nvSpPr>
        <p:spPr>
          <a:xfrm>
            <a:off x="838200" y="3905250"/>
            <a:ext cx="95250" cy="95250"/>
          </a:xfrm>
          <a:prstGeom prst="ellipse">
            <a:avLst/>
          </a:prstGeom>
          <a:solidFill>
            <a:srgbClr val="38699C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7ABCE959-EE2E-490A-B720-8C3936DDD585}"/>
              </a:ext>
            </a:extLst>
          </p:cNvPr>
          <p:cNvSpPr>
            <a:spLocks noGrp="1"/>
          </p:cNvSpPr>
          <p:nvPr/>
        </p:nvSpPr>
        <p:spPr>
          <a:xfrm>
            <a:off x="1123950" y="3790950"/>
            <a:ext cx="9620250" cy="523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650">
                <a:solidFill>
                  <a:srgbClr val="17212B"/>
                </a:solidFill>
              </a:defRPr>
            </a:pPr>
            <a:r>
              <a:rPr sz="1650">
                <a:solidFill>
                  <a:srgbClr val="17212B"/>
                </a:solidFill>
              </a:rPr>
              <a:t>Why might a queue help during a spike?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A0D43B1C-5560-444B-9B8F-14DE448CA174}"/>
              </a:ext>
            </a:extLst>
          </p:cNvPr>
          <p:cNvSpPr>
            <a:spLocks noGrp="1"/>
          </p:cNvSpPr>
          <p:nvPr/>
        </p:nvSpPr>
        <p:spPr>
          <a:xfrm>
            <a:off x="685800" y="4953000"/>
            <a:ext cx="10820400" cy="590550"/>
          </a:xfrm>
          <a:prstGeom prst="rect">
            <a:avLst/>
          </a:prstGeom>
          <a:solidFill>
            <a:srgbClr val="EAF2FA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90A4AC04-AD4F-49E8-A69F-BBD05AB4817E}"/>
              </a:ext>
            </a:extLst>
          </p:cNvPr>
          <p:cNvSpPr>
            <a:spLocks noGrp="1"/>
          </p:cNvSpPr>
          <p:nvPr/>
        </p:nvSpPr>
        <p:spPr>
          <a:xfrm>
            <a:off x="952500" y="5114925"/>
            <a:ext cx="102870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650" b="1">
                <a:solidFill>
                  <a:srgbClr val="123B6D"/>
                </a:solidFill>
              </a:defRPr>
            </a:pPr>
            <a:r>
              <a:rPr sz="1650" b="1">
                <a:solidFill>
                  <a:srgbClr val="123B6D"/>
                </a:solidFill>
              </a:rPr>
              <a:t>Use the answers to identify what to revisit before the next session.</a:t>
            </a:r>
          </a:p>
        </p:txBody>
      </p:sp>
    </p:spTree>
    <p:extLst>
      <p:ext uri="{BB962C8B-B14F-4D97-AF65-F5344CB8AC3E}">
        <p14:creationId xmlns:p14="http://schemas.microsoft.com/office/powerpoint/2010/main" val="1790005941"/>
      </p:ext>
    </p:extLst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15">
            <a:extLst>
              <a:ext uri="{FF2B5EF4-FFF2-40B4-BE49-F238E27FC236}">
                <a16:creationId xmlns:a16="http://schemas.microsoft.com/office/drawing/2014/main" id="{43F54D63-C26F-4425-9942-74C086A58383}"/>
              </a:ext>
            </a:extLst>
          </p:cNvPr>
          <p:cNvSpPr>
            <a:spLocks noGrp="1"/>
          </p:cNvSpPr>
          <p:nvPr/>
        </p:nvSpPr>
        <p:spPr>
          <a:xfrm>
            <a:off x="685800" y="400050"/>
            <a:ext cx="10001250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2700" b="1">
                <a:solidFill>
                  <a:srgbClr val="123B6D"/>
                </a:solidFill>
              </a:defRPr>
            </a:pPr>
            <a:r>
              <a:rPr sz="2700" b="1">
                <a:solidFill>
                  <a:srgbClr val="123B6D"/>
                </a:solidFill>
              </a:rPr>
              <a:t>Key takeaways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F9C3919E-2B16-45C6-A56A-E2E02BC26E42}"/>
              </a:ext>
            </a:extLst>
          </p:cNvPr>
          <p:cNvSpPr>
            <a:spLocks noGrp="1"/>
          </p:cNvSpPr>
          <p:nvPr/>
        </p:nvSpPr>
        <p:spPr>
          <a:xfrm>
            <a:off x="685800" y="1028700"/>
            <a:ext cx="10820400" cy="38100"/>
          </a:xfrm>
          <a:prstGeom prst="rect">
            <a:avLst/>
          </a:prstGeom>
          <a:solidFill>
            <a:srgbClr val="123B6D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8558AC00-83AC-43C6-A237-76566463A656}"/>
              </a:ext>
            </a:extLst>
          </p:cNvPr>
          <p:cNvSpPr>
            <a:spLocks noGrp="1"/>
          </p:cNvSpPr>
          <p:nvPr/>
        </p:nvSpPr>
        <p:spPr>
          <a:xfrm>
            <a:off x="685800" y="6419850"/>
            <a:ext cx="2143125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975">
                <a:solidFill>
                  <a:srgbClr val="52606D"/>
                </a:solidFill>
              </a:defRPr>
            </a:pPr>
            <a:r>
              <a:rPr sz="975">
                <a:solidFill>
                  <a:srgbClr val="52606D"/>
                </a:solidFill>
              </a:rPr>
              <a:t>Cloud Computing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822DF40C-9C25-41A2-8D8D-5287EF19D95A}"/>
              </a:ext>
            </a:extLst>
          </p:cNvPr>
          <p:cNvSpPr>
            <a:spLocks noGrp="1"/>
          </p:cNvSpPr>
          <p:nvPr/>
        </p:nvSpPr>
        <p:spPr>
          <a:xfrm>
            <a:off x="3381375" y="6419850"/>
            <a:ext cx="65722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975">
                <a:solidFill>
                  <a:srgbClr val="52606D"/>
                </a:solidFill>
              </a:defRPr>
            </a:pPr>
            <a:r>
              <a:rPr sz="975">
                <a:solidFill>
                  <a:srgbClr val="52606D"/>
                </a:solidFill>
              </a:rPr>
              <a:t>Presented by Gregor von Laszewski (laszewski@gmail.com)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3DC3615A-0598-4301-B94A-18ED3065928C}"/>
              </a:ext>
            </a:extLst>
          </p:cNvPr>
          <p:cNvSpPr>
            <a:spLocks noGrp="1"/>
          </p:cNvSpPr>
          <p:nvPr/>
        </p:nvSpPr>
        <p:spPr>
          <a:xfrm>
            <a:off x="10858500" y="6419850"/>
            <a:ext cx="6477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975">
                <a:solidFill>
                  <a:srgbClr val="52606D"/>
                </a:solidFill>
              </a:defRPr>
            </a:pPr>
            <a:r>
              <a:rPr sz="975">
                <a:solidFill>
                  <a:srgbClr val="52606D"/>
                </a:solidFill>
              </a:rPr>
              <a:t>77</a:t>
            </a:r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14A2B7DB-ECE1-46C9-8420-8808AE453CA1}"/>
              </a:ext>
            </a:extLst>
          </p:cNvPr>
          <p:cNvSpPr>
            <a:spLocks noGrp="1"/>
          </p:cNvSpPr>
          <p:nvPr/>
        </p:nvSpPr>
        <p:spPr>
          <a:xfrm>
            <a:off x="838200" y="1676400"/>
            <a:ext cx="95250" cy="95250"/>
          </a:xfrm>
          <a:prstGeom prst="ellipse">
            <a:avLst/>
          </a:prstGeom>
          <a:solidFill>
            <a:srgbClr val="38699C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6286215D-32D3-4006-A2D4-2B853FB2C0D4}"/>
              </a:ext>
            </a:extLst>
          </p:cNvPr>
          <p:cNvSpPr>
            <a:spLocks noGrp="1"/>
          </p:cNvSpPr>
          <p:nvPr/>
        </p:nvSpPr>
        <p:spPr>
          <a:xfrm>
            <a:off x="1123950" y="1562100"/>
            <a:ext cx="9620250" cy="523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650">
                <a:solidFill>
                  <a:srgbClr val="17212B"/>
                </a:solidFill>
              </a:defRPr>
            </a:pPr>
            <a:r>
              <a:rPr sz="1650">
                <a:solidFill>
                  <a:srgbClr val="17212B"/>
                </a:solidFill>
              </a:rPr>
              <a:t>Cloud is a model for consuming and operating technology capabilities.</a:t>
            </a:r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8A33A03F-529E-4D5C-A8CA-C91FAB4A39AE}"/>
              </a:ext>
            </a:extLst>
          </p:cNvPr>
          <p:cNvSpPr>
            <a:spLocks noGrp="1"/>
          </p:cNvSpPr>
          <p:nvPr/>
        </p:nvSpPr>
        <p:spPr>
          <a:xfrm>
            <a:off x="838200" y="2419350"/>
            <a:ext cx="95250" cy="95250"/>
          </a:xfrm>
          <a:prstGeom prst="ellipse">
            <a:avLst/>
          </a:prstGeom>
          <a:solidFill>
            <a:srgbClr val="38699C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9C6CA2D3-42F3-494B-AFF7-1F0E6E41F891}"/>
              </a:ext>
            </a:extLst>
          </p:cNvPr>
          <p:cNvSpPr>
            <a:spLocks noGrp="1"/>
          </p:cNvSpPr>
          <p:nvPr/>
        </p:nvSpPr>
        <p:spPr>
          <a:xfrm>
            <a:off x="1123950" y="2305050"/>
            <a:ext cx="9620250" cy="523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650">
                <a:solidFill>
                  <a:srgbClr val="17212B"/>
                </a:solidFill>
              </a:defRPr>
            </a:pPr>
            <a:r>
              <a:rPr sz="1650">
                <a:solidFill>
                  <a:srgbClr val="17212B"/>
                </a:solidFill>
              </a:rPr>
              <a:t>Service, deployment, and architecture choices are trade-offs.</a:t>
            </a:r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01F24D7A-A6DE-4A00-B316-01B686D846A3}"/>
              </a:ext>
            </a:extLst>
          </p:cNvPr>
          <p:cNvSpPr>
            <a:spLocks noGrp="1"/>
          </p:cNvSpPr>
          <p:nvPr/>
        </p:nvSpPr>
        <p:spPr>
          <a:xfrm>
            <a:off x="838200" y="3162300"/>
            <a:ext cx="95250" cy="95250"/>
          </a:xfrm>
          <a:prstGeom prst="ellipse">
            <a:avLst/>
          </a:prstGeom>
          <a:solidFill>
            <a:srgbClr val="38699C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14DC7171-C136-45AC-AE0F-EA750DD2150E}"/>
              </a:ext>
            </a:extLst>
          </p:cNvPr>
          <p:cNvSpPr>
            <a:spLocks noGrp="1"/>
          </p:cNvSpPr>
          <p:nvPr/>
        </p:nvSpPr>
        <p:spPr>
          <a:xfrm>
            <a:off x="1123950" y="3048000"/>
            <a:ext cx="9620250" cy="523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650">
                <a:solidFill>
                  <a:srgbClr val="17212B"/>
                </a:solidFill>
              </a:defRPr>
            </a:pPr>
            <a:r>
              <a:rPr sz="1650">
                <a:solidFill>
                  <a:srgbClr val="17212B"/>
                </a:solidFill>
              </a:rPr>
              <a:t>Design for failure, security, visibility, and cost from the start.</a:t>
            </a:r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C3B53549-1138-4522-BD5A-079A8429ACE2}"/>
              </a:ext>
            </a:extLst>
          </p:cNvPr>
          <p:cNvSpPr>
            <a:spLocks noGrp="1"/>
          </p:cNvSpPr>
          <p:nvPr/>
        </p:nvSpPr>
        <p:spPr>
          <a:xfrm>
            <a:off x="838200" y="3905250"/>
            <a:ext cx="95250" cy="95250"/>
          </a:xfrm>
          <a:prstGeom prst="ellipse">
            <a:avLst/>
          </a:prstGeom>
          <a:solidFill>
            <a:srgbClr val="38699C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9D55F500-31A7-48A9-94BA-0A5F3335F957}"/>
              </a:ext>
            </a:extLst>
          </p:cNvPr>
          <p:cNvSpPr>
            <a:spLocks noGrp="1"/>
          </p:cNvSpPr>
          <p:nvPr/>
        </p:nvSpPr>
        <p:spPr>
          <a:xfrm>
            <a:off x="1123950" y="3790950"/>
            <a:ext cx="9620250" cy="523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650">
                <a:solidFill>
                  <a:srgbClr val="17212B"/>
                </a:solidFill>
              </a:defRPr>
            </a:pPr>
            <a:r>
              <a:rPr sz="1650">
                <a:solidFill>
                  <a:srgbClr val="17212B"/>
                </a:solidFill>
              </a:rPr>
              <a:t>Use cloud vocabulary to ask sharper questions—not to hide complexity.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0DBFD613-3FB3-4BC9-AF75-A66DEC310B50}"/>
              </a:ext>
            </a:extLst>
          </p:cNvPr>
          <p:cNvSpPr>
            <a:spLocks noGrp="1"/>
          </p:cNvSpPr>
          <p:nvPr/>
        </p:nvSpPr>
        <p:spPr>
          <a:xfrm>
            <a:off x="685800" y="4953000"/>
            <a:ext cx="10820400" cy="590550"/>
          </a:xfrm>
          <a:prstGeom prst="rect">
            <a:avLst/>
          </a:prstGeom>
          <a:solidFill>
            <a:srgbClr val="EAF2FA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04DC4B21-6B86-4D03-9D2D-588037525C26}"/>
              </a:ext>
            </a:extLst>
          </p:cNvPr>
          <p:cNvSpPr>
            <a:spLocks noGrp="1"/>
          </p:cNvSpPr>
          <p:nvPr/>
        </p:nvSpPr>
        <p:spPr>
          <a:xfrm>
            <a:off x="952500" y="5114925"/>
            <a:ext cx="102870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650" b="1">
                <a:solidFill>
                  <a:srgbClr val="123B6D"/>
                </a:solidFill>
              </a:defRPr>
            </a:pPr>
            <a:r>
              <a:rPr sz="1650" b="1">
                <a:solidFill>
                  <a:srgbClr val="123B6D"/>
                </a:solidFill>
              </a:rPr>
              <a:t>You now have a framework for evaluating real cloud designs.</a:t>
            </a:r>
          </a:p>
        </p:txBody>
      </p:sp>
    </p:spTree>
    <p:extLst>
      <p:ext uri="{BB962C8B-B14F-4D97-AF65-F5344CB8AC3E}">
        <p14:creationId xmlns:p14="http://schemas.microsoft.com/office/powerpoint/2010/main" val="606233106"/>
      </p:ext>
    </p:extLst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15">
            <a:extLst>
              <a:ext uri="{FF2B5EF4-FFF2-40B4-BE49-F238E27FC236}">
                <a16:creationId xmlns:a16="http://schemas.microsoft.com/office/drawing/2014/main" id="{60805087-9529-44A2-A938-84351A581EA8}"/>
              </a:ext>
            </a:extLst>
          </p:cNvPr>
          <p:cNvSpPr>
            <a:spLocks noGrp="1"/>
          </p:cNvSpPr>
          <p:nvPr/>
        </p:nvSpPr>
        <p:spPr>
          <a:xfrm>
            <a:off x="685800" y="400050"/>
            <a:ext cx="10001250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2700" b="1">
                <a:solidFill>
                  <a:srgbClr val="123B6D"/>
                </a:solidFill>
              </a:defRPr>
            </a:pPr>
            <a:r>
              <a:rPr sz="2700" b="1">
                <a:solidFill>
                  <a:srgbClr val="123B6D"/>
                </a:solidFill>
              </a:rPr>
              <a:t>Next steps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C21FC417-12CD-4E40-A86F-7D6538D66608}"/>
              </a:ext>
            </a:extLst>
          </p:cNvPr>
          <p:cNvSpPr>
            <a:spLocks noGrp="1"/>
          </p:cNvSpPr>
          <p:nvPr/>
        </p:nvSpPr>
        <p:spPr>
          <a:xfrm>
            <a:off x="685800" y="1028700"/>
            <a:ext cx="10820400" cy="38100"/>
          </a:xfrm>
          <a:prstGeom prst="rect">
            <a:avLst/>
          </a:prstGeom>
          <a:solidFill>
            <a:srgbClr val="123B6D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82888789-E592-48B3-9609-A8AC942EF159}"/>
              </a:ext>
            </a:extLst>
          </p:cNvPr>
          <p:cNvSpPr>
            <a:spLocks noGrp="1"/>
          </p:cNvSpPr>
          <p:nvPr/>
        </p:nvSpPr>
        <p:spPr>
          <a:xfrm>
            <a:off x="685800" y="6419850"/>
            <a:ext cx="2143125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975">
                <a:solidFill>
                  <a:srgbClr val="52606D"/>
                </a:solidFill>
              </a:defRPr>
            </a:pPr>
            <a:r>
              <a:rPr sz="975">
                <a:solidFill>
                  <a:srgbClr val="52606D"/>
                </a:solidFill>
              </a:rPr>
              <a:t>Cloud Computing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435D59E0-86EC-48DD-A36E-3081547466B1}"/>
              </a:ext>
            </a:extLst>
          </p:cNvPr>
          <p:cNvSpPr>
            <a:spLocks noGrp="1"/>
          </p:cNvSpPr>
          <p:nvPr/>
        </p:nvSpPr>
        <p:spPr>
          <a:xfrm>
            <a:off x="3381375" y="6419850"/>
            <a:ext cx="65722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975">
                <a:solidFill>
                  <a:srgbClr val="52606D"/>
                </a:solidFill>
              </a:defRPr>
            </a:pPr>
            <a:r>
              <a:rPr sz="975">
                <a:solidFill>
                  <a:srgbClr val="52606D"/>
                </a:solidFill>
              </a:rPr>
              <a:t>Presented by Gregor von Laszewski (laszewski@gmail.com)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334D8344-0845-4A3F-8410-A61D8D540B5C}"/>
              </a:ext>
            </a:extLst>
          </p:cNvPr>
          <p:cNvSpPr>
            <a:spLocks noGrp="1"/>
          </p:cNvSpPr>
          <p:nvPr/>
        </p:nvSpPr>
        <p:spPr>
          <a:xfrm>
            <a:off x="10858500" y="6419850"/>
            <a:ext cx="6477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975">
                <a:solidFill>
                  <a:srgbClr val="52606D"/>
                </a:solidFill>
              </a:defRPr>
            </a:pPr>
            <a:r>
              <a:rPr sz="975">
                <a:solidFill>
                  <a:srgbClr val="52606D"/>
                </a:solidFill>
              </a:rPr>
              <a:t>78</a:t>
            </a:r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12100B06-0D02-4EE9-82F6-3382F8903BFA}"/>
              </a:ext>
            </a:extLst>
          </p:cNvPr>
          <p:cNvSpPr>
            <a:spLocks noGrp="1"/>
          </p:cNvSpPr>
          <p:nvPr/>
        </p:nvSpPr>
        <p:spPr>
          <a:xfrm>
            <a:off x="838200" y="1676400"/>
            <a:ext cx="95250" cy="95250"/>
          </a:xfrm>
          <a:prstGeom prst="ellipse">
            <a:avLst/>
          </a:prstGeom>
          <a:solidFill>
            <a:srgbClr val="38699C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10CE65AF-4D5C-4468-A9E8-75135158A3D1}"/>
              </a:ext>
            </a:extLst>
          </p:cNvPr>
          <p:cNvSpPr>
            <a:spLocks noGrp="1"/>
          </p:cNvSpPr>
          <p:nvPr/>
        </p:nvSpPr>
        <p:spPr>
          <a:xfrm>
            <a:off x="1123950" y="1562100"/>
            <a:ext cx="9620250" cy="523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650">
                <a:solidFill>
                  <a:srgbClr val="17212B"/>
                </a:solidFill>
              </a:defRPr>
            </a:pPr>
            <a:r>
              <a:rPr sz="1650">
                <a:solidFill>
                  <a:srgbClr val="17212B"/>
                </a:solidFill>
              </a:rPr>
              <a:t>Review the course materials and vocabulary.</a:t>
            </a:r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64A8FDA5-F02C-44D7-92E9-70B1D3B18503}"/>
              </a:ext>
            </a:extLst>
          </p:cNvPr>
          <p:cNvSpPr>
            <a:spLocks noGrp="1"/>
          </p:cNvSpPr>
          <p:nvPr/>
        </p:nvSpPr>
        <p:spPr>
          <a:xfrm>
            <a:off x="838200" y="2419350"/>
            <a:ext cx="95250" cy="95250"/>
          </a:xfrm>
          <a:prstGeom prst="ellipse">
            <a:avLst/>
          </a:prstGeom>
          <a:solidFill>
            <a:srgbClr val="38699C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CEA3D83C-2C11-4D27-B467-B450B723BDFA}"/>
              </a:ext>
            </a:extLst>
          </p:cNvPr>
          <p:cNvSpPr>
            <a:spLocks noGrp="1"/>
          </p:cNvSpPr>
          <p:nvPr/>
        </p:nvSpPr>
        <p:spPr>
          <a:xfrm>
            <a:off x="1123950" y="2305050"/>
            <a:ext cx="9620250" cy="523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650">
                <a:solidFill>
                  <a:srgbClr val="17212B"/>
                </a:solidFill>
              </a:defRPr>
            </a:pPr>
            <a:r>
              <a:rPr sz="1650">
                <a:solidFill>
                  <a:srgbClr val="17212B"/>
                </a:solidFill>
              </a:rPr>
              <a:t>Choose one familiar application and map its likely cloud building blocks.</a:t>
            </a:r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D3DA011F-3C61-479D-9965-948073F44D0A}"/>
              </a:ext>
            </a:extLst>
          </p:cNvPr>
          <p:cNvSpPr>
            <a:spLocks noGrp="1"/>
          </p:cNvSpPr>
          <p:nvPr/>
        </p:nvSpPr>
        <p:spPr>
          <a:xfrm>
            <a:off x="838200" y="3162300"/>
            <a:ext cx="95250" cy="95250"/>
          </a:xfrm>
          <a:prstGeom prst="ellipse">
            <a:avLst/>
          </a:prstGeom>
          <a:solidFill>
            <a:srgbClr val="38699C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5911A9DD-06D6-440D-A548-1A2E4F9CB156}"/>
              </a:ext>
            </a:extLst>
          </p:cNvPr>
          <p:cNvSpPr>
            <a:spLocks noGrp="1"/>
          </p:cNvSpPr>
          <p:nvPr/>
        </p:nvSpPr>
        <p:spPr>
          <a:xfrm>
            <a:off x="1123950" y="3048000"/>
            <a:ext cx="9620250" cy="523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650">
                <a:solidFill>
                  <a:srgbClr val="17212B"/>
                </a:solidFill>
              </a:defRPr>
            </a:pPr>
            <a:r>
              <a:rPr sz="1650">
                <a:solidFill>
                  <a:srgbClr val="17212B"/>
                </a:solidFill>
              </a:rPr>
              <a:t>Write down one architecture question to bring to the DevOps session.</a:t>
            </a:r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B88A2327-52CB-4256-BAC0-B8719352158B}"/>
              </a:ext>
            </a:extLst>
          </p:cNvPr>
          <p:cNvSpPr>
            <a:spLocks noGrp="1"/>
          </p:cNvSpPr>
          <p:nvPr/>
        </p:nvSpPr>
        <p:spPr>
          <a:xfrm>
            <a:off x="838200" y="3905250"/>
            <a:ext cx="95250" cy="95250"/>
          </a:xfrm>
          <a:prstGeom prst="ellipse">
            <a:avLst/>
          </a:prstGeom>
          <a:solidFill>
            <a:srgbClr val="38699C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17A0A9D8-6CA6-4CA5-A424-3CCB3B4F8E55}"/>
              </a:ext>
            </a:extLst>
          </p:cNvPr>
          <p:cNvSpPr>
            <a:spLocks noGrp="1"/>
          </p:cNvSpPr>
          <p:nvPr/>
        </p:nvSpPr>
        <p:spPr>
          <a:xfrm>
            <a:off x="1123950" y="3790950"/>
            <a:ext cx="9620250" cy="523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650">
                <a:solidFill>
                  <a:srgbClr val="17212B"/>
                </a:solidFill>
              </a:defRPr>
            </a:pPr>
            <a:r>
              <a:rPr sz="1650">
                <a:solidFill>
                  <a:srgbClr val="17212B"/>
                </a:solidFill>
              </a:rPr>
              <a:t>Keep the event-platform design; we will extend it in later lectures.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4D14CB16-37C3-4AB4-A72F-BF20EF5E3B9D}"/>
              </a:ext>
            </a:extLst>
          </p:cNvPr>
          <p:cNvSpPr>
            <a:spLocks noGrp="1"/>
          </p:cNvSpPr>
          <p:nvPr/>
        </p:nvSpPr>
        <p:spPr>
          <a:xfrm>
            <a:off x="685800" y="4953000"/>
            <a:ext cx="10820400" cy="590550"/>
          </a:xfrm>
          <a:prstGeom prst="rect">
            <a:avLst/>
          </a:prstGeom>
          <a:solidFill>
            <a:srgbClr val="EAF2FA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C48AE421-FD02-4FCE-904A-70F4DD796108}"/>
              </a:ext>
            </a:extLst>
          </p:cNvPr>
          <p:cNvSpPr>
            <a:spLocks noGrp="1"/>
          </p:cNvSpPr>
          <p:nvPr/>
        </p:nvSpPr>
        <p:spPr>
          <a:xfrm>
            <a:off x="952500" y="5114925"/>
            <a:ext cx="102870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650" b="1">
                <a:solidFill>
                  <a:srgbClr val="123B6D"/>
                </a:solidFill>
              </a:defRPr>
            </a:pPr>
            <a:r>
              <a:rPr sz="1650" b="1">
                <a:solidFill>
                  <a:srgbClr val="123B6D"/>
                </a:solidFill>
              </a:rPr>
              <a:t>Next: DevOps practices for building, testing, releasing, and learning from software.</a:t>
            </a:r>
          </a:p>
        </p:txBody>
      </p:sp>
    </p:spTree>
    <p:extLst>
      <p:ext uri="{BB962C8B-B14F-4D97-AF65-F5344CB8AC3E}">
        <p14:creationId xmlns:p14="http://schemas.microsoft.com/office/powerpoint/2010/main" val="1239577102"/>
      </p:ext>
    </p:extLst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7299</Words>
  <Application>Microsoft Macintosh PowerPoint</Application>
  <DocSecurity>0</DocSecurity>
  <PresentationFormat>Widescreen</PresentationFormat>
  <Paragraphs>772</Paragraphs>
  <Slides>78</Slides>
  <Notes>78</Notes>
  <HiddenSlides>0</HiddenSlides>
  <MMClips>0</MMClips>
  <ScaleCrop>false</ScaleCrop>
  <HeadingPairs>
    <vt:vector size="6" baseType="variant">
      <vt:variant>
        <vt:lpstr>Fonts Used</vt:lpstr>
      </vt:variant>
      <vt:variant>
        <vt:i4>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78</vt:i4>
      </vt:variant>
    </vt:vector>
  </HeadingPairs>
  <TitlesOfParts>
    <vt:vector size="80" baseType="lpstr">
      <vt:lpstr>Calibri</vt:lpstr>
      <vt:lpstr>ChatGPT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Microsoft Office User</cp:lastModifiedBy>
  <cp:revision>1</cp:revision>
  <dcterms:created xsi:type="dcterms:W3CDTF">2026-07-30T18:07:11Z</dcterms:created>
  <dcterms:modified xsi:type="dcterms:W3CDTF">2026-07-31T19:41:56Z</dcterms:modified>
</cp:coreProperties>
</file>